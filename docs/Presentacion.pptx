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ppt/slides/slide12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Layouts/slideLayout2.xml" ContentType="application/vnd.openxmlformats-officedocument.presentationml.slideLayou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charts/colors1.xml" ContentType="application/vnd.ms-office.chartcolorstyl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5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>
  <p:sldMasterIdLst>
    <p:sldMasterId id="2147483648" r:id="rId1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12192000"/>
  <p:defaultTextStyle>
    <a:defPPr>
      <a:defRPr lang="es-E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Relationship Id="rId2" Type="http://schemas.microsoft.com/office/2011/relationships/chartStyle" Target="style1.xml" /><Relationship Id="rId3" Type="http://schemas.microsoft.com/office/2011/relationships/chartColorStyle" Target="colors1.xml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2D3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2D31"/>
                </a:solidFill>
                <a:latin typeface="+mn-lt"/>
              </a:rPr>
              <a:t>División de las 500 parejas</a:t>
            </a:r>
            <a:endParaRPr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99290"/>
          <c:y val="0.102430"/>
          <c:w val="0.596830"/>
          <c:h val="0.790240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Parejas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 bwMode="auto">
              <a:prstGeom prst="rect">
                <a:avLst/>
              </a:prstGeom>
              <a:solidFill>
                <a:srgbClr val="2A2D31"/>
              </a:solidFill>
              <a:ln w="12700" cap="flat">
                <a:solidFill>
                  <a:srgbClr val="EFEAE0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 bwMode="auto">
              <a:prstGeom prst="rect">
                <a:avLst/>
              </a:prstGeom>
              <a:solidFill>
                <a:srgbClr val="5F636A"/>
              </a:solidFill>
              <a:ln w="12700" cap="flat">
                <a:solidFill>
                  <a:srgbClr val="EFEAE0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 bwMode="auto">
              <a:prstGeom prst="rect">
                <a:avLst/>
              </a:prstGeom>
              <a:solidFill>
                <a:srgbClr val="857F70"/>
              </a:solidFill>
              <a:ln w="12700" cap="flat">
                <a:solidFill>
                  <a:srgbClr val="EFEAE0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layout/>
              <c:numFmt formatCode="General" sourceLinked="0"/>
              <c:showBubbleSize val="0"/>
              <c:showCatName val="0"/>
              <c:showLegendKey val="0"/>
              <c:showPercent val="0"/>
              <c:showSerName val="0"/>
              <c:showVal val="1"/>
              <c:spPr bwMode="auto"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EFEAE0"/>
                      </a:solidFill>
                      <a:latin typeface="+mn-lt"/>
                    </a:defRPr>
                  </a:pPr>
                  <a:endParaRPr/>
                </a:p>
              </c:txPr>
            </c:dLbl>
            <c:dLbl>
              <c:idx val="1"/>
              <c:layout/>
              <c:numFmt formatCode="General" sourceLinked="0"/>
              <c:showBubbleSize val="0"/>
              <c:showCatName val="0"/>
              <c:showLegendKey val="0"/>
              <c:showPercent val="0"/>
              <c:showSerName val="0"/>
              <c:showVal val="1"/>
              <c:spPr bwMode="auto"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EFEAE0"/>
                      </a:solidFill>
                      <a:latin typeface="+mn-lt"/>
                    </a:defRPr>
                  </a:pPr>
                  <a:endParaRPr/>
                </a:p>
              </c:txPr>
            </c:dLbl>
            <c:dLbl>
              <c:idx val="2"/>
              <c:layout/>
              <c:numFmt formatCode="General" sourceLinked="0"/>
              <c:showBubbleSize val="0"/>
              <c:showCatName val="0"/>
              <c:showLegendKey val="0"/>
              <c:showPercent val="0"/>
              <c:showSerName val="0"/>
              <c:showVal val="1"/>
              <c:spPr bwMode="auto"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EFEAE0"/>
                      </a:solidFill>
                      <a:latin typeface="+mn-lt"/>
                    </a:defRPr>
                  </a:pPr>
                  <a:endParaRPr/>
                </a:p>
              </c:txPr>
            </c:dLbl>
            <c:numFmt formatCode="General" sourceLinked="0"/>
            <c:showBubbleSize val="0"/>
            <c:showCatName val="1"/>
            <c:showLeaderLines val="0"/>
            <c:showLegendKey val="0"/>
            <c:showPercent val="1"/>
            <c:showSerName val="0"/>
            <c:showVal val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strRef>
              <c:f>Sheet1!$A$2:$A$4</c:f>
              <c:strCache>
                <c:ptCount val="3"/>
                <c:pt idx="0">
                  <c:v>Entrenamiento</c:v>
                </c:pt>
                <c:pt idx="1">
                  <c:v>Validación</c:v>
                </c:pt>
                <c:pt idx="2">
                  <c:v>Prueba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350</c:v>
                </c:pt>
                <c:pt idx="1">
                  <c:v>75</c:v>
                </c:pt>
                <c:pt idx="2">
                  <c:v>75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firstSliceAng val="0"/>
        <c:holeSize val="58"/>
      </c:doughnutChart>
      <c:spPr bwMode="auto">
        <a:prstGeom prst="rect">
          <a:avLst/>
        </a:prstGeom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75590"/>
          <c:y val="0.887270"/>
          <c:w val="0.620770"/>
          <c:h val="0.092700"/>
        </c:manualLayout>
      </c:layout>
      <c:overlay val="0"/>
      <c:txPr>
        <a:bodyPr/>
        <a:lstStyle/>
        <a:p>
          <a:pPr>
            <a:defRPr sz="1300">
              <a:solidFill>
                <a:srgbClr val="2A2D3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0"/>
  </c:chart>
  <c:spPr bwMode="auto">
    <a:xfrm rot="0">
      <a:off x="6867144" y="1522476"/>
      <a:ext cx="4782312" cy="3813047"/>
    </a:xfrm>
    <a:prstGeom prst="rect">
      <a:avLst/>
    </a:prstGeom>
    <a:noFill/>
    <a:ln>
      <a:noFill/>
    </a:ln>
    <a:effectLst/>
  </c:sp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/>
              <a:t>Promedio en prueba (75 imágenes)</a:t>
            </a:r>
            <a:endParaRPr/>
          </a:p>
        </c:rich>
      </c:tx>
      <c:layout>
        <c:manualLayout>
          <c:x val="0.000000"/>
          <c:y val="-0.001690"/>
        </c:manualLayout>
      </c:layout>
      <c:overlay val="0"/>
      <c:spPr bwMode="auto">
        <a:prstGeom prst="rect">
          <a:avLst/>
        </a:prstGeom>
        <a:noFill/>
        <a:ln>
          <a:noFill/>
        </a:ln>
      </c:spPr>
      <c:txPr>
        <a:bodyPr/>
        <a:p>
          <a:pPr>
            <a:defRPr sz="1400" b="1" cap="none" spc="0">
              <a:solidFill>
                <a:schemeClr val="lt2"/>
              </a:solidFill>
              <a:latin typeface="+mn-lt"/>
              <a:ea typeface="+mn-ea"/>
              <a:cs typeface="+mn-cs"/>
            </a:defRPr>
          </a:pPr>
          <a:endParaRPr/>
        </a:p>
      </c:txPr>
    </c:title>
    <c:autoTitleDeleted val="0"/>
    <c:plotArea>
      <c:layout>
        <c:manualLayout>
          <c:layoutTarget val="inner"/>
          <c:xMode val="edge"/>
          <c:yMode val="edge"/>
          <c:x val="0.062820"/>
          <c:y val="0.131670"/>
          <c:w val="0.925500"/>
          <c:h val="0.778790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IoU</c:v>
                </c:pt>
              </c:strCache>
            </c:strRef>
          </c:tx>
          <c:spPr bwMode="auto">
            <a:prstGeom prst="rect">
              <a:avLst/>
            </a:prstGeom>
            <a:solidFill>
              <a:srgbClr val="2A2D31"/>
            </a:solidFill>
            <a:ln>
              <a:noFill/>
            </a:ln>
          </c:spPr>
          <c:dLbls>
            <c:dLblPos val="outEnd"/>
            <c:separator xml:space="preserve"> </c:separator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spPr bwMode="auto">
              <a:prstGeom prst="rect">
                <a:avLst/>
              </a:prstGeom>
              <a:noFill/>
              <a:ln>
                <a:noFill/>
              </a:ln>
            </c:spPr>
            <c:txPr>
              <a:bodyPr rot="0" spcFirstLastPara="1" vertOverflow="overflow" horzOverflow="overflow" vert="horz" wrap="square" lIns="38099" tIns="19049" rIns="38099" bIns="19049" anchor="ctr" anchorCtr="1">
                <a:spAutoFit/>
              </a:bodyPr>
              <a:p>
                <a:pPr>
                  <a:defRPr sz="1000" b="0" i="0" u="none" strike="noStrike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/>
              </a:p>
            </c:txPr>
          </c:dLbls>
          <c:cat>
            <c:strRef>
              <c:f>Sheet1!$A$2:$A$5</c:f>
              <c:strCache>
                <c:ptCount val="4"/>
                <c:pt idx="0">
                  <c:v>10 ép. sin aumento</c:v>
                </c:pt>
                <c:pt idx="1">
                  <c:v>10 ép. con aumento</c:v>
                </c:pt>
                <c:pt idx="2">
                  <c:v>100 ép. sin aumento</c:v>
                </c:pt>
                <c:pt idx="3">
                  <c:v>100 ép. con aumento</c:v>
                </c:pt>
              </c:strCache>
            </c:strRef>
          </c:cat>
          <c:val>
            <c:numRef>
              <c:f>Sheet1!$B$2:$B$5</c:f>
              <c:numCache>
                <c:formatCode>0.0000</c:formatCode>
                <c:ptCount val="4"/>
                <c:pt idx="0">
                  <c:v>0.838</c:v>
                </c:pt>
                <c:pt idx="1">
                  <c:v>0.8702</c:v>
                </c:pt>
                <c:pt idx="2">
                  <c:v>0.9199</c:v>
                </c:pt>
                <c:pt idx="3">
                  <c:v>0.928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Dice</c:v>
                </c:pt>
              </c:strCache>
            </c:strRef>
          </c:tx>
          <c:spPr bwMode="auto">
            <a:prstGeom prst="rect">
              <a:avLst/>
            </a:prstGeom>
            <a:solidFill>
              <a:srgbClr val="A39D8E"/>
            </a:solidFill>
            <a:ln>
              <a:noFill/>
            </a:ln>
          </c:spPr>
          <c:dLbls>
            <c:dLbl>
              <c:idx val="2"/>
              <c:dLblPos val="outEnd"/>
              <c:layout>
                <c:manualLayout>
                  <c:x val="0.001530"/>
                  <c:y val="0.000000"/>
                </c:manualLayout>
              </c:layout>
              <c:separator xml:space="preserve"> </c:separator>
              <c:showBubbleSize val="0"/>
              <c:showCatName val="0"/>
              <c:showLegendKey val="0"/>
              <c:showPercent val="0"/>
              <c:showSerName val="0"/>
              <c:showVal val="1"/>
              <c:spPr bwMode="auto">
                <a:prstGeom prst="rect">
                  <a:avLst/>
                </a:prstGeom>
                <a:noFill/>
                <a:ln w="0">
                  <a:noFill/>
                </a:ln>
              </c:spPr>
              <c:txPr>
                <a:bodyPr rot="0" spcFirstLastPara="1" vertOverflow="overflow" horzOverflow="overflow" vert="horz" wrap="square" lIns="38099" tIns="19049" rIns="38099" bIns="19049" anchor="ctr" anchorCtr="1">
                  <a:spAutoFit/>
                </a:bodyPr>
                <a:p>
                  <a:pPr>
                    <a:defRPr sz="1000" b="0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Pos val="outEnd"/>
            <c:separator xml:space="preserve"> </c:separator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spPr bwMode="auto">
              <a:prstGeom prst="rect">
                <a:avLst/>
              </a:prstGeom>
              <a:noFill/>
              <a:ln>
                <a:noFill/>
              </a:ln>
            </c:spPr>
            <c:txPr>
              <a:bodyPr rot="0" spcFirstLastPara="1" vertOverflow="overflow" horzOverflow="overflow" vert="horz" wrap="square" lIns="38099" tIns="19049" rIns="38099" bIns="19049" anchor="ctr" anchorCtr="1">
                <a:spAutoFit/>
              </a:bodyPr>
              <a:p>
                <a:pPr>
                  <a:defRPr sz="1000" b="0" i="0" u="none" strike="noStrike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/>
              </a:p>
            </c:txPr>
          </c:dLbls>
          <c:cat>
            <c:strRef>
              <c:f>Sheet1!$A$2:$A$5</c:f>
              <c:strCache>
                <c:ptCount val="4"/>
                <c:pt idx="0">
                  <c:v>10 ép. sin aumento</c:v>
                </c:pt>
                <c:pt idx="1">
                  <c:v>10 ép. con aumento</c:v>
                </c:pt>
                <c:pt idx="2">
                  <c:v>100 ép. sin aumento</c:v>
                </c:pt>
                <c:pt idx="3">
                  <c:v>100 ép. con aumento</c:v>
                </c:pt>
              </c:strCache>
            </c:strRef>
          </c:cat>
          <c:val>
            <c:numRef>
              <c:f>Sheet1!$C$2:$C$5</c:f>
              <c:numCache>
                <c:formatCode>0.0000</c:formatCode>
                <c:ptCount val="4"/>
                <c:pt idx="0">
                  <c:v>0.9072</c:v>
                </c:pt>
                <c:pt idx="1">
                  <c:v>0.9256</c:v>
                </c:pt>
                <c:pt idx="2">
                  <c:v>0.9563</c:v>
                </c:pt>
                <c:pt idx="3">
                  <c:v>0.9602</c:v>
                </c:pt>
              </c:numCache>
            </c:numRef>
          </c:val>
        </c:ser>
        <c:dLbls>
          <c:dLblPos val="outEnd"/>
          <c:separator xml:space="preserve"> </c:separator>
          <c:showBubbleSize val="0"/>
          <c:showCatName val="0"/>
          <c:showLeaderLines val="0"/>
          <c:showLegendKey val="0"/>
          <c:showPercent val="0"/>
          <c:showSerName val="0"/>
          <c:showVal val="1"/>
          <c:spPr bwMode="auto">
            <a:prstGeom prst="rect">
              <a:avLst/>
            </a:prstGeom>
            <a:noFill/>
            <a:ln>
              <a:noFill/>
            </a:ln>
          </c:spPr>
          <c:txPr>
            <a:bodyPr rot="0" spcFirstLastPara="1" vertOverflow="overflow" horzOverflow="overflow" vert="horz" wrap="square" lIns="38099" tIns="19049" rIns="38099" bIns="19049" anchor="ctr" anchorCtr="1">
              <a:spAutoFit/>
            </a:bodyPr>
            <a:p>
              <a:pPr>
                <a:defRPr sz="1000" b="0" i="0" u="none" strike="noStrike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/>
            </a:p>
          </c:txPr>
        </c:dLbls>
        <c:gapWidth val="70"/>
        <c:overlap val="-10"/>
        <c:axId val="-2068027334"/>
        <c:axId val="-2113994438"/>
      </c:barChart>
      <c:catAx>
        <c:axId val="-2068027334"/>
        <c:scaling>
          <c:orientation val="minMax"/>
        </c:scaling>
        <c:delete val="0"/>
        <c:axPos val="b"/>
        <c:majorGridlines>
          <c:spPr bwMode="auto">
            <a:prstGeom prst="rect">
              <a:avLst/>
            </a:prstGeom>
            <a:noFill/>
            <a:ln w="9525" cap="flat" cmpd="sng" algn="ctr">
              <a:solidFill>
                <a:srgbClr val="D2C9B8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rgbClr val="D2C9B8"/>
            </a:solidFill>
            <a:round/>
          </a:ln>
        </c:spPr>
        <c:txPr>
          <a:bodyPr/>
          <a:p>
            <a:pPr>
              <a:defRPr sz="1000" cap="none" spc="0">
                <a:solidFill>
                  <a:schemeClr val="lt2"/>
                </a:solidFill>
                <a:latin typeface="+mn-lt"/>
                <a:ea typeface="+mn-ea"/>
                <a:cs typeface="+mn-cs"/>
              </a:defRPr>
            </a:pPr>
            <a:endParaRPr/>
          </a:p>
        </c:txPr>
        <c:crossAx val="-2113994438"/>
        <c:crosses val="autoZero"/>
        <c:auto val="1"/>
        <c:lblAlgn val="ctr"/>
        <c:lblOffset val="100"/>
        <c:tickMarkSkip val="1"/>
        <c:noMultiLvlLbl val="0"/>
      </c:catAx>
      <c:valAx>
        <c:axId val="-2113994438"/>
        <c:scaling>
          <c:orientation val="minMax"/>
          <c:max val="1.000000"/>
          <c:min val="0.000000"/>
        </c:scaling>
        <c:delete val="0"/>
        <c:axPos val="l"/>
        <c:numFmt formatCode="0.00" sourceLinked="0"/>
        <c:majorTickMark val="out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rgbClr val="D2C9B8"/>
            </a:solidFill>
            <a:round/>
          </a:ln>
        </c:spPr>
        <c:txPr>
          <a:bodyPr/>
          <a:p>
            <a:pPr>
              <a:defRPr sz="1000">
                <a:solidFill>
                  <a:schemeClr val="lt2"/>
                </a:solidFill>
                <a:latin typeface="+mn-lt"/>
                <a:ea typeface="+mn-ea"/>
                <a:cs typeface="+mn-cs"/>
              </a:defRPr>
            </a:pPr>
            <a:endParaRPr/>
          </a:p>
        </c:txPr>
        <c:crossAx val="-2068027334"/>
        <c:crosses val="autoZero"/>
        <c:crossBetween val="between"/>
        <c:majorUnit val="0.250000"/>
      </c:valAx>
      <c:spPr bwMode="auto">
        <a:prstGeom prst="rect">
          <a:avLst/>
        </a:prstGeom>
        <a:noFill/>
        <a:ln>
          <a:noFill/>
        </a:ln>
      </c:spPr>
    </c:plotArea>
    <c:legend>
      <c:legendPos val="t"/>
      <c:layout/>
      <c:overlay val="0"/>
      <c:spPr bwMode="auto"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>
              <a:solidFill>
                <a:schemeClr val="lt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dispBlanksAs val="gap"/>
    <c:showDLblsOverMax val="0"/>
  </c:chart>
  <c:spPr bwMode="auto">
    <a:xfrm rot="0">
      <a:off x="548640" y="1645920"/>
      <a:ext cx="5897880" cy="4617720"/>
    </a:xfrm>
    <a:prstGeom prst="rect">
      <a:avLst/>
    </a:prstGeom>
    <a:noFill/>
    <a:ln>
      <a:noFill/>
    </a:ln>
  </c:spPr>
  <c:txPr>
    <a:bodyPr/>
    <a:lstStyle/>
    <a:p>
      <a:pPr>
        <a:defRPr sz="1000">
          <a:solidFill>
            <a:schemeClr val="lt2"/>
          </a:solidFill>
          <a:latin typeface="+mn-lt"/>
          <a:ea typeface="+mn-ea"/>
          <a:cs typeface="+mn-cs"/>
        </a:defRPr>
      </a:pPr>
      <a:endParaRPr lang="en-US"/>
    </a:p>
  </c:txPr>
  <c:externalData r:id="rId1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cap="all" spc="119"/>
  </cs:categoryAxis>
  <cs:chartArea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/>
    <cs:bodyPr rot="-5400000" spcFirstLastPara="1" vertOverflow="clip" horzOverflow="clip" vert="horz" wrap="square" lIns="38099" tIns="19049" rIns="38099" bIns="19049" anchor="ctr" anchorCtr="1">
      <a:spAutoFit/>
    </cs:bodyPr>
  </cs:dataLabel>
  <cs:dataPoint>
    <cs:lnRef idx="0"/>
    <cs:fillRef idx="0">
      <cs:styleClr val="auto"/>
    </cs:fillRef>
    <cs:effectRef idx="0"/>
    <cs:fontRef idx="minor">
      <a:schemeClr val="dk1"/>
    </cs:fontRef>
    <cs:spPr bwMode="auto">
      <a:prstGeom prst="rect">
        <a:avLst/>
      </a:prstGeom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 bwMode="auto">
      <a:prstGeom prst="rect">
        <a:avLst/>
      </a:prstGeom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 bwMode="auto">
      <a:prstGeom prst="rect">
        <a:avLst/>
      </a:prstGeom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 bwMode="auto">
      <a:prstGeom prst="rect">
        <a:avLst/>
      </a:prstGeom>
      <a:solidFill>
        <a:schemeClr val="phClr"/>
      </a:solidFill>
      <a:ln w="9525">
        <a:solidFill>
          <a:schemeClr val="phClr"/>
        </a:solidFill>
        <a:round/>
      </a:ln>
    </cs:spPr>
  </cs:dataPointMarker>
  <cs:dataPointWireframe>
    <cs:lnRef idx="0">
      <cs:styleClr val="auto"/>
    </cs:lnRef>
    <cs:fillRef idx="0"/>
    <cs:effectRef idx="0"/>
    <cs:fontRef idx="minor">
      <a:schemeClr val="dk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 bwMode="auto">
      <a:prstGeom prst="rect">
        <a:avLst/>
      </a:prstGeom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 bwMode="auto">
      <a:prstGeom prst="rect">
        <a:avLst/>
      </a:prstGeom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 bwMode="auto">
      <a:prstGeom prst="rect">
        <a:avLst/>
      </a:prstGeom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 bwMode="auto">
      <a:prstGeom prst="rect">
        <a:avLst/>
      </a:prstGeom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 bwMode="auto">
      <a:prstGeom prst="rect">
        <a:avLst/>
      </a:prstGeom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dk1"/>
    </cs:fontRef>
    <cs:spPr bwMode="auto">
      <a:prstGeom prst="rect">
        <a:avLst/>
      </a:prstGeom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cap="all" spc="119"/>
  </cs:title>
  <cs:trendline>
    <cs:lnRef idx="0">
      <cs:styleClr val="auto"/>
    </cs:lnRef>
    <cs:fillRef idx="0"/>
    <cs:effectRef idx="0"/>
    <cs:fontRef idx="minor">
      <a:schemeClr val="dk1"/>
    </cs:fontRef>
    <cs:spPr bwMode="auto">
      <a:prstGeom prst="rect">
        <a:avLst/>
      </a:prstGeom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/>
  </cs:valueAxis>
  <cs:wall>
    <cs:lnRef idx="0"/>
    <cs:fillRef idx="0"/>
    <cs:effectRef idx="0"/>
    <cs:fontRef idx="minor">
      <a:schemeClr val="dk1"/>
    </cs:fontRef>
  </cs:wall>
  <cs:dataPointMarkerLayout size="6"/>
</cs:chartStyle>
</file>

<file path=ppt/embeddings/_rels/Microsoft_Excel_Worksheet1.xlsx.rels><?xml version="1.0" encoding="UTF-8" standalone="yes"?><Relationships xmlns="http://schemas.openxmlformats.org/package/2006/relationships"></Relationships>
</file>

<file path=ppt/embeddings/_rels/Microsoft_Excel_Worksheet2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383979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474492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22266546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6462631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872782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86684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0423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7382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Presentación del proyecto: implementación y evaluación de una U-Net propia en PyTorch para segmentar coches. Mencionar autor, programa y universidad. Completar el correo de contacto.</a:t>
            </a:r>
            <a:endParaRPr lang="en-US"/>
          </a:p>
        </p:txBody>
      </p:sp>
      <p:sp>
        <p:nvSpPr>
          <p:cNvPr id="1777352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1076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83461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100" b="1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Explicación general y puntos a destacar: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Sintetiza el objetivo de segmentar vehículos usando una U-Net propia en PyTorch, comparando 4 modelos (10 y 100 épocas, con/sin aumento de datos). Se destaca el uso de </a:t>
            </a:r>
            <a:r>
              <a:rPr sz="1000" b="0" i="0" u="none">
                <a:solidFill>
                  <a:srgbClr val="1F1F1F"/>
                </a:solidFill>
                <a:latin typeface="Courier New"/>
                <a:ea typeface="Courier New"/>
                <a:cs typeface="Courier New"/>
              </a:rPr>
              <a:t>BCEWithLogitsLoss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como función de pérdida,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para garantizar estabilidad numérica. Además, se aclara que la arquitectura posee un total exacto de </a:t>
            </a:r>
            <a:r>
              <a:rPr sz="1100" b="1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1 944 049 parámetros entrenables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(1.94M) al configurar un ancho base de 16 canales.</a:t>
            </a:r>
            <a:endParaRPr/>
          </a:p>
          <a:p>
            <a:pPr>
              <a:defRPr/>
            </a:pPr>
            <a:r>
              <a:rPr sz="1100" b="1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Guía para preguntas del jurado:</a:t>
            </a:r>
            <a:endParaRPr/>
          </a:p>
          <a:p>
            <a:pPr>
              <a:defRPr/>
            </a:pPr>
            <a:r>
              <a:rPr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¿Por qué BCEWithLogitsLoss?: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"</a:t>
            </a:r>
            <a:r>
              <a:rPr lang="es-ES" sz="1100" b="0" i="1" u="none" strike="noStrike" cap="none" spc="0">
                <a:solidFill>
                  <a:srgbClr val="1F1F1F"/>
                </a:solidFill>
                <a:latin typeface="Arial"/>
                <a:ea typeface="Arial"/>
                <a:cs typeface="Arial"/>
              </a:rPr>
              <a:t>E</a:t>
            </a:r>
            <a:r>
              <a:rPr lang="en-US" sz="1100" b="0" i="1" u="none" strike="noStrike" cap="none" spc="0">
                <a:solidFill>
                  <a:srgbClr val="1F1F1F"/>
                </a:solidFill>
                <a:latin typeface="Arial"/>
                <a:ea typeface="Arial"/>
                <a:cs typeface="Arial"/>
              </a:rPr>
              <a:t>stándar recomendado para tareas de clasificación binaria, ya que acepta los resultados sin procesar del modelo (logits) en lugar de probabilidades, lo que garantiza la estabilidad numérica durante el entrenamiento.</a:t>
            </a:r>
            <a:r>
              <a:rPr lang="es-ES"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Evita inestabilidad numérica al no calcular probabilidades extremadamente cercanas a 0 o 1 antes del logaritmo</a:t>
            </a:r>
            <a:r>
              <a:rPr lang="es-ES"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."</a:t>
            </a:r>
            <a:endParaRPr/>
          </a:p>
          <a:p>
            <a:pPr>
              <a:defRPr/>
            </a:pPr>
            <a:r>
              <a:rPr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¿De dónde salen los 1.94M de parámetros?: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"Es la suma de todos los pesos y sesgos de la red al arrancar con 16 canales base.</a:t>
            </a:r>
            <a:endParaRPr/>
          </a:p>
        </p:txBody>
      </p:sp>
      <p:sp>
        <p:nvSpPr>
          <p:cNvPr id="908978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491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2904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La visión por computadora extrae información de imágenes. La segmentación semántica asigna una clase a cada píxel. Aquí es binaria: 0 fondo, 1 coche. Diferencia con detección (caja delimitadora). </a:t>
            </a:r>
            <a:endParaRPr lang="es-ES">
              <a:solidFill>
                <a:schemeClr val="bg1"/>
              </a:solidFill>
            </a:endParaRPr>
          </a:p>
          <a:p>
            <a:pPr>
              <a:defRPr/>
            </a:pPr>
            <a:endParaRPr lang="es-ES">
              <a:solidFill>
                <a:schemeClr val="bg1"/>
              </a:solidFill>
            </a:endParaRPr>
          </a:p>
          <a:p>
            <a:pPr>
              <a:defRPr/>
            </a:pPr>
            <a:r>
              <a:rPr lang="es-ES" sz="12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Semántica: "¿Qué es cada píxel?" → solo clase, sin contar.</a:t>
            </a:r>
            <a:endParaRPr lang="es-ES" sz="12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s-ES" sz="12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Instancias: "¿Cuál es cada píxel?" → clase + ID único por objeto.</a:t>
            </a:r>
            <a:endParaRPr lang="es-ES" sz="12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s-ES" sz="12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Panóptica: "¿Qué y cuál es cada píxel?" → todo lo anterior en una sola máscara.</a:t>
            </a:r>
            <a:endParaRPr lang="es-ES">
              <a:solidFill>
                <a:schemeClr val="bg1"/>
              </a:solidFill>
            </a:endParaRPr>
          </a:p>
          <a:p>
            <a:pPr>
              <a:defRPr/>
            </a:pPr>
            <a:endParaRPr lang="en-US"/>
          </a:p>
        </p:txBody>
      </p:sp>
      <p:sp>
        <p:nvSpPr>
          <p:cNvPr id="19125968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0270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4572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U-Net (Ronneberger, Fischer y Brox, 2015) nace para imágenes biomédicas. Dos caminos más conexiones de salto. Para coches: formas variables, oclusiones, distancias y ángulos</a:t>
            </a:r>
            <a:r>
              <a:rPr lang="es-ES">
                <a:solidFill>
                  <a:schemeClr val="bg1"/>
                </a:solidFill>
              </a:rPr>
              <a:t>, </a:t>
            </a:r>
            <a:r>
              <a:rPr lang="en-US">
                <a:solidFill>
                  <a:schemeClr val="bg1"/>
                </a:solidFill>
              </a:rPr>
              <a:t> Implementarla desde cero permitió controlar dimensiones, conexiones, pérdida y entrenamiento. 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Explicación general y puntos a destacar: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Muestra la estructura en "U", donde el encoder comprime la imagen para extraer el contexto y el decoder realiza la predicción espacial, recuperando la resolución original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256 </a:t>
            </a:r>
            <a:r>
              <a:rPr lang="es-E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x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256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para ubicar exactamente cada píxel. Destaca las </a:t>
            </a: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skip connections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que son atajos que transfieren los contornos y detalles finos desde el encoder al decoder evitando imágenes borrosas. El uso de U-Net se justifica porque delimita la silueta exacta del vehículo a nivel de píxel, superando las limitaciones de una caja delimitadora tradicional.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Guía para preguntas del jurado:</a:t>
            </a:r>
            <a:endParaRPr/>
          </a:p>
          <a:p>
            <a:pPr>
              <a:defRPr/>
            </a:pP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¿Qué es la predicción espacial en el decoder?: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"Es la reconstrucción de la posición y geometría exacta de los objetos a la resolución original."</a:t>
            </a:r>
            <a:endParaRPr/>
          </a:p>
          <a:p>
            <a:pPr>
              <a:defRPr/>
            </a:pP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¿Cómo explicar las skip connections?: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"Copian los bordes nítidos del inicio y los pegan al final para no perder precisión en los contornos."</a:t>
            </a:r>
            <a:endParaRPr lang="en-US"/>
          </a:p>
        </p:txBody>
      </p:sp>
      <p:sp>
        <p:nvSpPr>
          <p:cNvPr id="1115058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0551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63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100" b="1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Explicación general y puntos a destacar: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P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resenta la red como una versión simplificada y liviana de la U-Net original (16 canales base y 1.94M de parámetros frente a los 64 canales base y ~31M originales). Explica que la evaluación global se midió con IoU y Dice</a:t>
            </a:r>
            <a:r>
              <a:rPr lang="es-ES"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.</a:t>
            </a:r>
            <a:endParaRPr/>
          </a:p>
          <a:p>
            <a:pPr>
              <a:defRPr/>
            </a:pPr>
            <a:r>
              <a:rPr sz="1100" b="1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Guía para preguntas del jurado:</a:t>
            </a:r>
            <a:endParaRPr/>
          </a:p>
          <a:p>
            <a:pPr>
              <a:defRPr/>
            </a:pPr>
            <a:r>
              <a:rPr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¿Es una contribución simplificada?: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"Sí, es una versión optimizada a 16 canales iniciales para hacer viable su entrenamiento en CPU sin perder calidad."</a:t>
            </a:r>
            <a:endParaRPr/>
          </a:p>
          <a:p>
            <a:pPr>
              <a:defRPr/>
            </a:pPr>
            <a:r>
              <a:rPr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¿Solo se usó IoU y Dice?: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"Fueron las métricas globales, </a:t>
            </a:r>
            <a:r>
              <a:rPr lang="es-ES"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ademas que ambas ignoran verdaderos-negativos lo que las hace mas informativas</a:t>
            </a:r>
            <a:r>
              <a:rPr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."</a:t>
            </a:r>
            <a:endParaRPr lang="en-US"/>
          </a:p>
        </p:txBody>
      </p:sp>
      <p:sp>
        <p:nvSpPr>
          <p:cNvPr id="993216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6599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46196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Explicación general y puntos a destacar: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Muestra la preparación de 500 pares de imágenes y máscaras binarias </a:t>
            </a:r>
            <a:r>
              <a:rPr lang="es-E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256</a:t>
            </a:r>
            <a:r>
              <a:rPr lang="es-E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x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256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px</a:t>
            </a:r>
            <a:r>
              <a:rPr lang="es-E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como datos de entrada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La división 70/15/15 (350 train / 75 val / 75 test) se justifica porque 75 imágenes de prueba ofrecen solidez estadística para validar la variabilidad urbana, a diferencia de usar solo 50 (80/10/10). Aunque están separadas en carpetas para evitar la contaminación de datos (</a:t>
            </a: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leakage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), cada imagen viaja vinculada a su máscara mediante el nombre de archivo. La semilla aleatoria 42 (</a:t>
            </a:r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torch.manual_seed(42)</a:t>
            </a:r>
            <a:r>
              <a:rPr lang="es-E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el cual es una funcion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asegura la reproducibilidad exacta de la partición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Guía para preguntas del jurado:</a:t>
            </a:r>
            <a:endParaRPr/>
          </a:p>
          <a:p>
            <a:pPr>
              <a:defRPr/>
            </a:pP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¿Por qué la división 70/15/15?: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"Garantiza un conjunto de prueba representativo (75 imágenes) para evaluar escenarios reales."</a:t>
            </a:r>
            <a:endParaRPr/>
          </a:p>
          <a:p>
            <a:pPr>
              <a:defRPr/>
            </a:pP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¿Por qué carpetas separadas y semilla 42?: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"Las carpetas aislaron los datos para evitar filtraciones y la semilla asegura la reproducibilidad del experimento."</a:t>
            </a:r>
            <a:endParaRPr lang="en-US"/>
          </a:p>
        </p:txBody>
      </p:sp>
      <p:sp>
        <p:nvSpPr>
          <p:cNvPr id="15096771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26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18702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Todo está en la clase CarDataset (dataset.py). Se comprueba que cada imagen tenga máscara y mismas dimensiones. Padding en lugar de estirar para no deformar. Interpolación bilineal en imagen y vecino más cercano en máscara para no crear etiquetas intermedias. Normalización a 0-1, máscara con umbral 128 y formato CHW.</a:t>
            </a:r>
            <a:endParaRPr lang="en-US">
              <a:solidFill>
                <a:schemeClr val="bg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Explicación general y puntos a destacar: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Detalla el reescalado a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256 </a:t>
            </a:r>
            <a:r>
              <a:rPr lang="es-E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256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px usando interpolación bilineal en las imágenes RGB para lograr cambios de color suaves, e interpolación por vecino más cercano en las máscaras para conservar únicamente valores binarios (0 y 1) sin crear clases fantasma. El umbral 128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en escala de grises define </a:t>
            </a:r>
            <a:r>
              <a:rPr lang="es-E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&gt;=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128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como coche (1) </a:t>
            </a:r>
            <a:r>
              <a:rPr lang="es-E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 128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como fondo (0). Los tensores se reordenan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porque PyTorch exige el eje de canales al inicio. Un tensor es una matriz multidimensional optimizada para GPU y gradientes automáticos.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Guía para preguntas del jurado:</a:t>
            </a:r>
            <a:endParaRPr/>
          </a:p>
          <a:p>
            <a:pPr>
              <a:defRPr/>
            </a:pP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¿Por qué vecino más cercano en la máscara?: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"Para no promediar píxeles ni generar valores intermedios (como 0.5) que no existen en los datos binarios."</a:t>
            </a:r>
            <a:endParaRPr/>
          </a:p>
          <a:p>
            <a:pPr>
              <a:defRPr/>
            </a:pP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¿Qué es un tensor en PyTorch?: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"Estructura de datos matricial multidimensional que permite realizar operaciones matemáticas aceleradas y cálculo de gradientes."</a:t>
            </a:r>
            <a:endParaRPr lang="en-US"/>
          </a:p>
        </p:txBody>
      </p:sp>
      <p:sp>
        <p:nvSpPr>
          <p:cNvPr id="354044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2099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9045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U-Net propia: 4 bloques de encoder (16, 32, 64, 128 canales), bottleneck de 256 canales a 16x16, 4 bloques de decoder con convoluciones transpuestas y concatenación con las skip connections, y una convolución final 1x1 que produce un canal de logits. Total: 1,944,049 parámetros entrenables.</a:t>
            </a:r>
            <a:endParaRPr lang="en-US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convolución final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 </a:t>
            </a:r>
            <a:r>
              <a:rPr lang="es-E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1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condensa de 16 a 1 canal entregando logits por píxel. Fijar 16 canales base produce 1 944 049 parámetros y hace que un lote de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lang="es-E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x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3  256 </a:t>
            </a:r>
            <a:r>
              <a:rPr lang="es-E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256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entregue una salida de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 </a:t>
            </a:r>
            <a:r>
              <a:rPr lang="es-E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1 </a:t>
            </a:r>
            <a:r>
              <a:rPr lang="es-E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256 </a:t>
            </a:r>
            <a:r>
              <a:rPr lang="es-E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256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lang="en-US">
              <a:solidFill>
                <a:schemeClr val="bg1"/>
              </a:solidFill>
            </a:endParaRPr>
          </a:p>
          <a:p>
            <a:pPr>
              <a:defRPr/>
            </a:pPr>
            <a:endParaRPr lang="en-US">
              <a:solidFill>
                <a:schemeClr val="bg1"/>
              </a:solidFill>
            </a:endParaRPr>
          </a:p>
          <a:p>
            <a:pPr>
              <a:defRPr/>
            </a:pP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Los </a:t>
            </a:r>
            <a:r>
              <a:rPr sz="1100" b="1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logits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son las </a:t>
            </a:r>
            <a:r>
              <a:rPr sz="1100" b="1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salidas numéricas brutas y sin acotar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que genera la última capa convolucional (</a:t>
            </a:r>
            <a:r>
              <a:rPr sz="1000" b="0" i="0" u="none">
                <a:solidFill>
                  <a:srgbClr val="1F1F1F"/>
                </a:solidFill>
                <a:latin typeface="Courier New"/>
                <a:ea typeface="Courier New"/>
                <a:cs typeface="Courier New"/>
              </a:rPr>
              <a:t>nn.Conv2d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) de la U-Net antes de aplicarle cualquier función de activación</a:t>
            </a:r>
            <a:endParaRPr lang="en-US">
              <a:solidFill>
                <a:schemeClr val="bg1"/>
              </a:solidFill>
            </a:endParaRPr>
          </a:p>
          <a:p>
            <a:pPr>
              <a:defRPr/>
            </a:pPr>
            <a:endParaRPr lang="en-US">
              <a:solidFill>
                <a:schemeClr val="bg1"/>
              </a:solidFill>
            </a:endParaRPr>
          </a:p>
          <a:p>
            <a:pPr>
              <a:defRPr/>
            </a:pPr>
            <a:r>
              <a:rPr lang="es-ES">
                <a:solidFill>
                  <a:schemeClr val="bg1"/>
                </a:solidFill>
              </a:rPr>
              <a:t>Proceso completo de la red:</a:t>
            </a:r>
            <a:br>
              <a:rPr lang="es-ES">
                <a:solidFill>
                  <a:schemeClr val="bg1"/>
                </a:solidFill>
              </a:rPr>
            </a:br>
            <a:r>
              <a:rPr sz="1100" b="1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Paso 1: Preprocesamiento y datos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Se ajustan imagen y máscara a 256×256 px con </a:t>
            </a:r>
            <a:r>
              <a:rPr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padding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, se binariza la máscara (≥128 = coche), se normalizan a tensores de PyTorch y se agrupan en lotes.</a:t>
            </a:r>
            <a:endParaRPr/>
          </a:p>
          <a:p>
            <a:pPr>
              <a:defRPr/>
            </a:pPr>
            <a:r>
              <a:rPr sz="1100" b="1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Paso 2: Flujo por la red (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1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Forward Pass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1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)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El </a:t>
            </a:r>
            <a:r>
              <a:rPr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encoder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comprime la imagen guardando bordes finos, el </a:t>
            </a:r>
            <a:r>
              <a:rPr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bottleneck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procesa el contexto profundo y el </a:t>
            </a:r>
            <a:r>
              <a:rPr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decoder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reconstruye la resolución con </a:t>
            </a:r>
            <a:r>
              <a:rPr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skip connections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hasta entregar logits.</a:t>
            </a:r>
            <a:endParaRPr/>
          </a:p>
          <a:p>
            <a:pPr>
              <a:defRPr/>
            </a:pPr>
            <a:r>
              <a:rPr sz="1100" b="1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Paso 3: Entrenamiento y optimización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0" i="0" u="none">
                <a:solidFill>
                  <a:srgbClr val="1F1F1F"/>
                </a:solidFill>
                <a:latin typeface="Courier New"/>
                <a:ea typeface="Courier New"/>
                <a:cs typeface="Courier New"/>
              </a:rPr>
              <a:t>BCEWithLogitsLoss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mide el error frente a la máscara real y el optimizador Adam actualiza los 1.94M de parámetros, guardando el modelo con menor pérdida de validación.</a:t>
            </a:r>
            <a:endParaRPr/>
          </a:p>
          <a:p>
            <a:pPr>
              <a:defRPr/>
            </a:pPr>
            <a:r>
              <a:rPr sz="1100" b="1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Paso 4: Postprocesamiento y evaluación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La función Sigmoide convierte los logits en probabilidades, el umbral 0.5 genera la máscara binaria final y se evalúa el rendimiento global con las métricas IoU y Dice.</a:t>
            </a:r>
            <a:endParaRPr lang="en-US">
              <a:solidFill>
                <a:schemeClr val="bg1"/>
              </a:solidFill>
            </a:endParaRPr>
          </a:p>
          <a:p>
            <a:pPr>
              <a:defRPr/>
            </a:pPr>
            <a:endParaRPr lang="en-US"/>
          </a:p>
        </p:txBody>
      </p:sp>
      <p:sp>
        <p:nvSpPr>
          <p:cNvPr id="1298656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864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0661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model.py organiza la red en bloques reutilizables. CNNBlock es conv 3x3 con padding 1, BatchNorm y ReLU; CNNBlocks lo repite dos veces. EncoderBlock devuelve features (para la skip) y down (tras el pooling). DecoderBlock sube la resolución con ConvTranspose2d y concatena por canales, por eso CNNBlocks recibe out_channels*2.</a:t>
            </a:r>
            <a:endParaRPr lang="en-US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Explicación general y puntos a destacar: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Explica el diseño modular con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CNNBlock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Conv2d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 </a:t>
            </a:r>
            <a:r>
              <a:rPr lang="es-E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3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con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padding=1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BatchNorm2d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y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ReLU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y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CNNBlocks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(doble convolución) para mantener un código limpio. Cada nivel del encoder pasa mapas de alta resolución a la </a:t>
            </a:r>
            <a:r>
              <a:rPr lang="en-US" sz="1200" b="0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skip connection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y aplica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MaxPool2d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El decoder usa 4 bloques con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ConvTranspose2d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para subir la resolución y concatena la </a:t>
            </a:r>
            <a:r>
              <a:rPr lang="en-US" sz="1200" b="0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skip connection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con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torch.cat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por canales (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out_channels * 2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). La convolución final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 </a:t>
            </a:r>
            <a:r>
              <a:rPr lang="es-E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1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condensa de 16 a 1 canal entregando logits por píxel. Fijar 16 canales base produce 1 944 049 parámetros y hace que un lote de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lang="es-E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x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3  256 </a:t>
            </a:r>
            <a:r>
              <a:rPr lang="es-E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256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entregue una salida de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 </a:t>
            </a:r>
            <a:r>
              <a:rPr lang="es-E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1 </a:t>
            </a:r>
            <a:r>
              <a:rPr lang="es-E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256 </a:t>
            </a:r>
            <a:r>
              <a:rPr lang="es-E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256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Guía para preguntas del jurado:</a:t>
            </a:r>
            <a:endParaRPr sz="1200"/>
          </a:p>
          <a:p>
            <a:pPr>
              <a:defRPr/>
            </a:pPr>
            <a:r>
              <a:rPr lang="en-US" sz="1200" b="0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¿Por qué </a:t>
            </a:r>
            <a:r>
              <a:rPr lang="en-US" sz="1200" b="0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out_channels * 2</a:t>
            </a:r>
            <a:r>
              <a:rPr lang="en-US" sz="1200" b="0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en el decoder?: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200" b="0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"Porque al concatenar por canales la skip connection del encoder con la convolución traspuesta, los canales se duplican."</a:t>
            </a:r>
            <a:endParaRPr sz="1200"/>
          </a:p>
          <a:p>
            <a:pPr>
              <a:defRPr/>
            </a:pPr>
            <a:r>
              <a:rPr lang="en-US" sz="1200" b="0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¿Qué es el logit por píxel?: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200" b="0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"Es la salida numérica continua que entrega la convolución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$1 \times 1$</a:t>
            </a:r>
            <a:r>
              <a:rPr lang="en-US" sz="1200" b="0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antes de ser convertida a probabilidad por la función Sigmoide."</a:t>
            </a:r>
            <a:endParaRPr lang="en-US">
              <a:solidFill>
                <a:schemeClr val="bg1"/>
              </a:solidFill>
            </a:endParaRPr>
          </a:p>
          <a:p>
            <a:pPr>
              <a:defRPr/>
            </a:pP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Cada nivel del Encoder devuelve </a:t>
            </a:r>
            <a:r>
              <a:rPr sz="1100" b="1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dos tensores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: </a:t>
            </a:r>
            <a:r>
              <a:rPr sz="1000" b="0" i="0" u="none">
                <a:solidFill>
                  <a:srgbClr val="1F1F1F"/>
                </a:solidFill>
                <a:latin typeface="Courier New"/>
                <a:ea typeface="Courier New"/>
                <a:cs typeface="Courier New"/>
              </a:rPr>
              <a:t>features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(el mapa de alta resolución que se guarda para la </a:t>
            </a:r>
            <a:r>
              <a:rPr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skip connection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) y </a:t>
            </a:r>
            <a:r>
              <a:rPr sz="1000" b="0" i="0" u="none">
                <a:solidFill>
                  <a:srgbClr val="1F1F1F"/>
                </a:solidFill>
                <a:latin typeface="Courier New"/>
                <a:ea typeface="Courier New"/>
                <a:cs typeface="Courier New"/>
              </a:rPr>
              <a:t>down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(el mapa reducido que pasa al siguiente nivel del Encoder)</a:t>
            </a:r>
            <a:endParaRPr lang="en-US"/>
          </a:p>
        </p:txBody>
      </p:sp>
      <p:sp>
        <p:nvSpPr>
          <p:cNvPr id="17726079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835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8924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Lote de 4, Adam con tasa 0.001, BCEWithLogitsLoss y CPU. Se hicieron cuatro entrenamientos con la misma configuración, variando solo las épocas (10 y 100) y el aumento de datos (sin/con). BCEWithLogitsLoss combina sigmoide y entropía cruzada binaria de forma estable. En cada entrenamiento se guarda el modelo con menor pérdida de validación (best_unet, best_unet_aug, best_unet_no_aug_100 y best_unet_aug_100).</a:t>
            </a:r>
            <a:endParaRPr/>
          </a:p>
        </p:txBody>
      </p:sp>
      <p:sp>
        <p:nvSpPr>
          <p:cNvPr id="317146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5806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4955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Segunda versión: transformaciones aleatorias solo en entrenamiento (augment=True en CarDataset). Volteo horizontal con p=0.5 aplicado igual a imagen y máscara; brillo, contraste y saturación entre 0.85 y 1.15 solo en la imagen. Motivación: más diversidad efectiva y menos dependencia de la iluminación. Aplicarlo no garantiza mejora: hay que medirla.</a:t>
            </a:r>
            <a:endParaRPr lang="en-US">
              <a:solidFill>
                <a:schemeClr val="bg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Explicación general y puntos a destacar: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Explica las transformaciones para evitar que la red memorice las 350 imágenes de entrenamiento (</a:t>
            </a: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overfitting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). El volteo horizontal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p=0.5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se aplica por igual a la imagen y a la máscara para mantener la coherencia de posición. Los cambios de brillo, contraste y saturación (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0.85 - 1.15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aplican variaciones de </a:t>
            </a:r>
            <a:r>
              <a:rPr lang="es-E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+-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únicamente sobre la imagen para simular cambios de luz urbana sin alterar las etiquetas binarias.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Guía para preguntas del jurado:</a:t>
            </a:r>
            <a:endParaRPr/>
          </a:p>
          <a:p>
            <a:pPr>
              <a:defRPr/>
            </a:pP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¿Cómo se justifica el aumento de datos?: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"Aporta variedad sintética para que la red aprenda características visuales robustas y no se aprenda las fotos de memoria."</a:t>
            </a:r>
            <a:endParaRPr/>
          </a:p>
          <a:p>
            <a:pPr>
              <a:defRPr/>
            </a:pP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¿Por qué no cambia el brillo de la máscara?: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"Porque la máscara es una etiqueta binaria pura y no una fotografía sujeta a variaciones de iluminación."</a:t>
            </a:r>
            <a:endParaRPr lang="en-US"/>
          </a:p>
        </p:txBody>
      </p:sp>
      <p:sp>
        <p:nvSpPr>
          <p:cNvPr id="371147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282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9737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IoU y Dice comparan directamente la máscara predicha con la real. Precisión y recall muestran qué tipo de error domina: falsos positivos o falsos negativos. No se usa solo accuracy porque el fondo ocupa gran parte de la imagen. En eval.py se calculan por imagen y se promedian sobre las 75 imágenes; si ambas máscaras están vacías vale 1.</a:t>
            </a:r>
            <a:endParaRPr lang="en-US">
              <a:solidFill>
                <a:schemeClr val="bg1"/>
              </a:solidFill>
            </a:endParaRPr>
          </a:p>
          <a:p>
            <a:pPr>
              <a:defRPr/>
            </a:pPr>
            <a:r>
              <a:rPr sz="1100" b="1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Explicación general y puntos a destacar: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Presenta las métricas acotadas en el rango continuo de 0 a 1 (o 0% a 100%). Precisión mide falsos positivos, Recall mide falsos negativos, Dice (F1-score) da el doble de peso a la intersección, e IoU (Jaccard) divide la intersección entre la unión. El IoU es la métrica más estricta y confiable porque penaliza doblemente los errores de omisión y de sobreestimación, evitando el sesgo provocado por la abundancia del fondo.</a:t>
            </a:r>
            <a:endParaRPr/>
          </a:p>
          <a:p>
            <a:pPr>
              <a:defRPr/>
            </a:pPr>
            <a:r>
              <a:rPr sz="1100" b="1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Guía para preguntas del jurado:</a:t>
            </a:r>
            <a:endParaRPr/>
          </a:p>
          <a:p>
            <a:pPr>
              <a:defRPr/>
            </a:pPr>
            <a:r>
              <a:rPr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¿Cuál es la métrica más confiable y por qué?: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"El IoU, porque es la más rigurosa penalizando tanto omisiones como falsos positivos."</a:t>
            </a:r>
            <a:endParaRPr/>
          </a:p>
          <a:p>
            <a:pPr>
              <a:defRPr/>
            </a:pPr>
            <a:r>
              <a:rPr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¿Por qué no usaron Accuracy?:</a:t>
            </a:r>
            <a:r>
              <a:rPr sz="1100" b="0" i="0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i="1" u="none">
                <a:solidFill>
                  <a:srgbClr val="1F1F1F"/>
                </a:solidFill>
                <a:latin typeface="Arial"/>
                <a:ea typeface="Arial"/>
                <a:cs typeface="Arial"/>
              </a:rPr>
              <a:t>"Accuracy daría un porcentaje engañosamente alto solo por clasificar correctamente los píxeles de fondo."</a:t>
            </a:r>
            <a:endParaRPr lang="en-US"/>
          </a:p>
        </p:txBody>
      </p:sp>
      <p:sp>
        <p:nvSpPr>
          <p:cNvPr id="14518309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452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9250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Los cuatro modelos se evaluaron en las 75 imágenes de prueba (umbral 0.5). Modelo 1: 10 épocas sin aumento, IoU 0.8380 y Dice 0.9072. Modelo 2: 10 épocas con aumento, 0.8702 y 0.9256. Modelo 3: 100 épocas sin aumento, 0.9199 y 0.9563. Modelo 4: 100 épocas con aumento, 0.9280 y 0.9602. Pasar de 10 a 100 épocas mejora el IoU en +0.082 sin aumento y +0.058 con aumento. El aumento mejora +0.032 a 10 épocas y solo +0.008 a 100. Importante: 100 épocas sin aumento ya supera a 10 épocas con aumento. Cada modelo se entrenó una sola vez, así que una diferencia pequeña como +0.008 no permite concluir con seguridad.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Explicación general y puntos a destacar: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Compara el rendimiento sobre las 75 imágenes de prueba, destacando al Modelo 4 (100 épocas con aumento) como el mejor con IoU de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$0.9280$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y Dice de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$0.9602$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Resalta que el factor más determinante fue la cantidad de épocas (salto de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$+0.082$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en IoU de 10 a 100 épocas). La diferencia de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$+0.008$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$+0.0081$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corresponde a la ganancia en IoU entre el Modelo 4 y el Modelo 3 (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$0.9280 - 0.9199$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), indicando que al ser una sola ejecución por modelo debe interpretarse con cautela académica.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Guía para preguntas del jurado:</a:t>
            </a:r>
            <a:endParaRPr/>
          </a:p>
          <a:p>
            <a:pPr>
              <a:defRPr/>
            </a:pP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¿A qué se refiere la diferencia de +0.008?: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"Es la ganancia en la métrica IoU de prueba al agregar aumento de datos en 100 épocas."</a:t>
            </a:r>
            <a:endParaRPr/>
          </a:p>
          <a:p>
            <a:pPr>
              <a:defRPr/>
            </a:pP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¿Cuál fue la mejora más significativa?: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"Aumentar el entrenamiento de 10 a 100 épocas produjo el salto de rendimiento más alto del proyecto."</a:t>
            </a:r>
            <a:endParaRPr/>
          </a:p>
        </p:txBody>
      </p:sp>
      <p:sp>
        <p:nvSpPr>
          <p:cNvPr id="1593999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68067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76570281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Cada comparación tiene cuatro paneles: imagen original, máscara real, máscara predicha y la predicción superpuesta con colores de error. Verde: verdaderos positivos (acierto). Rojo: falsos positivos (el modelo marca coche donde es fondo, por ejemplo parte de la carretera). Azul: falsos negativos (coche que el modelo no detecta, por ejemplo un borde del techo o del parachoques). Sin color: verdaderos negativos (fondo bien predicho). El ejemplo mostrado es del modelo 4.</a:t>
            </a:r>
            <a:endParaRPr/>
          </a:p>
        </p:txBody>
      </p:sp>
      <p:sp>
        <p:nvSpPr>
          <p:cNvPr id="125224388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406525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23781052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Misma escena de validación con los modelos entrenados 10 épocas. Modelo 1 (sin aumento): IoU 0.665, con una franja roja amplia de falsos positivos en el suelo a ambos lados del coche y un hueco azul (falso negativo) en el parabrisas. Modelo 2 (con aumento): IoU 0.784; los falsos positivos quedan en manchas a la izquierda y aparece algo de azul en el borde derecho y en la parte baja. Es una sola escena: ilustra el efecto, no lo demuestra; el promedio está en la diapositiva anterior.</a:t>
            </a:r>
            <a:endParaRPr/>
          </a:p>
        </p:txBody>
      </p:sp>
      <p:sp>
        <p:nvSpPr>
          <p:cNvPr id="89580980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61911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97225361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Misma escena con los modelos de 100 épocas. Modelo 3 (sin aumento): IoU 0.819, contorno del coche bastante limpio y una región roja a la izquierda. Modelo 4 (con aumento): IoU 0.867, la región roja es la más pequeña y el azul se limita al borde superior. En las cuatro imágenes el error dominante son falsos positivos en el suelo junto al coche; bajan al aumentar las épocas y con el aumento de datos. Es una sola escena.</a:t>
            </a:r>
            <a:endParaRPr/>
          </a:p>
        </p:txBody>
      </p:sp>
      <p:sp>
        <p:nvSpPr>
          <p:cNvPr id="196599183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7048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67459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Las cuatro configuraciones segmentan bien. Lo más sustentado: más épocas mejora mucho (100 épocas sin aumento ya supera a 10 con aumento) y el mejor resultado combina 100 épocas con aumento. Con cautela: la ganancia del aumento a 100 épocas es de solo +0.008 con una ejecución por modelo; para afirmar que es real habría que repetir con distintas semillas. No se afirma que generalice a imágenes muy distintas.</a:t>
            </a:r>
            <a:endParaRPr/>
          </a:p>
        </p:txBody>
      </p:sp>
      <p:sp>
        <p:nvSpPr>
          <p:cNvPr id="1115590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86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2462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Limitaciones: tamaño del dataset, dependencia de etiquetas manuales, resolución de 256, segmentación binaria sin instancias, conjunto de prueba reservado como referencia final y una sola ejecución por modelo. Trabajo futuro: repetir con distintas semillas, probar BCE más Dice, variar resolución y lote, analizar por tamaño y distancia, y probar imágenes externas.</a:t>
            </a:r>
            <a:endParaRPr/>
          </a:p>
        </p:txBody>
      </p:sp>
      <p:sp>
        <p:nvSpPr>
          <p:cNvPr id="1039669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8355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61597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Conclusión técnica: es factible implementar una U-Net propia en PyTorch para segmentar coches. El mejor modelo (100 épocas con aumento) alcanza IoU 0.9280 y Dice 0.9602 en prueba. Las épocas aportaron la mayor mejora y el aumento una ganancia adicional menor. Siguiente paso: repetir con otras semillas y evaluar con imágenes externas.</a:t>
            </a:r>
            <a:endParaRPr/>
          </a:p>
        </p:txBody>
      </p:sp>
      <p:sp>
        <p:nvSpPr>
          <p:cNvPr id="2550136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7310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49546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Formato APA adaptado; ajustar a las normas de la institución. Los números coinciden con las citas [n] de las diapositivas.</a:t>
            </a:r>
            <a:endParaRPr lang="en-US"/>
          </a:p>
        </p:txBody>
      </p:sp>
      <p:sp>
        <p:nvSpPr>
          <p:cNvPr id="1415721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4015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65380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Tutoriales, repositorios y conjuntos de datos consultados durante el proyecto. Pendiente: confirmar cuál conjunto de datos se usó y su licencia.</a:t>
            </a:r>
            <a:endParaRPr lang="en-US"/>
          </a:p>
        </p:txBody>
      </p:sp>
      <p:sp>
        <p:nvSpPr>
          <p:cNvPr id="7001577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ORTADA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41426" name="Text 0"/>
          <p:cNvSpPr/>
          <p:nvPr>
            <p:ph type="title" idx="100" hasCustomPrompt="1"/>
          </p:nvPr>
        </p:nvSpPr>
        <p:spPr bwMode="auto">
          <a:xfrm>
            <a:off x="548640" y="914400"/>
            <a:ext cx="64922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  <a:defRPr/>
            </a:pPr>
            <a:endParaRPr lang="en-US" sz="3400"/>
          </a:p>
        </p:txBody>
      </p:sp>
      <p:sp>
        <p:nvSpPr>
          <p:cNvPr id="1935335923" name="Text 0"/>
          <p:cNvSpPr/>
          <p:nvPr>
            <p:ph type="body" idx="101" hasCustomPrompt="1"/>
          </p:nvPr>
        </p:nvSpPr>
        <p:spPr bwMode="auto"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spc="20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  <a:defRPr/>
            </a:pPr>
            <a:endParaRPr lang="en-US" sz="12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NTENIDO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878819" name="Text 0"/>
          <p:cNvSpPr/>
          <p:nvPr>
            <p:ph type="title" idx="100" hasCustomPrompt="1"/>
          </p:nvPr>
        </p:nvSpPr>
        <p:spPr bwMode="auto"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  <a:defRPr/>
            </a:pPr>
            <a:endParaRPr lang="en-US" sz="3600"/>
          </a:p>
        </p:txBody>
      </p:sp>
      <p:sp>
        <p:nvSpPr>
          <p:cNvPr id="1725152386" name="Text 0"/>
          <p:cNvSpPr/>
          <p:nvPr>
            <p:ph type="body" idx="101" hasCustomPrompt="1"/>
          </p:nvPr>
        </p:nvSpPr>
        <p:spPr bwMode="auto"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spc="20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  <a:defRPr/>
            </a:pPr>
            <a:endParaRPr lang="en-US" sz="1200"/>
          </a:p>
        </p:txBody>
      </p:sp>
      <p:sp>
        <p:nvSpPr>
          <p:cNvPr id="181629102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633707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dt="0" ftr="1" hdr="0" sldNum="1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2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medium.com/@alessandromondin/semantic-segmentation-with-pytorch-u-net-from-scratch-502d6565910a" TargetMode="External"/><Relationship Id="rId4" Type="http://schemas.openxmlformats.org/officeDocument/2006/relationships/hyperlink" Target="https://bhimraj.com.np/blog/pytorch-unet-image-segmentation-implementation" TargetMode="External"/><Relationship Id="rId5" Type="http://schemas.openxmlformats.org/officeDocument/2006/relationships/hyperlink" Target="https://github.com/milesial/Pytorch-UNet" TargetMode="External"/><Relationship Id="rId6" Type="http://schemas.openxmlformats.org/officeDocument/2006/relationships/hyperlink" Target="https://www.analyticsvidhya.com/blog/2023/08/unet-architecture-mastering-image-segmentation/" TargetMode="External"/><Relationship Id="rId7" Type="http://schemas.openxmlformats.org/officeDocument/2006/relationships/hyperlink" Target="https://theaisummer.com/unet-architectures/" TargetMode="External"/><Relationship Id="rId8" Type="http://schemas.openxmlformats.org/officeDocument/2006/relationships/hyperlink" Target="https://huggingface.co/datasets/Smily6820/car-images" TargetMode="External"/><Relationship Id="rId9" Type="http://schemas.openxmlformats.org/officeDocument/2006/relationships/hyperlink" Target="https://github.com/EkdeepSLubana/raw_dataset/tree/mast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7074" name="Text 0"/>
          <p:cNvSpPr/>
          <p:nvPr>
            <p:ph type="title" idx="100" hasCustomPrompt="1"/>
          </p:nvPr>
        </p:nvSpPr>
        <p:spPr bwMode="auto">
          <a:xfrm>
            <a:off x="548640" y="2011680"/>
            <a:ext cx="6492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chemeClr val="bg1"/>
                </a:solidFill>
              </a:rPr>
              <a:t>Desarrollo y evaluación de una red neuronal U-Net para la segmentación semántica binaria de vehículos en imágenes urbanas</a:t>
            </a:r>
            <a:endParaRPr lang="en-US" sz="3400"/>
          </a:p>
        </p:txBody>
      </p:sp>
      <p:sp>
        <p:nvSpPr>
          <p:cNvPr id="982382174" name="Mapa de características 1"/>
          <p:cNvSpPr/>
          <p:nvPr/>
        </p:nvSpPr>
        <p:spPr bwMode="auto">
          <a:xfrm>
            <a:off x="7452360" y="1600200"/>
            <a:ext cx="368968" cy="3657600"/>
          </a:xfrm>
          <a:prstGeom prst="roundRect">
            <a:avLst>
              <a:gd name="adj" fmla="val 12391"/>
            </a:avLst>
          </a:prstGeom>
          <a:solidFill>
            <a:srgbClr val="2A2D31"/>
          </a:solidFill>
          <a:ln/>
        </p:spPr>
      </p:sp>
      <p:sp>
        <p:nvSpPr>
          <p:cNvPr id="1482878147" name="Mapa de características 2"/>
          <p:cNvSpPr/>
          <p:nvPr/>
        </p:nvSpPr>
        <p:spPr bwMode="auto">
          <a:xfrm>
            <a:off x="7932019" y="1965960"/>
            <a:ext cx="368968" cy="2926080"/>
          </a:xfrm>
          <a:prstGeom prst="roundRect">
            <a:avLst>
              <a:gd name="adj" fmla="val 12391"/>
            </a:avLst>
          </a:prstGeom>
          <a:solidFill>
            <a:srgbClr val="2A2D31"/>
          </a:solidFill>
          <a:ln/>
        </p:spPr>
      </p:sp>
      <p:sp>
        <p:nvSpPr>
          <p:cNvPr id="1301821949" name="Mapa de características 3"/>
          <p:cNvSpPr/>
          <p:nvPr/>
        </p:nvSpPr>
        <p:spPr bwMode="auto">
          <a:xfrm>
            <a:off x="8411678" y="2331720"/>
            <a:ext cx="368968" cy="2194560"/>
          </a:xfrm>
          <a:prstGeom prst="roundRect">
            <a:avLst>
              <a:gd name="adj" fmla="val 12391"/>
            </a:avLst>
          </a:prstGeom>
          <a:solidFill>
            <a:srgbClr val="2A2D31"/>
          </a:solidFill>
          <a:ln/>
        </p:spPr>
      </p:sp>
      <p:sp>
        <p:nvSpPr>
          <p:cNvPr id="935466589" name="Mapa de características 4"/>
          <p:cNvSpPr/>
          <p:nvPr/>
        </p:nvSpPr>
        <p:spPr bwMode="auto">
          <a:xfrm>
            <a:off x="8891337" y="2697480"/>
            <a:ext cx="368968" cy="1463040"/>
          </a:xfrm>
          <a:prstGeom prst="roundRect">
            <a:avLst>
              <a:gd name="adj" fmla="val 12391"/>
            </a:avLst>
          </a:prstGeom>
          <a:solidFill>
            <a:srgbClr val="2A2D31"/>
          </a:solidFill>
          <a:ln/>
        </p:spPr>
      </p:sp>
      <p:sp>
        <p:nvSpPr>
          <p:cNvPr id="183161253" name="Mapa de características 5"/>
          <p:cNvSpPr/>
          <p:nvPr/>
        </p:nvSpPr>
        <p:spPr bwMode="auto">
          <a:xfrm>
            <a:off x="9370996" y="3017519"/>
            <a:ext cx="368968" cy="822960"/>
          </a:xfrm>
          <a:prstGeom prst="roundRect">
            <a:avLst>
              <a:gd name="adj" fmla="val 12391"/>
            </a:avLst>
          </a:prstGeom>
          <a:solidFill>
            <a:srgbClr val="5E6269"/>
          </a:solidFill>
          <a:ln/>
        </p:spPr>
      </p:sp>
      <p:sp>
        <p:nvSpPr>
          <p:cNvPr id="380100993" name="Mapa de características 6"/>
          <p:cNvSpPr/>
          <p:nvPr/>
        </p:nvSpPr>
        <p:spPr bwMode="auto">
          <a:xfrm>
            <a:off x="9850655" y="2697480"/>
            <a:ext cx="368968" cy="1463040"/>
          </a:xfrm>
          <a:prstGeom prst="roundRect">
            <a:avLst>
              <a:gd name="adj" fmla="val 12391"/>
            </a:avLst>
          </a:prstGeom>
          <a:solidFill>
            <a:srgbClr val="A39D8E"/>
          </a:solidFill>
          <a:ln/>
        </p:spPr>
      </p:sp>
      <p:sp>
        <p:nvSpPr>
          <p:cNvPr id="344655950" name="Mapa de características 7"/>
          <p:cNvSpPr/>
          <p:nvPr/>
        </p:nvSpPr>
        <p:spPr bwMode="auto">
          <a:xfrm>
            <a:off x="10330314" y="2331720"/>
            <a:ext cx="368968" cy="2194560"/>
          </a:xfrm>
          <a:prstGeom prst="roundRect">
            <a:avLst>
              <a:gd name="adj" fmla="val 12391"/>
            </a:avLst>
          </a:prstGeom>
          <a:solidFill>
            <a:srgbClr val="A39D8E"/>
          </a:solidFill>
          <a:ln/>
        </p:spPr>
      </p:sp>
      <p:sp>
        <p:nvSpPr>
          <p:cNvPr id="1354169504" name="Mapa de características 8"/>
          <p:cNvSpPr/>
          <p:nvPr/>
        </p:nvSpPr>
        <p:spPr bwMode="auto">
          <a:xfrm>
            <a:off x="10809973" y="1965960"/>
            <a:ext cx="368968" cy="2926080"/>
          </a:xfrm>
          <a:prstGeom prst="roundRect">
            <a:avLst>
              <a:gd name="adj" fmla="val 12391"/>
            </a:avLst>
          </a:prstGeom>
          <a:solidFill>
            <a:srgbClr val="A39D8E"/>
          </a:solidFill>
          <a:ln/>
        </p:spPr>
      </p:sp>
      <p:sp>
        <p:nvSpPr>
          <p:cNvPr id="201820725" name="Mapa de características 9"/>
          <p:cNvSpPr/>
          <p:nvPr/>
        </p:nvSpPr>
        <p:spPr bwMode="auto">
          <a:xfrm>
            <a:off x="11289632" y="1600200"/>
            <a:ext cx="368968" cy="3657600"/>
          </a:xfrm>
          <a:prstGeom prst="roundRect">
            <a:avLst>
              <a:gd name="adj" fmla="val 12391"/>
            </a:avLst>
          </a:prstGeom>
          <a:solidFill>
            <a:srgbClr val="A39D8E"/>
          </a:solidFill>
          <a:ln/>
        </p:spPr>
      </p:sp>
      <p:sp>
        <p:nvSpPr>
          <p:cNvPr id="918737463" name="Skip connection 1"/>
          <p:cNvSpPr/>
          <p:nvPr/>
        </p:nvSpPr>
        <p:spPr bwMode="auto">
          <a:xfrm>
            <a:off x="7876192" y="1472184"/>
            <a:ext cx="3358575" cy="0"/>
          </a:xfrm>
          <a:prstGeom prst="line">
            <a:avLst/>
          </a:prstGeom>
          <a:noFill/>
          <a:ln w="19050">
            <a:solidFill>
              <a:srgbClr val="5E6269"/>
            </a:solidFill>
            <a:prstDash val="dash"/>
          </a:ln>
        </p:spPr>
      </p:sp>
      <p:sp>
        <p:nvSpPr>
          <p:cNvPr id="1567343903" name="Skip connection 2"/>
          <p:cNvSpPr/>
          <p:nvPr/>
        </p:nvSpPr>
        <p:spPr bwMode="auto">
          <a:xfrm>
            <a:off x="8355851" y="1837944"/>
            <a:ext cx="2399257" cy="0"/>
          </a:xfrm>
          <a:prstGeom prst="line">
            <a:avLst/>
          </a:prstGeom>
          <a:noFill/>
          <a:ln w="19050">
            <a:solidFill>
              <a:srgbClr val="5E6269"/>
            </a:solidFill>
            <a:prstDash val="dash"/>
          </a:ln>
        </p:spPr>
      </p:sp>
      <p:sp>
        <p:nvSpPr>
          <p:cNvPr id="579294363" name="Skip connection 3"/>
          <p:cNvSpPr/>
          <p:nvPr/>
        </p:nvSpPr>
        <p:spPr bwMode="auto">
          <a:xfrm>
            <a:off x="8835510" y="2203704"/>
            <a:ext cx="1439939" cy="0"/>
          </a:xfrm>
          <a:prstGeom prst="line">
            <a:avLst/>
          </a:prstGeom>
          <a:noFill/>
          <a:ln w="19050">
            <a:solidFill>
              <a:srgbClr val="5E6269"/>
            </a:solidFill>
            <a:prstDash val="dash"/>
          </a:ln>
        </p:spPr>
      </p:sp>
      <p:sp>
        <p:nvSpPr>
          <p:cNvPr id="1033990223" name="Skip connection 4"/>
          <p:cNvSpPr/>
          <p:nvPr/>
        </p:nvSpPr>
        <p:spPr bwMode="auto">
          <a:xfrm>
            <a:off x="9315169" y="2569464"/>
            <a:ext cx="480621" cy="0"/>
          </a:xfrm>
          <a:prstGeom prst="line">
            <a:avLst/>
          </a:prstGeom>
          <a:noFill/>
          <a:ln w="19050">
            <a:solidFill>
              <a:srgbClr val="5E6269"/>
            </a:solidFill>
            <a:prstDash val="dash"/>
          </a:ln>
        </p:spPr>
      </p:sp>
      <p:sp>
        <p:nvSpPr>
          <p:cNvPr id="1832351403" name=""/>
          <p:cNvSpPr txBox="1"/>
          <p:nvPr/>
        </p:nvSpPr>
        <p:spPr bwMode="auto">
          <a:xfrm rot="0" flipH="0" flipV="0">
            <a:off x="833045" y="5299363"/>
            <a:ext cx="245990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accent1">
                    <a:lumMod val="50000"/>
                  </a:schemeClr>
                </a:solidFill>
              </a:rPr>
              <a:t>Ricardo Acuña Alcantara</a:t>
            </a:r>
            <a:endParaRPr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996466" name="Text 0"/>
          <p:cNvSpPr/>
          <p:nvPr>
            <p:ph type="title" idx="100" hasCustomPrompt="1"/>
          </p:nvPr>
        </p:nvSpPr>
        <p:spPr bwMode="auto"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chemeClr val="bg1"/>
                </a:solidFill>
              </a:rPr>
              <a:t>Resumen</a:t>
            </a:r>
            <a:endParaRPr lang="en-US" sz="3600"/>
          </a:p>
        </p:txBody>
      </p:sp>
      <p:sp>
        <p:nvSpPr>
          <p:cNvPr id="1118847169" name="Text 0"/>
          <p:cNvSpPr/>
          <p:nvPr>
            <p:ph type="body" idx="101" hasCustomPrompt="1"/>
          </p:nvPr>
        </p:nvSpPr>
        <p:spPr bwMode="auto"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chemeClr val="accent1"/>
                </a:solidFill>
              </a:rPr>
              <a:t>2 · ABSTRACT</a:t>
            </a:r>
            <a:endParaRPr lang="en-US" sz="1200"/>
          </a:p>
        </p:txBody>
      </p:sp>
      <p:sp>
        <p:nvSpPr>
          <p:cNvPr id="1699129544" name="Etiqueta Problema"/>
          <p:cNvSpPr txBox="1"/>
          <p:nvPr/>
        </p:nvSpPr>
        <p:spPr bwMode="auto">
          <a:xfrm>
            <a:off x="548640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chemeClr val="accent1"/>
                </a:solidFill>
              </a:rPr>
              <a:t>PROBLEMA</a:t>
            </a:r>
            <a:endParaRPr lang="en-US" sz="1200"/>
          </a:p>
        </p:txBody>
      </p:sp>
      <p:sp>
        <p:nvSpPr>
          <p:cNvPr id="1560277821" name="Texto Problema"/>
          <p:cNvSpPr txBox="1"/>
          <p:nvPr/>
        </p:nvSpPr>
        <p:spPr bwMode="auto">
          <a:xfrm>
            <a:off x="1965960" y="16916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1"/>
                </a:solidFill>
              </a:rPr>
              <a:t>Distinguir los píxeles de coche de los del fondo en imágenes de escenas reales.</a:t>
            </a:r>
            <a:endParaRPr lang="en-US" sz="1500"/>
          </a:p>
        </p:txBody>
      </p:sp>
      <p:sp>
        <p:nvSpPr>
          <p:cNvPr id="547606202" name="Etiqueta Objetivo"/>
          <p:cNvSpPr txBox="1"/>
          <p:nvPr/>
        </p:nvSpPr>
        <p:spPr bwMode="auto">
          <a:xfrm>
            <a:off x="548640" y="2624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chemeClr val="accent1"/>
                </a:solidFill>
              </a:rPr>
              <a:t>OBJETIVO</a:t>
            </a:r>
            <a:endParaRPr lang="en-US" sz="1200"/>
          </a:p>
        </p:txBody>
      </p:sp>
      <p:sp>
        <p:nvSpPr>
          <p:cNvPr id="1220237117" name="Texto Objetivo"/>
          <p:cNvSpPr txBox="1"/>
          <p:nvPr/>
        </p:nvSpPr>
        <p:spPr bwMode="auto">
          <a:xfrm>
            <a:off x="1965960" y="2596896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1"/>
                </a:solidFill>
              </a:rPr>
              <a:t>Implementar y evaluar una U-Net para segmentación binaria y comparar el efecto de las épocas (10 y 100) y del aumento de datos.</a:t>
            </a:r>
            <a:endParaRPr lang="en-US" sz="1500"/>
          </a:p>
        </p:txBody>
      </p:sp>
      <p:sp>
        <p:nvSpPr>
          <p:cNvPr id="1815059247" name="Etiqueta Método"/>
          <p:cNvSpPr txBox="1"/>
          <p:nvPr/>
        </p:nvSpPr>
        <p:spPr bwMode="auto">
          <a:xfrm>
            <a:off x="548640" y="35295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chemeClr val="accent1"/>
                </a:solidFill>
              </a:rPr>
              <a:t>MÉTODO</a:t>
            </a:r>
            <a:endParaRPr lang="en-US" sz="1200"/>
          </a:p>
        </p:txBody>
      </p:sp>
      <p:sp>
        <p:nvSpPr>
          <p:cNvPr id="1435033969" name="Texto Método"/>
          <p:cNvSpPr txBox="1"/>
          <p:nvPr/>
        </p:nvSpPr>
        <p:spPr bwMode="auto">
          <a:xfrm>
            <a:off x="1965960" y="3502152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1"/>
                </a:solidFill>
              </a:rPr>
              <a:t>U-Net en PyTorch, entradas de 256×256 px, 500 imágenes con máscara, BCEWithLogits y Adam</a:t>
            </a:r>
            <a:r>
              <a:rPr lang="es-ES" sz="1500">
                <a:solidFill>
                  <a:schemeClr val="bg1"/>
                </a:solidFill>
              </a:rPr>
              <a:t>.</a:t>
            </a:r>
            <a:r>
              <a:rPr lang="en-US" sz="1500">
                <a:solidFill>
                  <a:schemeClr val="bg1"/>
                </a:solidFill>
              </a:rPr>
              <a:t> </a:t>
            </a:r>
            <a:r>
              <a:rPr lang="es-ES" sz="1500">
                <a:solidFill>
                  <a:schemeClr val="bg1"/>
                </a:solidFill>
              </a:rPr>
              <a:t>C</a:t>
            </a:r>
            <a:r>
              <a:rPr lang="en-US" sz="1500">
                <a:solidFill>
                  <a:schemeClr val="bg1"/>
                </a:solidFill>
              </a:rPr>
              <a:t>uatro entrenamientos (10 o 100 épocas, con o sin aumento).</a:t>
            </a:r>
            <a:endParaRPr lang="en-US" sz="1500"/>
          </a:p>
        </p:txBody>
      </p:sp>
      <p:sp>
        <p:nvSpPr>
          <p:cNvPr id="500575258" name="Etiqueta Resultados"/>
          <p:cNvSpPr txBox="1"/>
          <p:nvPr/>
        </p:nvSpPr>
        <p:spPr bwMode="auto">
          <a:xfrm>
            <a:off x="548640" y="4434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chemeClr val="accent1"/>
                </a:solidFill>
              </a:rPr>
              <a:t>RESULTADOS</a:t>
            </a:r>
            <a:endParaRPr lang="en-US" sz="1200"/>
          </a:p>
        </p:txBody>
      </p:sp>
      <p:sp>
        <p:nvSpPr>
          <p:cNvPr id="1277013272" name="Texto Resultados"/>
          <p:cNvSpPr txBox="1"/>
          <p:nvPr/>
        </p:nvSpPr>
        <p:spPr bwMode="auto">
          <a:xfrm>
            <a:off x="1965960" y="440740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1"/>
                </a:solidFill>
              </a:rPr>
              <a:t>IoU en prueba: 0.8380 (10 épocas), 0.8702 (10 + aumento), 0.9199 (100) y 0.9280 (100 + aumento).</a:t>
            </a:r>
            <a:endParaRPr lang="en-US" sz="1500"/>
          </a:p>
        </p:txBody>
      </p:sp>
      <p:sp>
        <p:nvSpPr>
          <p:cNvPr id="1388415844" name="Etiqueta Conclusión"/>
          <p:cNvSpPr txBox="1"/>
          <p:nvPr/>
        </p:nvSpPr>
        <p:spPr bwMode="auto">
          <a:xfrm>
            <a:off x="548640" y="53400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chemeClr val="accent1"/>
                </a:solidFill>
              </a:rPr>
              <a:t>CONCLUSIÓN</a:t>
            </a:r>
            <a:endParaRPr lang="en-US" sz="1200"/>
          </a:p>
        </p:txBody>
      </p:sp>
      <p:sp>
        <p:nvSpPr>
          <p:cNvPr id="1958701837" name="Texto Conclusión"/>
          <p:cNvSpPr txBox="1"/>
          <p:nvPr/>
        </p:nvSpPr>
        <p:spPr bwMode="auto">
          <a:xfrm>
            <a:off x="1965960" y="5312664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1"/>
                </a:solidFill>
              </a:rPr>
              <a:t>La U-Net propia es funcional. Más épocas aportó la mayor mejora; el aumento sumó una ganancia menor.</a:t>
            </a:r>
            <a:endParaRPr lang="en-US" sz="1500"/>
          </a:p>
        </p:txBody>
      </p:sp>
      <p:sp>
        <p:nvSpPr>
          <p:cNvPr id="1487700122" name="Tarjeta IoU promedio · prueba"/>
          <p:cNvSpPr/>
          <p:nvPr/>
        </p:nvSpPr>
        <p:spPr bwMode="auto">
          <a:xfrm>
            <a:off x="8101582" y="1691640"/>
            <a:ext cx="3547872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29872249" name="Cifra IoU promedio · prueba"/>
          <p:cNvSpPr txBox="1"/>
          <p:nvPr/>
        </p:nvSpPr>
        <p:spPr bwMode="auto">
          <a:xfrm>
            <a:off x="8321039" y="1783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36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0.9280</a:t>
            </a:r>
            <a:endParaRPr lang="en-US" sz="3600"/>
          </a:p>
        </p:txBody>
      </p:sp>
      <p:sp>
        <p:nvSpPr>
          <p:cNvPr id="1575531563" name="Rótulo IoU promedio · prueba"/>
          <p:cNvSpPr txBox="1"/>
          <p:nvPr/>
        </p:nvSpPr>
        <p:spPr bwMode="auto">
          <a:xfrm>
            <a:off x="8321039" y="23865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IoU promedio · mejor modelo (prueba)</a:t>
            </a:r>
            <a:endParaRPr lang="en-US" sz="1300"/>
          </a:p>
        </p:txBody>
      </p:sp>
      <p:sp>
        <p:nvSpPr>
          <p:cNvPr id="710159836" name="Tarjeta Dice promedio · prueba"/>
          <p:cNvSpPr/>
          <p:nvPr/>
        </p:nvSpPr>
        <p:spPr bwMode="auto">
          <a:xfrm>
            <a:off x="8092440" y="2862072"/>
            <a:ext cx="3547872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325177147" name="Cifra Dice promedio · prueba"/>
          <p:cNvSpPr txBox="1"/>
          <p:nvPr/>
        </p:nvSpPr>
        <p:spPr bwMode="auto">
          <a:xfrm>
            <a:off x="8321039" y="29535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3600" b="1">
                <a:solidFill>
                  <a:schemeClr val="accent5"/>
                </a:solidFill>
                <a:latin typeface="Cambria"/>
                <a:ea typeface="Cambria"/>
                <a:cs typeface="Cambria"/>
              </a:rPr>
              <a:t>0.9602</a:t>
            </a:r>
            <a:endParaRPr lang="en-US" sz="3600"/>
          </a:p>
        </p:txBody>
      </p:sp>
      <p:sp>
        <p:nvSpPr>
          <p:cNvPr id="1416471947" name="Rótulo Dice promedio · prueba"/>
          <p:cNvSpPr txBox="1"/>
          <p:nvPr/>
        </p:nvSpPr>
        <p:spPr bwMode="auto">
          <a:xfrm>
            <a:off x="8321038" y="3547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Dice promedio · mejor modelo (prueba)</a:t>
            </a:r>
            <a:endParaRPr lang="en-US" sz="1300"/>
          </a:p>
        </p:txBody>
      </p:sp>
      <p:sp>
        <p:nvSpPr>
          <p:cNvPr id="1765734106" name="Tarjeta imágenes con máscara binaria"/>
          <p:cNvSpPr/>
          <p:nvPr/>
        </p:nvSpPr>
        <p:spPr bwMode="auto">
          <a:xfrm>
            <a:off x="8092440" y="4032504"/>
            <a:ext cx="3547872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26881630" name="Cifra imágenes con máscara binaria"/>
          <p:cNvSpPr txBox="1"/>
          <p:nvPr/>
        </p:nvSpPr>
        <p:spPr bwMode="auto">
          <a:xfrm>
            <a:off x="8321039" y="412394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3600" b="1">
                <a:solidFill>
                  <a:schemeClr val="accent4"/>
                </a:solidFill>
                <a:latin typeface="Cambria"/>
                <a:ea typeface="Cambria"/>
                <a:cs typeface="Cambria"/>
              </a:rPr>
              <a:t>4</a:t>
            </a:r>
            <a:endParaRPr lang="en-US" sz="3600"/>
          </a:p>
        </p:txBody>
      </p:sp>
      <p:sp>
        <p:nvSpPr>
          <p:cNvPr id="1848783895" name="Rótulo imágenes con máscara binaria"/>
          <p:cNvSpPr txBox="1"/>
          <p:nvPr/>
        </p:nvSpPr>
        <p:spPr bwMode="auto">
          <a:xfrm>
            <a:off x="8321039" y="47274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entrenamientos comparados</a:t>
            </a:r>
            <a:endParaRPr lang="en-US" sz="1300"/>
          </a:p>
        </p:txBody>
      </p:sp>
      <p:sp>
        <p:nvSpPr>
          <p:cNvPr id="504693084" name="Tarjeta parámetros entrenables"/>
          <p:cNvSpPr/>
          <p:nvPr/>
        </p:nvSpPr>
        <p:spPr bwMode="auto">
          <a:xfrm>
            <a:off x="8101582" y="5202936"/>
            <a:ext cx="3547872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36332841" name="Cifra parámetros entrenables"/>
          <p:cNvSpPr txBox="1"/>
          <p:nvPr/>
        </p:nvSpPr>
        <p:spPr bwMode="auto">
          <a:xfrm>
            <a:off x="8321039" y="529437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3600" b="1">
                <a:solidFill>
                  <a:schemeClr val="accent3"/>
                </a:solidFill>
                <a:latin typeface="Cambria"/>
                <a:ea typeface="Cambria"/>
                <a:cs typeface="Cambria"/>
              </a:rPr>
              <a:t>1.94 M</a:t>
            </a:r>
            <a:endParaRPr lang="en-US" sz="3600"/>
          </a:p>
        </p:txBody>
      </p:sp>
      <p:sp>
        <p:nvSpPr>
          <p:cNvPr id="1246215514" name="Rótulo parámetros entrenables"/>
          <p:cNvSpPr txBox="1"/>
          <p:nvPr/>
        </p:nvSpPr>
        <p:spPr bwMode="auto">
          <a:xfrm>
            <a:off x="8321039" y="5897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parámetros entrenables</a:t>
            </a:r>
            <a:endParaRPr lang="en-US" sz="1300"/>
          </a:p>
        </p:txBody>
      </p:sp>
      <p:sp>
        <p:nvSpPr>
          <p:cNvPr id="2103367824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053692" name="Text 0"/>
          <p:cNvSpPr/>
          <p:nvPr>
            <p:ph type="title" idx="100" hasCustomPrompt="1"/>
          </p:nvPr>
        </p:nvSpPr>
        <p:spPr bwMode="auto"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chemeClr val="bg1"/>
                </a:solidFill>
              </a:rPr>
              <a:t>Segmentación semántica</a:t>
            </a:r>
            <a:endParaRPr lang="en-US" sz="3600"/>
          </a:p>
        </p:txBody>
      </p:sp>
      <p:sp>
        <p:nvSpPr>
          <p:cNvPr id="488856014" name="Text 0"/>
          <p:cNvSpPr/>
          <p:nvPr>
            <p:ph type="body" idx="101" hasCustomPrompt="1"/>
          </p:nvPr>
        </p:nvSpPr>
        <p:spPr bwMode="auto"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chemeClr val="accent1"/>
                </a:solidFill>
              </a:rPr>
              <a:t>3.1 · INTRODUCCIÓN · CONTEXTO</a:t>
            </a:r>
            <a:endParaRPr lang="en-US" sz="1200"/>
          </a:p>
        </p:txBody>
      </p:sp>
      <p:sp>
        <p:nvSpPr>
          <p:cNvPr id="57862647" name="Tarjeta imagen tipos de segmentación"/>
          <p:cNvSpPr/>
          <p:nvPr/>
        </p:nvSpPr>
        <p:spPr bwMode="auto">
          <a:xfrm>
            <a:off x="548640" y="1645920"/>
            <a:ext cx="6309360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pic>
        <p:nvPicPr>
          <p:cNvPr id="388629005" name="Image 0" descr="Tipos de segmentación: semántica, de instancia y panóptica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5800" y="1785513"/>
            <a:ext cx="6035039" cy="3149812"/>
          </a:xfrm>
          <a:prstGeom prst="rect">
            <a:avLst/>
          </a:prstGeom>
        </p:spPr>
      </p:pic>
      <p:sp>
        <p:nvSpPr>
          <p:cNvPr id="1783325566" name="Pie de figura"/>
          <p:cNvSpPr txBox="1"/>
          <p:nvPr/>
        </p:nvSpPr>
        <p:spPr bwMode="auto">
          <a:xfrm>
            <a:off x="548640" y="5212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2"/>
                </a:solidFill>
              </a:rPr>
              <a:t>Tipos de segmentación: semántica, de instancia y panóptica</a:t>
            </a:r>
            <a:endParaRPr lang="en-US" sz="1200"/>
          </a:p>
        </p:txBody>
      </p:sp>
      <p:sp>
        <p:nvSpPr>
          <p:cNvPr id="1383234979" name="Subtítulo 1"/>
          <p:cNvSpPr txBox="1"/>
          <p:nvPr/>
        </p:nvSpPr>
        <p:spPr bwMode="auto">
          <a:xfrm>
            <a:off x="7223760" y="1645920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Qué asigna cada enfoque</a:t>
            </a:r>
            <a:endParaRPr lang="en-US" sz="1800"/>
          </a:p>
        </p:txBody>
      </p:sp>
      <p:sp>
        <p:nvSpPr>
          <p:cNvPr id="450114912" name="Texto 1"/>
          <p:cNvSpPr txBox="1"/>
          <p:nvPr/>
        </p:nvSpPr>
        <p:spPr bwMode="auto">
          <a:xfrm>
            <a:off x="7223760" y="2057400"/>
            <a:ext cx="4416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1"/>
                </a:solidFill>
              </a:rPr>
              <a:t>La segmentación semántica asigna una categoría a cada píxel de la imagen.</a:t>
            </a:r>
            <a:endParaRPr lang="en-US" sz="1500"/>
          </a:p>
        </p:txBody>
      </p:sp>
      <p:sp>
        <p:nvSpPr>
          <p:cNvPr id="2034433746" name="Etiqueta fondo"/>
          <p:cNvSpPr/>
          <p:nvPr/>
        </p:nvSpPr>
        <p:spPr bwMode="auto">
          <a:xfrm>
            <a:off x="7223760" y="2834640"/>
            <a:ext cx="2103120" cy="274320"/>
          </a:xfrm>
          <a:prstGeom prst="roundRect">
            <a:avLst>
              <a:gd name="adj" fmla="val 50000"/>
            </a:avLst>
          </a:prstGeom>
          <a:solidFill>
            <a:schemeClr val="accent5">
              <a:alpha val="20000"/>
            </a:schemeClr>
          </a:solidFill>
          <a:ln/>
        </p:spPr>
      </p:sp>
      <p:sp>
        <p:nvSpPr>
          <p:cNvPr id="344948183" name="Texto etiqueta fondo"/>
          <p:cNvSpPr txBox="1"/>
          <p:nvPr/>
        </p:nvSpPr>
        <p:spPr bwMode="auto">
          <a:xfrm>
            <a:off x="722376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accent5"/>
                </a:solidFill>
              </a:rPr>
              <a:t>Clase 0 · Fondo</a:t>
            </a:r>
            <a:endParaRPr lang="en-US" sz="1100"/>
          </a:p>
        </p:txBody>
      </p:sp>
      <p:sp>
        <p:nvSpPr>
          <p:cNvPr id="177561433" name="Etiqueta coche"/>
          <p:cNvSpPr/>
          <p:nvPr/>
        </p:nvSpPr>
        <p:spPr bwMode="auto">
          <a:xfrm>
            <a:off x="9509760" y="2834640"/>
            <a:ext cx="2103120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72977848" name="Texto etiqueta coche"/>
          <p:cNvSpPr txBox="1"/>
          <p:nvPr/>
        </p:nvSpPr>
        <p:spPr bwMode="auto">
          <a:xfrm>
            <a:off x="950976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accent1"/>
                </a:solidFill>
              </a:rPr>
              <a:t>Clase 1 · Coche</a:t>
            </a:r>
            <a:endParaRPr lang="en-US" sz="1100"/>
          </a:p>
        </p:txBody>
      </p:sp>
      <p:sp>
        <p:nvSpPr>
          <p:cNvPr id="1300776113" name="Texto 2"/>
          <p:cNvSpPr txBox="1"/>
          <p:nvPr/>
        </p:nvSpPr>
        <p:spPr bwMode="auto">
          <a:xfrm>
            <a:off x="7223760" y="3383280"/>
            <a:ext cx="4416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1"/>
                </a:solidFill>
              </a:rPr>
              <a:t>Una detección dibuja una caja</a:t>
            </a:r>
            <a:r>
              <a:rPr lang="es-ES" sz="1500">
                <a:solidFill>
                  <a:schemeClr val="bg1"/>
                </a:solidFill>
              </a:rPr>
              <a:t>,</a:t>
            </a:r>
            <a:r>
              <a:rPr lang="en-US" sz="1500">
                <a:solidFill>
                  <a:schemeClr val="bg1"/>
                </a:solidFill>
              </a:rPr>
              <a:t> la segmentación delimita la silueta de cada coche.</a:t>
            </a:r>
            <a:endParaRPr lang="en-US" sz="1500"/>
          </a:p>
        </p:txBody>
      </p:sp>
      <p:sp>
        <p:nvSpPr>
          <p:cNvPr id="129613121" name="Tarjeta alcance"/>
          <p:cNvSpPr/>
          <p:nvPr/>
        </p:nvSpPr>
        <p:spPr bwMode="auto">
          <a:xfrm>
            <a:off x="7223760" y="4343400"/>
            <a:ext cx="4416552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61855241" name="Texto alcance"/>
          <p:cNvSpPr txBox="1"/>
          <p:nvPr/>
        </p:nvSpPr>
        <p:spPr bwMode="auto">
          <a:xfrm>
            <a:off x="7452360" y="452628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200" b="1" spc="100">
                <a:solidFill>
                  <a:schemeClr val="accent1"/>
                </a:solidFill>
              </a:rPr>
              <a:t>ESTE PROYECTO</a:t>
            </a:r>
            <a:endParaRPr lang="en-US" sz="14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Segmentación semántica binaria. No separa instancias: dos coches que se tocan forman una sola región.</a:t>
            </a:r>
            <a:endParaRPr lang="en-US" sz="1400"/>
          </a:p>
        </p:txBody>
      </p:sp>
      <p:sp>
        <p:nvSpPr>
          <p:cNvPr id="212262724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3656358" name="Text 0"/>
          <p:cNvSpPr/>
          <p:nvPr>
            <p:ph type="title" idx="100" hasCustomPrompt="1"/>
          </p:nvPr>
        </p:nvSpPr>
        <p:spPr bwMode="auto"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chemeClr val="bg1"/>
                </a:solidFill>
              </a:rPr>
              <a:t>¿Por qué U-Net?</a:t>
            </a:r>
            <a:endParaRPr lang="en-US" sz="3600"/>
          </a:p>
        </p:txBody>
      </p:sp>
      <p:sp>
        <p:nvSpPr>
          <p:cNvPr id="1656800277" name="Text 0"/>
          <p:cNvSpPr/>
          <p:nvPr>
            <p:ph type="body" idx="101" hasCustomPrompt="1"/>
          </p:nvPr>
        </p:nvSpPr>
        <p:spPr bwMode="auto"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chemeClr val="accent1"/>
                </a:solidFill>
              </a:rPr>
              <a:t>3.2 · INTRODUCCIÓN · ARQUITECTURA</a:t>
            </a:r>
            <a:endParaRPr lang="en-US" sz="1200"/>
          </a:p>
        </p:txBody>
      </p:sp>
      <p:pic>
        <p:nvPicPr>
          <p:cNvPr id="1463794199" name="Image 0" descr="Diagrama de la estructura de una red U-Ne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48640" y="1444752"/>
            <a:ext cx="6035038" cy="3740620"/>
          </a:xfrm>
          <a:prstGeom prst="rect">
            <a:avLst/>
          </a:prstGeom>
        </p:spPr>
      </p:pic>
      <p:sp>
        <p:nvSpPr>
          <p:cNvPr id="992985946" name="Pie de figura"/>
          <p:cNvSpPr txBox="1"/>
          <p:nvPr/>
        </p:nvSpPr>
        <p:spPr bwMode="auto">
          <a:xfrm flipH="0" flipV="0">
            <a:off x="548640" y="5242115"/>
            <a:ext cx="6035038" cy="22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2"/>
                </a:solidFill>
              </a:rPr>
              <a:t>Ronneberger, Fischer y Brox (2015) [1]</a:t>
            </a:r>
            <a:endParaRPr lang="en-US" sz="1200"/>
          </a:p>
        </p:txBody>
      </p:sp>
      <p:sp>
        <p:nvSpPr>
          <p:cNvPr id="613922844" name="Tarjeta Encoder"/>
          <p:cNvSpPr/>
          <p:nvPr/>
        </p:nvSpPr>
        <p:spPr bwMode="auto">
          <a:xfrm>
            <a:off x="6949440" y="1645920"/>
            <a:ext cx="4690872" cy="100584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2095600176" name="Título Encoder"/>
          <p:cNvSpPr txBox="1"/>
          <p:nvPr/>
        </p:nvSpPr>
        <p:spPr bwMode="auto">
          <a:xfrm>
            <a:off x="7178039" y="178308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bg1"/>
                </a:solidFill>
              </a:rPr>
              <a:t>Encoder</a:t>
            </a:r>
            <a:endParaRPr lang="en-US" sz="1700"/>
          </a:p>
        </p:txBody>
      </p:sp>
      <p:sp>
        <p:nvSpPr>
          <p:cNvPr id="2054872731" name="Texto Encoder"/>
          <p:cNvSpPr txBox="1"/>
          <p:nvPr/>
        </p:nvSpPr>
        <p:spPr bwMode="auto">
          <a:xfrm>
            <a:off x="7178039" y="21031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Reduce la resolución y aprende características de la imagen.</a:t>
            </a:r>
            <a:endParaRPr lang="en-US" sz="1400"/>
          </a:p>
        </p:txBody>
      </p:sp>
      <p:sp>
        <p:nvSpPr>
          <p:cNvPr id="1665993246" name="Tarjeta Decoder"/>
          <p:cNvSpPr/>
          <p:nvPr/>
        </p:nvSpPr>
        <p:spPr bwMode="auto">
          <a:xfrm>
            <a:off x="6949440" y="2830068"/>
            <a:ext cx="4690872" cy="100584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523872430" name="Título Decoder"/>
          <p:cNvSpPr txBox="1"/>
          <p:nvPr/>
        </p:nvSpPr>
        <p:spPr bwMode="auto">
          <a:xfrm>
            <a:off x="7178039" y="296722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bg1"/>
                </a:solidFill>
              </a:rPr>
              <a:t>Decoder</a:t>
            </a:r>
            <a:endParaRPr lang="en-US" sz="1700"/>
          </a:p>
        </p:txBody>
      </p:sp>
      <p:sp>
        <p:nvSpPr>
          <p:cNvPr id="2067412265" name="Texto Decoder"/>
          <p:cNvSpPr txBox="1"/>
          <p:nvPr/>
        </p:nvSpPr>
        <p:spPr bwMode="auto">
          <a:xfrm>
            <a:off x="7178039" y="328726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Aumenta la resolución y reconstruye la predicción espacial.</a:t>
            </a:r>
            <a:endParaRPr lang="en-US" sz="1400"/>
          </a:p>
        </p:txBody>
      </p:sp>
      <p:sp>
        <p:nvSpPr>
          <p:cNvPr id="1664002881" name="Tarjeta Skip connections"/>
          <p:cNvSpPr/>
          <p:nvPr/>
        </p:nvSpPr>
        <p:spPr bwMode="auto">
          <a:xfrm>
            <a:off x="6949440" y="4014216"/>
            <a:ext cx="4690872" cy="100584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154751603" name="Título Skip connections"/>
          <p:cNvSpPr txBox="1"/>
          <p:nvPr/>
        </p:nvSpPr>
        <p:spPr bwMode="auto">
          <a:xfrm>
            <a:off x="7178039" y="415137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bg1"/>
                </a:solidFill>
              </a:rPr>
              <a:t>Skip connections</a:t>
            </a:r>
            <a:endParaRPr lang="en-US" sz="1700"/>
          </a:p>
        </p:txBody>
      </p:sp>
      <p:sp>
        <p:nvSpPr>
          <p:cNvPr id="1890321239" name="Texto Skip connections"/>
          <p:cNvSpPr txBox="1"/>
          <p:nvPr/>
        </p:nvSpPr>
        <p:spPr bwMode="auto">
          <a:xfrm>
            <a:off x="7178039" y="447141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Unen niveles equivalentes para recuperar el detalle de los contornos.</a:t>
            </a:r>
            <a:endParaRPr lang="en-US" sz="1400"/>
          </a:p>
        </p:txBody>
      </p:sp>
      <p:sp>
        <p:nvSpPr>
          <p:cNvPr id="1444792646" name="Tarjeta justificación"/>
          <p:cNvSpPr/>
          <p:nvPr/>
        </p:nvSpPr>
        <p:spPr bwMode="auto">
          <a:xfrm>
            <a:off x="548640" y="5532120"/>
            <a:ext cx="11091672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373670301" name="Texto justificación"/>
          <p:cNvSpPr txBox="1"/>
          <p:nvPr/>
        </p:nvSpPr>
        <p:spPr bwMode="auto">
          <a:xfrm>
            <a:off x="777240" y="5532120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Los coches tienen formas variables, aparecen parcialmente ocultos y a distintas distancias y ángulos: una máscara por píxel representa su silueta mejor que una caja.</a:t>
            </a:r>
            <a:endParaRPr lang="en-US" sz="1400"/>
          </a:p>
        </p:txBody>
      </p:sp>
      <p:sp>
        <p:nvSpPr>
          <p:cNvPr id="2094956934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178526" name="Text 0"/>
          <p:cNvSpPr/>
          <p:nvPr>
            <p:ph type="title" idx="100" hasCustomPrompt="1"/>
          </p:nvPr>
        </p:nvSpPr>
        <p:spPr bwMode="auto"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chemeClr val="bg1"/>
                </a:solidFill>
              </a:rPr>
              <a:t>Objetivos y contribución</a:t>
            </a:r>
            <a:endParaRPr lang="en-US" sz="3600"/>
          </a:p>
        </p:txBody>
      </p:sp>
      <p:sp>
        <p:nvSpPr>
          <p:cNvPr id="248684698" name="Text 0"/>
          <p:cNvSpPr/>
          <p:nvPr>
            <p:ph type="body" idx="101" hasCustomPrompt="1"/>
          </p:nvPr>
        </p:nvSpPr>
        <p:spPr bwMode="auto"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chemeClr val="accent1"/>
                </a:solidFill>
              </a:rPr>
              <a:t>3.3 · INTRODUCCIÓN · OBJETIVOS</a:t>
            </a:r>
            <a:endParaRPr lang="en-US" sz="1200"/>
          </a:p>
        </p:txBody>
      </p:sp>
      <p:sp>
        <p:nvSpPr>
          <p:cNvPr id="764430369" name="Tarjeta objetivo general"/>
          <p:cNvSpPr/>
          <p:nvPr/>
        </p:nvSpPr>
        <p:spPr bwMode="auto">
          <a:xfrm>
            <a:off x="548640" y="1645920"/>
            <a:ext cx="448056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852049142" name="Texto objetivo general"/>
          <p:cNvSpPr txBox="1"/>
          <p:nvPr/>
        </p:nvSpPr>
        <p:spPr bwMode="auto">
          <a:xfrm flipH="0" flipV="0">
            <a:off x="777239" y="1968246"/>
            <a:ext cx="4023360" cy="1321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  <a:defRPr/>
            </a:pPr>
            <a:r>
              <a:rPr lang="en-US" sz="1200" b="1" spc="100">
                <a:solidFill>
                  <a:schemeClr val="accent1"/>
                </a:solidFill>
              </a:rPr>
              <a:t>OBJETIVO GENERAL</a:t>
            </a:r>
            <a:endParaRPr lang="en-US" sz="1400"/>
          </a:p>
          <a:p>
            <a:pPr marL="0" indent="0">
              <a:spcAft>
                <a:spcPts val="600"/>
              </a:spcAft>
              <a:buNone/>
              <a:defRPr/>
            </a:pPr>
            <a:r>
              <a:rPr lang="en-US" sz="1700">
                <a:solidFill>
                  <a:schemeClr val="bg1"/>
                </a:solidFill>
              </a:rPr>
              <a:t>Desarrollar y evaluar una red convolucional U-Net para la segmentación semántica binaria de coches en imágenes de escenas reales.</a:t>
            </a:r>
            <a:endParaRPr lang="en-US" sz="1400"/>
          </a:p>
        </p:txBody>
      </p:sp>
      <p:sp>
        <p:nvSpPr>
          <p:cNvPr id="986154915" name="Tarjeta contribución"/>
          <p:cNvSpPr/>
          <p:nvPr/>
        </p:nvSpPr>
        <p:spPr bwMode="auto">
          <a:xfrm>
            <a:off x="548640" y="3794760"/>
            <a:ext cx="4480560" cy="246888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774374275" name="Texto contribución"/>
          <p:cNvSpPr txBox="1"/>
          <p:nvPr/>
        </p:nvSpPr>
        <p:spPr bwMode="auto">
          <a:xfrm flipH="0" flipV="0">
            <a:off x="777239" y="4391709"/>
            <a:ext cx="4023360" cy="1274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  <a:defRPr/>
            </a:pPr>
            <a:r>
              <a:rPr lang="en-US" sz="1200" b="1" spc="100">
                <a:solidFill>
                  <a:schemeClr val="accent4"/>
                </a:solidFill>
              </a:rPr>
              <a:t>CONTRIBUCIÓN</a:t>
            </a:r>
            <a:endParaRPr lang="en-US" sz="1400"/>
          </a:p>
          <a:p>
            <a:pPr marL="0" indent="0">
              <a:spcAft>
                <a:spcPts val="600"/>
              </a:spcAft>
              <a:buNone/>
              <a:defRPr/>
            </a:pPr>
            <a:r>
              <a:rPr lang="en-US" sz="1600">
                <a:solidFill>
                  <a:schemeClr val="bg1"/>
                </a:solidFill>
              </a:rPr>
              <a:t>U-Net ya existe en la literatura. La aportación está en su implementación, la adaptación al conjunto de coches, la evaluación experimental y el análisis visual de errores.</a:t>
            </a:r>
            <a:endParaRPr lang="en-US" sz="1400"/>
          </a:p>
        </p:txBody>
      </p:sp>
      <p:sp>
        <p:nvSpPr>
          <p:cNvPr id="551628048" name="Rótulo específicos"/>
          <p:cNvSpPr txBox="1"/>
          <p:nvPr/>
        </p:nvSpPr>
        <p:spPr bwMode="auto">
          <a:xfrm>
            <a:off x="5440680" y="1645920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chemeClr val="accent1"/>
                </a:solidFill>
              </a:rPr>
              <a:t>OBJETIVOS ESPECÍFICOS</a:t>
            </a:r>
            <a:endParaRPr lang="en-US" sz="1200"/>
          </a:p>
        </p:txBody>
      </p:sp>
      <p:sp>
        <p:nvSpPr>
          <p:cNvPr id="1441218449" name="Círculo objetivo 1"/>
          <p:cNvSpPr/>
          <p:nvPr/>
        </p:nvSpPr>
        <p:spPr bwMode="auto">
          <a:xfrm>
            <a:off x="5440680" y="2057400"/>
            <a:ext cx="502920" cy="50292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834919977" name="Número objetivo 1"/>
          <p:cNvSpPr txBox="1"/>
          <p:nvPr/>
        </p:nvSpPr>
        <p:spPr bwMode="auto">
          <a:xfrm>
            <a:off x="5440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800"/>
          </a:p>
        </p:txBody>
      </p:sp>
      <p:sp>
        <p:nvSpPr>
          <p:cNvPr id="940946064" name="Objetivo 1"/>
          <p:cNvSpPr txBox="1"/>
          <p:nvPr/>
        </p:nvSpPr>
        <p:spPr bwMode="auto">
          <a:xfrm>
            <a:off x="6172200" y="2011680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1"/>
                </a:solidFill>
              </a:rPr>
              <a:t>Construir un conjunto de datos con imágenes y máscaras binarias alineadas.</a:t>
            </a:r>
            <a:endParaRPr lang="en-US" sz="1500"/>
          </a:p>
        </p:txBody>
      </p:sp>
      <p:sp>
        <p:nvSpPr>
          <p:cNvPr id="1220330767" name="Círculo objetivo 2"/>
          <p:cNvSpPr/>
          <p:nvPr/>
        </p:nvSpPr>
        <p:spPr bwMode="auto">
          <a:xfrm>
            <a:off x="5440680" y="2898648"/>
            <a:ext cx="502920" cy="50292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863244042" name="Número objetivo 2"/>
          <p:cNvSpPr txBox="1"/>
          <p:nvPr/>
        </p:nvSpPr>
        <p:spPr bwMode="auto">
          <a:xfrm>
            <a:off x="5440680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800"/>
          </a:p>
        </p:txBody>
      </p:sp>
      <p:sp>
        <p:nvSpPr>
          <p:cNvPr id="928384633" name="Objetivo 2"/>
          <p:cNvSpPr txBox="1"/>
          <p:nvPr/>
        </p:nvSpPr>
        <p:spPr bwMode="auto">
          <a:xfrm>
            <a:off x="6172200" y="2852928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1"/>
                </a:solidFill>
              </a:rPr>
              <a:t>Implementar la arquitectura U-Net en PyTorch.</a:t>
            </a:r>
            <a:endParaRPr lang="en-US" sz="1500"/>
          </a:p>
        </p:txBody>
      </p:sp>
      <p:sp>
        <p:nvSpPr>
          <p:cNvPr id="1532304398" name="Círculo objetivo 3"/>
          <p:cNvSpPr/>
          <p:nvPr/>
        </p:nvSpPr>
        <p:spPr bwMode="auto">
          <a:xfrm>
            <a:off x="5440680" y="3739896"/>
            <a:ext cx="502920" cy="50292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48043664" name="Número objetivo 3"/>
          <p:cNvSpPr txBox="1"/>
          <p:nvPr/>
        </p:nvSpPr>
        <p:spPr bwMode="auto">
          <a:xfrm>
            <a:off x="5440680" y="3739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800"/>
          </a:p>
        </p:txBody>
      </p:sp>
      <p:sp>
        <p:nvSpPr>
          <p:cNvPr id="523676166" name="Objetivo 3"/>
          <p:cNvSpPr txBox="1"/>
          <p:nvPr/>
        </p:nvSpPr>
        <p:spPr bwMode="auto">
          <a:xfrm>
            <a:off x="6172200" y="3694176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1"/>
                </a:solidFill>
              </a:rPr>
              <a:t>Entrenar con aprendizaje supervisado y evaluar las predicciones.</a:t>
            </a:r>
            <a:endParaRPr lang="en-US" sz="1500"/>
          </a:p>
        </p:txBody>
      </p:sp>
      <p:sp>
        <p:nvSpPr>
          <p:cNvPr id="1901707058" name="Círculo objetivo 4"/>
          <p:cNvSpPr/>
          <p:nvPr/>
        </p:nvSpPr>
        <p:spPr bwMode="auto">
          <a:xfrm>
            <a:off x="5440680" y="4581144"/>
            <a:ext cx="502920" cy="50292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532246539" name="Número objetivo 4"/>
          <p:cNvSpPr txBox="1"/>
          <p:nvPr/>
        </p:nvSpPr>
        <p:spPr bwMode="auto">
          <a:xfrm>
            <a:off x="5440680" y="4581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800"/>
          </a:p>
        </p:txBody>
      </p:sp>
      <p:sp>
        <p:nvSpPr>
          <p:cNvPr id="374322171" name="Objetivo 4"/>
          <p:cNvSpPr txBox="1"/>
          <p:nvPr/>
        </p:nvSpPr>
        <p:spPr bwMode="auto">
          <a:xfrm>
            <a:off x="6172200" y="4535424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1"/>
                </a:solidFill>
              </a:rPr>
              <a:t>Medir el rendimiento con IoU</a:t>
            </a:r>
            <a:r>
              <a:rPr lang="es-ES" sz="1500">
                <a:solidFill>
                  <a:schemeClr val="bg1"/>
                </a:solidFill>
              </a:rPr>
              <a:t> y</a:t>
            </a:r>
            <a:r>
              <a:rPr lang="en-US" sz="1500">
                <a:solidFill>
                  <a:schemeClr val="bg1"/>
                </a:solidFill>
              </a:rPr>
              <a:t> Dice.</a:t>
            </a:r>
            <a:endParaRPr lang="en-US" sz="1500"/>
          </a:p>
        </p:txBody>
      </p:sp>
      <p:sp>
        <p:nvSpPr>
          <p:cNvPr id="342710853" name="Círculo objetivo 5"/>
          <p:cNvSpPr/>
          <p:nvPr/>
        </p:nvSpPr>
        <p:spPr bwMode="auto">
          <a:xfrm>
            <a:off x="5440680" y="5422392"/>
            <a:ext cx="502920" cy="50292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748249644" name="Número objetivo 5"/>
          <p:cNvSpPr txBox="1"/>
          <p:nvPr/>
        </p:nvSpPr>
        <p:spPr bwMode="auto">
          <a:xfrm>
            <a:off x="5440680" y="5422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5</a:t>
            </a:r>
            <a:endParaRPr lang="en-US" sz="1800"/>
          </a:p>
        </p:txBody>
      </p:sp>
      <p:sp>
        <p:nvSpPr>
          <p:cNvPr id="1693675953" name="Objetivo 5"/>
          <p:cNvSpPr txBox="1"/>
          <p:nvPr/>
        </p:nvSpPr>
        <p:spPr bwMode="auto">
          <a:xfrm>
            <a:off x="6172200" y="5376672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1"/>
                </a:solidFill>
              </a:rPr>
              <a:t>Examinar visualmente los errores y comparar 10 y 100 épocas, con y sin aumento de datos.</a:t>
            </a:r>
            <a:endParaRPr lang="en-US" sz="1500"/>
          </a:p>
        </p:txBody>
      </p:sp>
      <p:sp>
        <p:nvSpPr>
          <p:cNvPr id="1897399227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377953" name="Text 0"/>
          <p:cNvSpPr/>
          <p:nvPr>
            <p:ph type="title" idx="100" hasCustomPrompt="1"/>
          </p:nvPr>
        </p:nvSpPr>
        <p:spPr bwMode="auto"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chemeClr val="bg1"/>
                </a:solidFill>
              </a:rPr>
              <a:t>Conjunto de datos</a:t>
            </a:r>
            <a:endParaRPr lang="en-US" sz="3600"/>
          </a:p>
        </p:txBody>
      </p:sp>
      <p:sp>
        <p:nvSpPr>
          <p:cNvPr id="1951824426" name="Text 0"/>
          <p:cNvSpPr/>
          <p:nvPr>
            <p:ph type="body" idx="101" hasCustomPrompt="1"/>
          </p:nvPr>
        </p:nvSpPr>
        <p:spPr bwMode="auto"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chemeClr val="accent1"/>
                </a:solidFill>
              </a:rPr>
              <a:t>4.1 · MATERIALES Y MÉTODOS · DATOS</a:t>
            </a:r>
            <a:endParaRPr lang="en-US" sz="1200"/>
          </a:p>
        </p:txBody>
      </p:sp>
      <p:sp>
        <p:nvSpPr>
          <p:cNvPr id="743950331" name="Tarjeta datos"/>
          <p:cNvSpPr/>
          <p:nvPr/>
        </p:nvSpPr>
        <p:spPr bwMode="auto">
          <a:xfrm>
            <a:off x="548640" y="1645920"/>
            <a:ext cx="6035039" cy="4617720"/>
          </a:xfrm>
          <a:prstGeom prst="roundRect">
            <a:avLst>
              <a:gd name="adj" fmla="val 1980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01884988" name="Dato Total"/>
          <p:cNvSpPr txBox="1"/>
          <p:nvPr/>
        </p:nvSpPr>
        <p:spPr bwMode="auto">
          <a:xfrm>
            <a:off x="82296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Total</a:t>
            </a:r>
            <a:endParaRPr lang="en-US" sz="1400"/>
          </a:p>
        </p:txBody>
      </p:sp>
      <p:sp>
        <p:nvSpPr>
          <p:cNvPr id="831265938" name="Valor Total"/>
          <p:cNvSpPr txBox="1"/>
          <p:nvPr/>
        </p:nvSpPr>
        <p:spPr bwMode="auto">
          <a:xfrm>
            <a:off x="237744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bg1"/>
                </a:solidFill>
              </a:rPr>
              <a:t>500 parejas imagen–máscara</a:t>
            </a:r>
            <a:endParaRPr lang="en-US" sz="1600"/>
          </a:p>
        </p:txBody>
      </p:sp>
      <p:sp>
        <p:nvSpPr>
          <p:cNvPr id="1969830919" name="Dato Imágenes"/>
          <p:cNvSpPr txBox="1"/>
          <p:nvPr/>
        </p:nvSpPr>
        <p:spPr bwMode="auto">
          <a:xfrm>
            <a:off x="822960" y="27066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Imágenes</a:t>
            </a:r>
            <a:endParaRPr lang="en-US" sz="1400"/>
          </a:p>
        </p:txBody>
      </p:sp>
      <p:sp>
        <p:nvSpPr>
          <p:cNvPr id="1152583333" name="Valor Imágenes"/>
          <p:cNvSpPr txBox="1"/>
          <p:nvPr/>
        </p:nvSpPr>
        <p:spPr bwMode="auto">
          <a:xfrm>
            <a:off x="2377440" y="27066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bg1"/>
                </a:solidFill>
              </a:rPr>
              <a:t>JPG , convertidas a RGB</a:t>
            </a:r>
            <a:endParaRPr lang="en-US" sz="1600"/>
          </a:p>
        </p:txBody>
      </p:sp>
      <p:sp>
        <p:nvSpPr>
          <p:cNvPr id="1768530543" name="Dato Máscaras"/>
          <p:cNvSpPr txBox="1"/>
          <p:nvPr/>
        </p:nvSpPr>
        <p:spPr bwMode="auto">
          <a:xfrm>
            <a:off x="822960" y="3401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Máscaras</a:t>
            </a:r>
            <a:endParaRPr lang="en-US" sz="1400"/>
          </a:p>
        </p:txBody>
      </p:sp>
      <p:sp>
        <p:nvSpPr>
          <p:cNvPr id="1459526375" name="Valor Máscaras"/>
          <p:cNvSpPr txBox="1"/>
          <p:nvPr/>
        </p:nvSpPr>
        <p:spPr bwMode="auto">
          <a:xfrm>
            <a:off x="2377440" y="34015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bg1"/>
                </a:solidFill>
              </a:rPr>
              <a:t>PNG binarias: 1 = coche, 0 = fondo</a:t>
            </a:r>
            <a:endParaRPr lang="en-US" sz="1600"/>
          </a:p>
        </p:txBody>
      </p:sp>
      <p:sp>
        <p:nvSpPr>
          <p:cNvPr id="83309753" name="Dato Anotación"/>
          <p:cNvSpPr txBox="1"/>
          <p:nvPr/>
        </p:nvSpPr>
        <p:spPr bwMode="auto">
          <a:xfrm>
            <a:off x="822960" y="40965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Anotación</a:t>
            </a:r>
            <a:endParaRPr lang="en-US" sz="1400"/>
          </a:p>
        </p:txBody>
      </p:sp>
      <p:sp>
        <p:nvSpPr>
          <p:cNvPr id="1298529403" name="Valor Anotación"/>
          <p:cNvSpPr txBox="1"/>
          <p:nvPr/>
        </p:nvSpPr>
        <p:spPr bwMode="auto">
          <a:xfrm>
            <a:off x="2377440" y="40965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bg1"/>
                </a:solidFill>
              </a:rPr>
              <a:t>LabelMe → máscaras binarias [4]</a:t>
            </a:r>
            <a:endParaRPr lang="en-US" sz="1600"/>
          </a:p>
        </p:txBody>
      </p:sp>
      <p:sp>
        <p:nvSpPr>
          <p:cNvPr id="1878732295" name="Dato Entrada"/>
          <p:cNvSpPr txBox="1"/>
          <p:nvPr/>
        </p:nvSpPr>
        <p:spPr bwMode="auto">
          <a:xfrm>
            <a:off x="822960" y="47914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Entrada</a:t>
            </a:r>
            <a:endParaRPr lang="en-US" sz="1400"/>
          </a:p>
        </p:txBody>
      </p:sp>
      <p:sp>
        <p:nvSpPr>
          <p:cNvPr id="690704813" name="Valor Entrada"/>
          <p:cNvSpPr txBox="1"/>
          <p:nvPr/>
        </p:nvSpPr>
        <p:spPr bwMode="auto">
          <a:xfrm>
            <a:off x="2377440" y="47914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bg1"/>
                </a:solidFill>
              </a:rPr>
              <a:t>256 × 256 píxeles</a:t>
            </a:r>
            <a:endParaRPr lang="en-US" sz="1600"/>
          </a:p>
        </p:txBody>
      </p:sp>
      <p:sp>
        <p:nvSpPr>
          <p:cNvPr id="1065761055" name="Dato Clases"/>
          <p:cNvSpPr txBox="1"/>
          <p:nvPr/>
        </p:nvSpPr>
        <p:spPr bwMode="auto">
          <a:xfrm>
            <a:off x="822960" y="5486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Clases</a:t>
            </a:r>
            <a:endParaRPr lang="en-US" sz="1400"/>
          </a:p>
        </p:txBody>
      </p:sp>
      <p:sp>
        <p:nvSpPr>
          <p:cNvPr id="1284532002" name="Valor Clases"/>
          <p:cNvSpPr txBox="1"/>
          <p:nvPr/>
        </p:nvSpPr>
        <p:spPr bwMode="auto">
          <a:xfrm>
            <a:off x="2377439" y="5486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bg1"/>
                </a:solidFill>
              </a:rPr>
              <a:t>Coche y fondo</a:t>
            </a:r>
            <a:endParaRPr lang="en-US" sz="1600"/>
          </a:p>
        </p:txBody>
      </p:sp>
      <p:graphicFrame>
        <p:nvGraphicFramePr>
          <p:cNvPr id="979514698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6867144" y="1522476"/>
          <a:ext cx="4782312" cy="38130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4210879" name="Tarjeta división"/>
          <p:cNvSpPr/>
          <p:nvPr/>
        </p:nvSpPr>
        <p:spPr bwMode="auto">
          <a:xfrm>
            <a:off x="6858000" y="5394960"/>
            <a:ext cx="4782312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015718988" name="Texto división"/>
          <p:cNvSpPr txBox="1"/>
          <p:nvPr/>
        </p:nvSpPr>
        <p:spPr bwMode="auto">
          <a:xfrm>
            <a:off x="7040880" y="539496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1"/>
                </a:solidFill>
              </a:rPr>
              <a:t>70 % / 15 % / 15 %, aleatoria con semilla 42. Cada imagen viaja con su máscara a carpetas train, val y test.</a:t>
            </a:r>
            <a:endParaRPr lang="en-US" sz="1300"/>
          </a:p>
        </p:txBody>
      </p:sp>
      <p:sp>
        <p:nvSpPr>
          <p:cNvPr id="1489961771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979182" name="Text 0"/>
          <p:cNvSpPr/>
          <p:nvPr>
            <p:ph type="title" idx="100" hasCustomPrompt="1"/>
          </p:nvPr>
        </p:nvSpPr>
        <p:spPr bwMode="auto"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chemeClr val="bg1"/>
                </a:solidFill>
              </a:rPr>
              <a:t>Preprocesamiento</a:t>
            </a:r>
            <a:endParaRPr lang="en-US" sz="3600"/>
          </a:p>
        </p:txBody>
      </p:sp>
      <p:sp>
        <p:nvSpPr>
          <p:cNvPr id="1789658339" name="Text 0"/>
          <p:cNvSpPr/>
          <p:nvPr>
            <p:ph type="body" idx="101" hasCustomPrompt="1"/>
          </p:nvPr>
        </p:nvSpPr>
        <p:spPr bwMode="auto"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chemeClr val="accent1"/>
                </a:solidFill>
              </a:rPr>
              <a:t>4.2 · MATERIALES Y MÉTODOS · PREPROCESAMIENTO</a:t>
            </a:r>
            <a:endParaRPr lang="en-US" sz="1200"/>
          </a:p>
        </p:txBody>
      </p:sp>
      <p:sp>
        <p:nvSpPr>
          <p:cNvPr id="1296889016" name="Tarjeta paso 1"/>
          <p:cNvSpPr/>
          <p:nvPr/>
        </p:nvSpPr>
        <p:spPr bwMode="auto">
          <a:xfrm>
            <a:off x="548640" y="1645920"/>
            <a:ext cx="2103120" cy="3246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294600297" name="Número paso 1"/>
          <p:cNvSpPr txBox="1"/>
          <p:nvPr/>
        </p:nvSpPr>
        <p:spPr bwMode="auto">
          <a:xfrm>
            <a:off x="731520" y="18105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1</a:t>
            </a:r>
            <a:endParaRPr lang="en-US" sz="3200"/>
          </a:p>
        </p:txBody>
      </p:sp>
      <p:sp>
        <p:nvSpPr>
          <p:cNvPr id="1454731496" name="Título paso 1"/>
          <p:cNvSpPr txBox="1"/>
          <p:nvPr/>
        </p:nvSpPr>
        <p:spPr bwMode="auto">
          <a:xfrm>
            <a:off x="73152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bg1"/>
                </a:solidFill>
              </a:rPr>
              <a:t>Conversión a RGB</a:t>
            </a:r>
            <a:endParaRPr lang="en-US" sz="1600"/>
          </a:p>
        </p:txBody>
      </p:sp>
      <p:sp>
        <p:nvSpPr>
          <p:cNvPr id="1295057151" name="Texto paso 1"/>
          <p:cNvSpPr txBox="1"/>
          <p:nvPr/>
        </p:nvSpPr>
        <p:spPr bwMode="auto">
          <a:xfrm>
            <a:off x="731520" y="30632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Todas las imágenes entran con 3 canales, aunque el archivo original no los tenga.</a:t>
            </a:r>
            <a:endParaRPr lang="en-US" sz="1400"/>
          </a:p>
        </p:txBody>
      </p:sp>
      <p:sp>
        <p:nvSpPr>
          <p:cNvPr id="1761326950" name="Tarjeta paso 2"/>
          <p:cNvSpPr/>
          <p:nvPr/>
        </p:nvSpPr>
        <p:spPr bwMode="auto">
          <a:xfrm>
            <a:off x="2795778" y="1645920"/>
            <a:ext cx="2103120" cy="3246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442784764" name="Número paso 2"/>
          <p:cNvSpPr txBox="1"/>
          <p:nvPr/>
        </p:nvSpPr>
        <p:spPr bwMode="auto">
          <a:xfrm>
            <a:off x="2978658" y="18105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2</a:t>
            </a:r>
            <a:endParaRPr lang="en-US" sz="3200"/>
          </a:p>
        </p:txBody>
      </p:sp>
      <p:sp>
        <p:nvSpPr>
          <p:cNvPr id="513610218" name="Título paso 2"/>
          <p:cNvSpPr txBox="1"/>
          <p:nvPr/>
        </p:nvSpPr>
        <p:spPr bwMode="auto">
          <a:xfrm>
            <a:off x="2978658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bg1"/>
                </a:solidFill>
              </a:rPr>
              <a:t>Padding a 256×256</a:t>
            </a:r>
            <a:endParaRPr lang="en-US" sz="1600"/>
          </a:p>
        </p:txBody>
      </p:sp>
      <p:sp>
        <p:nvSpPr>
          <p:cNvPr id="1697566437" name="Texto paso 2"/>
          <p:cNvSpPr txBox="1"/>
          <p:nvPr/>
        </p:nvSpPr>
        <p:spPr bwMode="auto">
          <a:xfrm>
            <a:off x="2978658" y="30632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Se ajusta a un cuadrado sin deformar los coches. El relleno es negro en la imagen y fondo en la máscara.</a:t>
            </a:r>
            <a:endParaRPr lang="en-US" sz="1400"/>
          </a:p>
        </p:txBody>
      </p:sp>
      <p:sp>
        <p:nvSpPr>
          <p:cNvPr id="1218070330" name="Tarjeta paso 3"/>
          <p:cNvSpPr/>
          <p:nvPr/>
        </p:nvSpPr>
        <p:spPr bwMode="auto">
          <a:xfrm>
            <a:off x="5042916" y="1645920"/>
            <a:ext cx="2103120" cy="3246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305874334" name="Número paso 3"/>
          <p:cNvSpPr txBox="1"/>
          <p:nvPr/>
        </p:nvSpPr>
        <p:spPr bwMode="auto">
          <a:xfrm>
            <a:off x="5225796" y="18105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3</a:t>
            </a:r>
            <a:endParaRPr lang="en-US" sz="3200"/>
          </a:p>
        </p:txBody>
      </p:sp>
      <p:sp>
        <p:nvSpPr>
          <p:cNvPr id="1457287480" name="Título paso 3"/>
          <p:cNvSpPr txBox="1"/>
          <p:nvPr/>
        </p:nvSpPr>
        <p:spPr bwMode="auto">
          <a:xfrm>
            <a:off x="5225796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bg1"/>
                </a:solidFill>
              </a:rPr>
              <a:t>Normalización</a:t>
            </a:r>
            <a:endParaRPr lang="en-US" sz="1600"/>
          </a:p>
        </p:txBody>
      </p:sp>
      <p:sp>
        <p:nvSpPr>
          <p:cNvPr id="839526569" name="Texto paso 3"/>
          <p:cNvSpPr txBox="1"/>
          <p:nvPr/>
        </p:nvSpPr>
        <p:spPr bwMode="auto">
          <a:xfrm>
            <a:off x="5225796" y="30632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Los valores de píxel pasan de 0–255 a 0–1</a:t>
            </a:r>
            <a:r>
              <a:rPr lang="es-ES" sz="1400">
                <a:solidFill>
                  <a:schemeClr val="bg2"/>
                </a:solidFill>
              </a:rPr>
              <a:t>.</a:t>
            </a:r>
            <a:endParaRPr lang="en-US" sz="1400"/>
          </a:p>
        </p:txBody>
      </p:sp>
      <p:sp>
        <p:nvSpPr>
          <p:cNvPr id="387876846" name="Tarjeta paso 4"/>
          <p:cNvSpPr/>
          <p:nvPr/>
        </p:nvSpPr>
        <p:spPr bwMode="auto">
          <a:xfrm>
            <a:off x="7290054" y="1645920"/>
            <a:ext cx="2103120" cy="3246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478408642" name="Número paso 4"/>
          <p:cNvSpPr txBox="1"/>
          <p:nvPr/>
        </p:nvSpPr>
        <p:spPr bwMode="auto">
          <a:xfrm>
            <a:off x="7472934" y="18105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4</a:t>
            </a:r>
            <a:endParaRPr lang="en-US" sz="3200"/>
          </a:p>
        </p:txBody>
      </p:sp>
      <p:sp>
        <p:nvSpPr>
          <p:cNvPr id="2138841238" name="Título paso 4"/>
          <p:cNvSpPr txBox="1"/>
          <p:nvPr/>
        </p:nvSpPr>
        <p:spPr bwMode="auto">
          <a:xfrm>
            <a:off x="7472934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bg1"/>
                </a:solidFill>
              </a:rPr>
              <a:t>Máscara binaria</a:t>
            </a:r>
            <a:endParaRPr lang="en-US" sz="1600"/>
          </a:p>
        </p:txBody>
      </p:sp>
      <p:sp>
        <p:nvSpPr>
          <p:cNvPr id="1080115331" name="Texto paso 4"/>
          <p:cNvSpPr txBox="1"/>
          <p:nvPr/>
        </p:nvSpPr>
        <p:spPr bwMode="auto">
          <a:xfrm>
            <a:off x="7472934" y="30632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Escala de grises con umbral 128: ≥128 es coche (1) y &lt;128 es fondo (0).</a:t>
            </a:r>
            <a:endParaRPr lang="en-US" sz="1400"/>
          </a:p>
        </p:txBody>
      </p:sp>
      <p:sp>
        <p:nvSpPr>
          <p:cNvPr id="1095981645" name="Tarjeta paso 5"/>
          <p:cNvSpPr/>
          <p:nvPr/>
        </p:nvSpPr>
        <p:spPr bwMode="auto">
          <a:xfrm>
            <a:off x="9537192" y="1645920"/>
            <a:ext cx="2103120" cy="3246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565082789" name="Número paso 5"/>
          <p:cNvSpPr txBox="1"/>
          <p:nvPr/>
        </p:nvSpPr>
        <p:spPr bwMode="auto">
          <a:xfrm>
            <a:off x="9720072" y="18105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5</a:t>
            </a:r>
            <a:endParaRPr lang="en-US" sz="3200"/>
          </a:p>
        </p:txBody>
      </p:sp>
      <p:sp>
        <p:nvSpPr>
          <p:cNvPr id="1606263706" name="Título paso 5"/>
          <p:cNvSpPr txBox="1"/>
          <p:nvPr/>
        </p:nvSpPr>
        <p:spPr bwMode="auto">
          <a:xfrm>
            <a:off x="9720072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bg1"/>
                </a:solidFill>
              </a:rPr>
              <a:t>Formato tensor</a:t>
            </a:r>
            <a:endParaRPr lang="en-US" sz="1600"/>
          </a:p>
        </p:txBody>
      </p:sp>
      <p:sp>
        <p:nvSpPr>
          <p:cNvPr id="381816561" name="Texto paso 5"/>
          <p:cNvSpPr txBox="1"/>
          <p:nvPr/>
        </p:nvSpPr>
        <p:spPr bwMode="auto">
          <a:xfrm>
            <a:off x="9720072" y="30632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[alto, ancho, canales] pasa a [canales, alto, ancho], el orden que usa PyTorch.</a:t>
            </a:r>
            <a:endParaRPr lang="en-US" sz="1400"/>
          </a:p>
        </p:txBody>
      </p:sp>
      <p:sp>
        <p:nvSpPr>
          <p:cNvPr id="583487838" name="Tarjeta interpolación"/>
          <p:cNvSpPr/>
          <p:nvPr/>
        </p:nvSpPr>
        <p:spPr bwMode="auto">
          <a:xfrm>
            <a:off x="548640" y="5074920"/>
            <a:ext cx="544068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287473309" name="Texto interpolación"/>
          <p:cNvSpPr txBox="1"/>
          <p:nvPr/>
        </p:nvSpPr>
        <p:spPr bwMode="auto">
          <a:xfrm>
            <a:off x="777240" y="52120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  <a:defRPr/>
            </a:pPr>
            <a:r>
              <a:rPr lang="en-US" sz="1200" b="1" spc="100">
                <a:solidFill>
                  <a:schemeClr val="accent1"/>
                </a:solidFill>
              </a:rPr>
              <a:t>INTERPOLACIÓN</a:t>
            </a:r>
            <a:endParaRPr lang="en-US" sz="14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1300">
                <a:solidFill>
                  <a:schemeClr val="bg1"/>
                </a:solidFill>
              </a:rPr>
              <a:t>Bilineal en la imagen y vecino más cercano en la máscara: promediar valores crearía etiquetas que no son ninguna clase.</a:t>
            </a:r>
            <a:endParaRPr lang="en-US" sz="1400"/>
          </a:p>
        </p:txBody>
      </p:sp>
      <p:sp>
        <p:nvSpPr>
          <p:cNvPr id="1838216039" name="Tarjeta implementación"/>
          <p:cNvSpPr/>
          <p:nvPr/>
        </p:nvSpPr>
        <p:spPr bwMode="auto">
          <a:xfrm>
            <a:off x="6199632" y="5074920"/>
            <a:ext cx="544068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635378306" name="Texto implementación"/>
          <p:cNvSpPr txBox="1"/>
          <p:nvPr/>
        </p:nvSpPr>
        <p:spPr bwMode="auto">
          <a:xfrm>
            <a:off x="6428232" y="52120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  <a:defRPr/>
            </a:pPr>
            <a:r>
              <a:rPr lang="en-US" sz="1200" b="1" spc="100">
                <a:solidFill>
                  <a:schemeClr val="accent1"/>
                </a:solidFill>
              </a:rPr>
              <a:t>IMPLEMENTACIÓN</a:t>
            </a:r>
            <a:endParaRPr lang="en-US" sz="14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1300">
                <a:solidFill>
                  <a:schemeClr val="bg1"/>
                </a:solidFill>
              </a:rPr>
              <a:t>Clase CarDataset con Dataset y DataLoader de PyTorch [8]; verifica que cada imagen tenga su máscara y el mismo tamaño.</a:t>
            </a:r>
            <a:endParaRPr lang="en-US" sz="1400"/>
          </a:p>
        </p:txBody>
      </p:sp>
      <p:sp>
        <p:nvSpPr>
          <p:cNvPr id="63634822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275576" name="Text 0"/>
          <p:cNvSpPr/>
          <p:nvPr>
            <p:ph type="title" idx="100" hasCustomPrompt="1"/>
          </p:nvPr>
        </p:nvSpPr>
        <p:spPr bwMode="auto"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chemeClr val="bg1"/>
                </a:solidFill>
              </a:rPr>
              <a:t>Arquitectura implementada</a:t>
            </a:r>
            <a:endParaRPr lang="en-US" sz="3600"/>
          </a:p>
        </p:txBody>
      </p:sp>
      <p:sp>
        <p:nvSpPr>
          <p:cNvPr id="560956614" name="Text 0"/>
          <p:cNvSpPr/>
          <p:nvPr>
            <p:ph type="body" idx="101" hasCustomPrompt="1"/>
          </p:nvPr>
        </p:nvSpPr>
        <p:spPr bwMode="auto"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chemeClr val="accent1"/>
                </a:solidFill>
              </a:rPr>
              <a:t>4.3 · MATERIALES Y MÉTODOS · ARQUITECTURA</a:t>
            </a:r>
            <a:endParaRPr lang="en-US" sz="1200"/>
          </a:p>
        </p:txBody>
      </p:sp>
      <p:pic>
        <p:nvPicPr>
          <p:cNvPr id="1638532904" name="Image 0" descr="Diagrama de la U-Net implementada: encoder, bottleneck, decoder y skip connections con sus canales y resoluciones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1645920"/>
            <a:ext cx="5212080" cy="4566392"/>
          </a:xfrm>
          <a:prstGeom prst="rect">
            <a:avLst/>
          </a:prstGeom>
        </p:spPr>
      </p:pic>
      <p:sp>
        <p:nvSpPr>
          <p:cNvPr id="845035496" name="Punto Encoder"/>
          <p:cNvSpPr/>
          <p:nvPr/>
        </p:nvSpPr>
        <p:spPr bwMode="auto">
          <a:xfrm>
            <a:off x="6172200" y="1709928"/>
            <a:ext cx="182880" cy="182880"/>
          </a:xfrm>
          <a:prstGeom prst="ellipse">
            <a:avLst/>
          </a:prstGeom>
          <a:solidFill>
            <a:srgbClr val="2BB38A"/>
          </a:solidFill>
          <a:ln/>
        </p:spPr>
      </p:sp>
      <p:sp>
        <p:nvSpPr>
          <p:cNvPr id="1477709087" name="Texto Encoder"/>
          <p:cNvSpPr txBox="1"/>
          <p:nvPr/>
        </p:nvSpPr>
        <p:spPr bwMode="auto">
          <a:xfrm>
            <a:off x="6492240" y="1645920"/>
            <a:ext cx="5148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Encoder  </a:t>
            </a:r>
            <a:r>
              <a:rPr lang="en-US" sz="1300">
                <a:solidFill>
                  <a:schemeClr val="bg2"/>
                </a:solidFill>
              </a:rPr>
              <a:t>4 bloques con 16, 32, 64 y 128 canales. MaxPool 2×2 reduce a la mitad el alto y el ancho.</a:t>
            </a:r>
            <a:endParaRPr lang="en-US" sz="1400"/>
          </a:p>
        </p:txBody>
      </p:sp>
      <p:sp>
        <p:nvSpPr>
          <p:cNvPr id="1727854223" name="Punto Bottleneck"/>
          <p:cNvSpPr/>
          <p:nvPr/>
        </p:nvSpPr>
        <p:spPr bwMode="auto">
          <a:xfrm>
            <a:off x="6172200" y="2423160"/>
            <a:ext cx="182880" cy="182880"/>
          </a:xfrm>
          <a:prstGeom prst="ellipse">
            <a:avLst/>
          </a:prstGeom>
          <a:solidFill>
            <a:srgbClr val="8B7CF0"/>
          </a:solidFill>
          <a:ln/>
        </p:spPr>
      </p:sp>
      <p:sp>
        <p:nvSpPr>
          <p:cNvPr id="167025557" name="Texto Bottleneck"/>
          <p:cNvSpPr txBox="1"/>
          <p:nvPr/>
        </p:nvSpPr>
        <p:spPr bwMode="auto">
          <a:xfrm>
            <a:off x="6492240" y="2359152"/>
            <a:ext cx="5148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Bottleneck  </a:t>
            </a:r>
            <a:r>
              <a:rPr lang="en-US" sz="1300">
                <a:solidFill>
                  <a:schemeClr val="bg2"/>
                </a:solidFill>
              </a:rPr>
              <a:t>128 → 256 canales a 16×16: la representación más abstracta.</a:t>
            </a:r>
            <a:endParaRPr lang="en-US" sz="1400"/>
          </a:p>
        </p:txBody>
      </p:sp>
      <p:sp>
        <p:nvSpPr>
          <p:cNvPr id="1836339052" name="Punto Decoder"/>
          <p:cNvSpPr/>
          <p:nvPr/>
        </p:nvSpPr>
        <p:spPr bwMode="auto">
          <a:xfrm>
            <a:off x="6172200" y="3136392"/>
            <a:ext cx="182880" cy="182880"/>
          </a:xfrm>
          <a:prstGeom prst="ellipse">
            <a:avLst/>
          </a:prstGeom>
          <a:solidFill>
            <a:srgbClr val="E8683A"/>
          </a:solidFill>
          <a:ln/>
        </p:spPr>
      </p:sp>
      <p:sp>
        <p:nvSpPr>
          <p:cNvPr id="886076184" name="Texto Decoder"/>
          <p:cNvSpPr txBox="1"/>
          <p:nvPr/>
        </p:nvSpPr>
        <p:spPr bwMode="auto">
          <a:xfrm>
            <a:off x="6492240" y="3072384"/>
            <a:ext cx="5148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Decoder  </a:t>
            </a:r>
            <a:r>
              <a:rPr lang="en-US" sz="1300">
                <a:solidFill>
                  <a:schemeClr val="bg2"/>
                </a:solidFill>
              </a:rPr>
              <a:t>4 bloques con ConvTranspose 2×2 [6]. Duplican la resolución y concatenan la skip del encoder.</a:t>
            </a:r>
            <a:endParaRPr lang="en-US" sz="1400"/>
          </a:p>
        </p:txBody>
      </p:sp>
      <p:sp>
        <p:nvSpPr>
          <p:cNvPr id="893420884" name="Punto Skip connections"/>
          <p:cNvSpPr/>
          <p:nvPr/>
        </p:nvSpPr>
        <p:spPr bwMode="auto">
          <a:xfrm>
            <a:off x="6172200" y="3849624"/>
            <a:ext cx="182880" cy="18288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894776935" name="Texto Skip connections"/>
          <p:cNvSpPr txBox="1"/>
          <p:nvPr/>
        </p:nvSpPr>
        <p:spPr bwMode="auto">
          <a:xfrm>
            <a:off x="6492240" y="3785616"/>
            <a:ext cx="5148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Skip connections  </a:t>
            </a:r>
            <a:r>
              <a:rPr lang="en-US" sz="1300">
                <a:solidFill>
                  <a:schemeClr val="bg2"/>
                </a:solidFill>
              </a:rPr>
              <a:t>torch.cat por canales: unen contexto profundo y detalle espacial.</a:t>
            </a:r>
            <a:endParaRPr lang="en-US" sz="1400"/>
          </a:p>
        </p:txBody>
      </p:sp>
      <p:sp>
        <p:nvSpPr>
          <p:cNvPr id="905449489" name="Punto Salida"/>
          <p:cNvSpPr/>
          <p:nvPr/>
        </p:nvSpPr>
        <p:spPr bwMode="auto">
          <a:xfrm>
            <a:off x="6172200" y="4562856"/>
            <a:ext cx="182880" cy="182880"/>
          </a:xfrm>
          <a:prstGeom prst="ellipse">
            <a:avLst/>
          </a:prstGeom>
          <a:solidFill>
            <a:srgbClr val="4FA3E0"/>
          </a:solidFill>
          <a:ln/>
        </p:spPr>
      </p:sp>
      <p:sp>
        <p:nvSpPr>
          <p:cNvPr id="1107014710" name="Texto Salida"/>
          <p:cNvSpPr txBox="1"/>
          <p:nvPr/>
        </p:nvSpPr>
        <p:spPr bwMode="auto">
          <a:xfrm>
            <a:off x="6492240" y="4498848"/>
            <a:ext cx="5148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Salida  </a:t>
            </a:r>
            <a:r>
              <a:rPr lang="en-US" sz="1300">
                <a:solidFill>
                  <a:schemeClr val="bg2"/>
                </a:solidFill>
              </a:rPr>
              <a:t>Conv 1×1 de 16 a 1 canal: un logit por píxel.</a:t>
            </a:r>
            <a:endParaRPr lang="en-US" sz="1400"/>
          </a:p>
        </p:txBody>
      </p:sp>
      <p:sp>
        <p:nvSpPr>
          <p:cNvPr id="1543750275" name="Tarjeta parámetros"/>
          <p:cNvSpPr/>
          <p:nvPr/>
        </p:nvSpPr>
        <p:spPr bwMode="auto">
          <a:xfrm>
            <a:off x="6172200" y="5349240"/>
            <a:ext cx="173736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499230113" name="Cifra parámetros"/>
          <p:cNvSpPr txBox="1"/>
          <p:nvPr/>
        </p:nvSpPr>
        <p:spPr bwMode="auto">
          <a:xfrm>
            <a:off x="6263640" y="5440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1 944 049</a:t>
            </a:r>
            <a:endParaRPr lang="en-US" sz="2000"/>
          </a:p>
        </p:txBody>
      </p:sp>
      <p:sp>
        <p:nvSpPr>
          <p:cNvPr id="616553808" name="Rótulo parámetros"/>
          <p:cNvSpPr txBox="1"/>
          <p:nvPr/>
        </p:nvSpPr>
        <p:spPr bwMode="auto">
          <a:xfrm>
            <a:off x="6263640" y="5897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bg2"/>
                </a:solidFill>
              </a:rPr>
              <a:t>parámetros</a:t>
            </a:r>
            <a:endParaRPr lang="en-US" sz="1200"/>
          </a:p>
        </p:txBody>
      </p:sp>
      <p:sp>
        <p:nvSpPr>
          <p:cNvPr id="1853121924" name="Tarjeta resolución (px)"/>
          <p:cNvSpPr/>
          <p:nvPr/>
        </p:nvSpPr>
        <p:spPr bwMode="auto">
          <a:xfrm>
            <a:off x="8046720" y="5349240"/>
            <a:ext cx="173736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644082917" name="Cifra resolución (px)"/>
          <p:cNvSpPr txBox="1"/>
          <p:nvPr/>
        </p:nvSpPr>
        <p:spPr bwMode="auto">
          <a:xfrm>
            <a:off x="8138160" y="5440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256 → 16 → 256</a:t>
            </a:r>
            <a:endParaRPr lang="en-US" sz="1600"/>
          </a:p>
        </p:txBody>
      </p:sp>
      <p:sp>
        <p:nvSpPr>
          <p:cNvPr id="1687440707" name="Rótulo resolución (px)"/>
          <p:cNvSpPr txBox="1"/>
          <p:nvPr/>
        </p:nvSpPr>
        <p:spPr bwMode="auto">
          <a:xfrm>
            <a:off x="8138160" y="5897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bg2"/>
                </a:solidFill>
              </a:rPr>
              <a:t>resolución (px)</a:t>
            </a:r>
            <a:endParaRPr lang="en-US" sz="1200"/>
          </a:p>
        </p:txBody>
      </p:sp>
      <p:sp>
        <p:nvSpPr>
          <p:cNvPr id="1373219280" name="Tarjeta salida (logits)"/>
          <p:cNvSpPr/>
          <p:nvPr/>
        </p:nvSpPr>
        <p:spPr bwMode="auto">
          <a:xfrm>
            <a:off x="9921240" y="5349240"/>
            <a:ext cx="173736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74773096" name="Cifra salida (logits)"/>
          <p:cNvSpPr txBox="1"/>
          <p:nvPr/>
        </p:nvSpPr>
        <p:spPr bwMode="auto">
          <a:xfrm>
            <a:off x="10012680" y="5440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1×256×256</a:t>
            </a:r>
            <a:endParaRPr lang="en-US" sz="2000"/>
          </a:p>
        </p:txBody>
      </p:sp>
      <p:sp>
        <p:nvSpPr>
          <p:cNvPr id="1750128945" name="Rótulo salida (logits)"/>
          <p:cNvSpPr txBox="1"/>
          <p:nvPr/>
        </p:nvSpPr>
        <p:spPr bwMode="auto">
          <a:xfrm>
            <a:off x="10012680" y="5897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bg2"/>
                </a:solidFill>
              </a:rPr>
              <a:t>salida (logits)</a:t>
            </a:r>
            <a:endParaRPr lang="en-US" sz="1200"/>
          </a:p>
        </p:txBody>
      </p:sp>
      <p:sp>
        <p:nvSpPr>
          <p:cNvPr id="54662601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457569" name="Text 0"/>
          <p:cNvSpPr/>
          <p:nvPr>
            <p:ph type="title" idx="100" hasCustomPrompt="1"/>
          </p:nvPr>
        </p:nvSpPr>
        <p:spPr bwMode="auto"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chemeClr val="bg1"/>
                </a:solidFill>
              </a:rPr>
              <a:t>Cómo se implementó</a:t>
            </a:r>
            <a:endParaRPr lang="en-US" sz="3600"/>
          </a:p>
        </p:txBody>
      </p:sp>
      <p:sp>
        <p:nvSpPr>
          <p:cNvPr id="1497655167" name="Text 0"/>
          <p:cNvSpPr/>
          <p:nvPr>
            <p:ph type="body" idx="101" hasCustomPrompt="1"/>
          </p:nvPr>
        </p:nvSpPr>
        <p:spPr bwMode="auto"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chemeClr val="accent1"/>
                </a:solidFill>
              </a:rPr>
              <a:t>4.4 · MATERIALES Y MÉTODOS · IMPLEMENTACIÓN EN CÓDIGO</a:t>
            </a:r>
            <a:endParaRPr lang="en-US" sz="1200"/>
          </a:p>
        </p:txBody>
      </p:sp>
      <p:sp>
        <p:nvSpPr>
          <p:cNvPr id="1262965556" name="Tarjeta CNNBlock · CNNBlocks"/>
          <p:cNvSpPr/>
          <p:nvPr/>
        </p:nvSpPr>
        <p:spPr bwMode="auto">
          <a:xfrm>
            <a:off x="548640" y="1645920"/>
            <a:ext cx="3566160" cy="3611880"/>
          </a:xfrm>
          <a:prstGeom prst="roundRect">
            <a:avLst>
              <a:gd name="adj" fmla="val 2564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564915285" name="Título CNNBlock · CNNBlocks"/>
          <p:cNvSpPr txBox="1"/>
          <p:nvPr/>
        </p:nvSpPr>
        <p:spPr bwMode="auto">
          <a:xfrm>
            <a:off x="77724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accent1"/>
                </a:solidFill>
              </a:rPr>
              <a:t>CNNBlock · CNNBlocks</a:t>
            </a:r>
            <a:endParaRPr lang="en-US" sz="1700"/>
          </a:p>
        </p:txBody>
      </p:sp>
      <p:sp>
        <p:nvSpPr>
          <p:cNvPr id="401434600" name="Fondo código CNNBlock · CNNBlocks"/>
          <p:cNvSpPr/>
          <p:nvPr/>
        </p:nvSpPr>
        <p:spPr bwMode="auto">
          <a:xfrm>
            <a:off x="777240" y="2331720"/>
            <a:ext cx="3108960" cy="109728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910375865" name="Código CNNBlock · CNNBlocks"/>
          <p:cNvSpPr txBox="1"/>
          <p:nvPr/>
        </p:nvSpPr>
        <p:spPr bwMode="auto">
          <a:xfrm>
            <a:off x="914400" y="23317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nn.Conv2d(in, out, 3, padding=1)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nn.BatchNorm2d(out)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nn.ReLU(inplace=True)</a:t>
            </a:r>
            <a:endParaRPr lang="en-US" sz="1100"/>
          </a:p>
        </p:txBody>
      </p:sp>
      <p:sp>
        <p:nvSpPr>
          <p:cNvPr id="1228982026" name="Texto CNNBlock · CNNBlocks"/>
          <p:cNvSpPr txBox="1"/>
          <p:nvPr/>
        </p:nvSpPr>
        <p:spPr bwMode="auto">
          <a:xfrm>
            <a:off x="777240" y="36118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Conv 3×3 con padding=1 conserva el tamaño; BatchNorm estabiliza las activaciones; ReLU añade no linealidad. CNNBlocks repite el bloque dos veces.</a:t>
            </a:r>
            <a:endParaRPr lang="en-US" sz="1400"/>
          </a:p>
        </p:txBody>
      </p:sp>
      <p:sp>
        <p:nvSpPr>
          <p:cNvPr id="885389643" name="Tarjeta EncoderBlock"/>
          <p:cNvSpPr/>
          <p:nvPr/>
        </p:nvSpPr>
        <p:spPr bwMode="auto">
          <a:xfrm>
            <a:off x="4311396" y="1645920"/>
            <a:ext cx="3566160" cy="3611880"/>
          </a:xfrm>
          <a:prstGeom prst="roundRect">
            <a:avLst>
              <a:gd name="adj" fmla="val 2564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484941926" name="Título EncoderBlock"/>
          <p:cNvSpPr txBox="1"/>
          <p:nvPr/>
        </p:nvSpPr>
        <p:spPr bwMode="auto">
          <a:xfrm>
            <a:off x="4539996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accent5"/>
                </a:solidFill>
              </a:rPr>
              <a:t>EncoderBlock</a:t>
            </a:r>
            <a:endParaRPr lang="en-US" sz="1700"/>
          </a:p>
        </p:txBody>
      </p:sp>
      <p:sp>
        <p:nvSpPr>
          <p:cNvPr id="1873651587" name="Fondo código EncoderBlock"/>
          <p:cNvSpPr/>
          <p:nvPr/>
        </p:nvSpPr>
        <p:spPr bwMode="auto">
          <a:xfrm>
            <a:off x="4539996" y="2331720"/>
            <a:ext cx="3108960" cy="109728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888059701" name="Código EncoderBlock"/>
          <p:cNvSpPr txBox="1"/>
          <p:nvPr/>
        </p:nvSpPr>
        <p:spPr bwMode="auto">
          <a:xfrm>
            <a:off x="4677156" y="23317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features = self.conv(x)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down = self.pool(features)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return features, down</a:t>
            </a:r>
            <a:endParaRPr lang="en-US" sz="1100"/>
          </a:p>
        </p:txBody>
      </p:sp>
      <p:sp>
        <p:nvSpPr>
          <p:cNvPr id="231406560" name="Texto EncoderBlock"/>
          <p:cNvSpPr txBox="1"/>
          <p:nvPr/>
        </p:nvSpPr>
        <p:spPr bwMode="auto">
          <a:xfrm>
            <a:off x="4539996" y="36118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Devuelve dos tensores: features, antes del pooling, para la skip connection; y down, para el siguiente nivel.</a:t>
            </a:r>
            <a:endParaRPr lang="en-US" sz="1400"/>
          </a:p>
        </p:txBody>
      </p:sp>
      <p:sp>
        <p:nvSpPr>
          <p:cNvPr id="954722481" name="Tarjeta DecoderBlock"/>
          <p:cNvSpPr/>
          <p:nvPr/>
        </p:nvSpPr>
        <p:spPr bwMode="auto">
          <a:xfrm>
            <a:off x="8074152" y="1645920"/>
            <a:ext cx="3566160" cy="3611880"/>
          </a:xfrm>
          <a:prstGeom prst="roundRect">
            <a:avLst>
              <a:gd name="adj" fmla="val 2564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891923782" name="Título DecoderBlock"/>
          <p:cNvSpPr txBox="1"/>
          <p:nvPr/>
        </p:nvSpPr>
        <p:spPr bwMode="auto">
          <a:xfrm>
            <a:off x="8302752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accent2"/>
                </a:solidFill>
              </a:rPr>
              <a:t>DecoderBlock</a:t>
            </a:r>
            <a:endParaRPr lang="en-US" sz="1700"/>
          </a:p>
        </p:txBody>
      </p:sp>
      <p:sp>
        <p:nvSpPr>
          <p:cNvPr id="189529330" name="Fondo código DecoderBlock"/>
          <p:cNvSpPr/>
          <p:nvPr/>
        </p:nvSpPr>
        <p:spPr bwMode="auto">
          <a:xfrm>
            <a:off x="8302752" y="2331720"/>
            <a:ext cx="3108960" cy="109728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1602305750" name="Código DecoderBlock"/>
          <p:cNvSpPr txBox="1"/>
          <p:nvPr/>
        </p:nvSpPr>
        <p:spPr bwMode="auto">
          <a:xfrm>
            <a:off x="8439912" y="23317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x = self.upsample(x)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x = torch.cat((x, skip), dim=1)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x = self.conv(x)</a:t>
            </a:r>
            <a:endParaRPr lang="en-US" sz="1100"/>
          </a:p>
        </p:txBody>
      </p:sp>
      <p:sp>
        <p:nvSpPr>
          <p:cNvPr id="1061751272" name="Texto DecoderBlock"/>
          <p:cNvSpPr txBox="1"/>
          <p:nvPr/>
        </p:nvSpPr>
        <p:spPr bwMode="auto">
          <a:xfrm>
            <a:off x="8302752" y="36118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ConvTranspose2d aprende a subir la resolución. Al concatenar por canales, CNNBlocks recibe out_channels × 2.</a:t>
            </a:r>
            <a:endParaRPr lang="en-US" sz="1400"/>
          </a:p>
        </p:txBody>
      </p:sp>
      <p:sp>
        <p:nvSpPr>
          <p:cNvPr id="1831392962" name="Tarjeta comprobación"/>
          <p:cNvSpPr/>
          <p:nvPr/>
        </p:nvSpPr>
        <p:spPr bwMode="auto">
          <a:xfrm>
            <a:off x="548640" y="544068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770987087" name="Texto comprobación"/>
          <p:cNvSpPr txBox="1"/>
          <p:nvPr/>
        </p:nvSpPr>
        <p:spPr bwMode="auto">
          <a:xfrm>
            <a:off x="777240" y="5440680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1"/>
                </a:solidFill>
              </a:rPr>
              <a:t>Comprobación rápida: </a:t>
            </a:r>
            <a:r>
              <a:rPr lang="en-US" sz="1400">
                <a:solidFill>
                  <a:schemeClr val="bg1"/>
                </a:solidFill>
              </a:rPr>
              <a:t>base_channels=16 fija el ancho de toda la red; un lote de 4×3×256×256 produce una salida de 4×1×256×256.</a:t>
            </a:r>
            <a:endParaRPr lang="en-US" sz="1400"/>
          </a:p>
        </p:txBody>
      </p:sp>
      <p:sp>
        <p:nvSpPr>
          <p:cNvPr id="41514055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428618" name="Text 0"/>
          <p:cNvSpPr/>
          <p:nvPr>
            <p:ph type="title" idx="100" hasCustomPrompt="1"/>
          </p:nvPr>
        </p:nvSpPr>
        <p:spPr bwMode="auto"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chemeClr val="bg1"/>
                </a:solidFill>
              </a:rPr>
              <a:t>Configuración de entrenamiento</a:t>
            </a:r>
            <a:endParaRPr lang="en-US" sz="3600"/>
          </a:p>
        </p:txBody>
      </p:sp>
      <p:sp>
        <p:nvSpPr>
          <p:cNvPr id="1198732634" name="Text 0"/>
          <p:cNvSpPr/>
          <p:nvPr>
            <p:ph type="body" idx="101" hasCustomPrompt="1"/>
          </p:nvPr>
        </p:nvSpPr>
        <p:spPr bwMode="auto"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chemeClr val="accent1"/>
                </a:solidFill>
              </a:rPr>
              <a:t>4.5 · MATERIALES Y MÉTODOS · ENTRENAMIENTO</a:t>
            </a:r>
            <a:endParaRPr lang="en-US" sz="1200"/>
          </a:p>
        </p:txBody>
      </p:sp>
      <p:graphicFrame>
        <p:nvGraphicFramePr>
          <p:cNvPr id="1217890748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548640" y="1645920"/>
          <a:ext cx="758952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554480"/>
                <a:gridCol w="2377440"/>
                <a:gridCol w="3657600"/>
              </a:tblGrid>
              <a:tr h="49377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3B3F45"/>
                          </a:solidFill>
                        </a:rPr>
                        <a:t>Parámetro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9A9487"/>
                      </a:solidFill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3B3F45"/>
                          </a:solidFill>
                        </a:rPr>
                        <a:t>Valor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9A9487"/>
                      </a:solidFill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3B3F45"/>
                          </a:solidFill>
                        </a:rPr>
                        <a:t>Por qué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9A9487"/>
                      </a:solidFill>
                    </a:lnB>
                    <a:solidFill>
                      <a:srgbClr val="F9F6F0"/>
                    </a:solidFill>
                  </a:tcPr>
                </a:tc>
              </a:tr>
              <a:tr h="49377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5E6269"/>
                          </a:solidFill>
                        </a:rPr>
                        <a:t>Framework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2A2D31"/>
                          </a:solidFill>
                        </a:rPr>
                        <a:t>PyTorch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5E6269"/>
                          </a:solidFill>
                        </a:rPr>
                        <a:t>U-Net propia, implementada desde cero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</a:tr>
              <a:tr h="49377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5E6269"/>
                          </a:solidFill>
                        </a:rPr>
                        <a:t>Entrada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2A2D31"/>
                          </a:solidFill>
                        </a:rPr>
                        <a:t>256 × 256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5E6269"/>
                          </a:solidFill>
                        </a:rPr>
                        <a:t>Reduce el costo de cómputo; limita el detalle fino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</a:tr>
              <a:tr h="49377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5E6269"/>
                          </a:solidFill>
                        </a:rPr>
                        <a:t>Lote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2A2D31"/>
                          </a:solidFill>
                        </a:rPr>
                        <a:t>4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5E6269"/>
                          </a:solidFill>
                        </a:rPr>
                        <a:t>Lotes pequeños, viables en CPU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</a:tr>
              <a:tr h="49377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5E6269"/>
                          </a:solidFill>
                        </a:rPr>
                        <a:t>Épocas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2A2D31"/>
                          </a:solidFill>
                        </a:rPr>
                        <a:t>10 y 100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5E6269"/>
                          </a:solidFill>
                        </a:rPr>
                        <a:t>Cuatro entrenamientos: 10 y 100 épocas, con y sin aumento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</a:tr>
              <a:tr h="49377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5E6269"/>
                          </a:solidFill>
                        </a:rPr>
                        <a:t>Optimizador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2A2D31"/>
                          </a:solidFill>
                        </a:rPr>
                        <a:t>Adam, lr = 0.001 [3]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5E6269"/>
                          </a:solidFill>
                        </a:rPr>
                        <a:t>Pasos adaptativos con estimaciones de momentos del gradiente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</a:tr>
              <a:tr h="49377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5E6269"/>
                          </a:solidFill>
                        </a:rPr>
                        <a:t>Pérdida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2A2D31"/>
                          </a:solidFill>
                        </a:rPr>
                        <a:t>BCEWithLogitsLoss [5]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s-ES" sz="1200">
                          <a:solidFill>
                            <a:srgbClr val="5E6269"/>
                          </a:solidFill>
                        </a:rPr>
                        <a:t>L</a:t>
                      </a:r>
                      <a:r>
                        <a:rPr lang="en-US" sz="1200">
                          <a:solidFill>
                            <a:srgbClr val="5E6269"/>
                          </a:solidFill>
                        </a:rPr>
                        <a:t>a red entrega logits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</a:tr>
              <a:tr h="49377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5E6269"/>
                          </a:solidFill>
                        </a:rPr>
                        <a:t>Dispositivo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2A2D31"/>
                          </a:solidFill>
                        </a:rPr>
                        <a:t>CPU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5E6269"/>
                          </a:solidFill>
                        </a:rPr>
                        <a:t>Entrenamiento ejecutado sin GPU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</a:tr>
              <a:tr h="49377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5E6269"/>
                          </a:solidFill>
                        </a:rPr>
                        <a:t>Selección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2A2D31"/>
                          </a:solidFill>
                        </a:rPr>
                        <a:t>Menor pérdida de validación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5E6269"/>
                          </a:solidFill>
                        </a:rPr>
                        <a:t>Guarda el mejor checkpoint de cada entrenamiento cuando la validación mejora</a:t>
                      </a:r>
                      <a:endParaRPr lang="en-US" sz="1200"/>
                    </a:p>
                  </a:txBody>
                  <a:tcPr marL="91440" marR="91440" marT="36576" marB="36576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54434999" name="Tarjeta ciclo de entrenamiento"/>
          <p:cNvSpPr/>
          <p:nvPr/>
        </p:nvSpPr>
        <p:spPr bwMode="auto">
          <a:xfrm>
            <a:off x="8412480" y="1645920"/>
            <a:ext cx="3227832" cy="4617720"/>
          </a:xfrm>
          <a:prstGeom prst="roundRect">
            <a:avLst>
              <a:gd name="adj" fmla="val 2833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965210543" name="Rótulo ciclo"/>
          <p:cNvSpPr txBox="1"/>
          <p:nvPr/>
        </p:nvSpPr>
        <p:spPr bwMode="auto">
          <a:xfrm>
            <a:off x="86410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chemeClr val="accent1"/>
                </a:solidFill>
              </a:rPr>
              <a:t>CICLO POR LOTE</a:t>
            </a:r>
            <a:endParaRPr lang="en-US" sz="1200"/>
          </a:p>
        </p:txBody>
      </p:sp>
      <p:sp>
        <p:nvSpPr>
          <p:cNvPr id="903939866" name="Círculo ciclo 1"/>
          <p:cNvSpPr/>
          <p:nvPr/>
        </p:nvSpPr>
        <p:spPr bwMode="auto">
          <a:xfrm>
            <a:off x="8641080" y="2240280"/>
            <a:ext cx="384048" cy="384048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2121052506" name="Número ciclo 1"/>
          <p:cNvSpPr txBox="1"/>
          <p:nvPr/>
        </p:nvSpPr>
        <p:spPr bwMode="auto">
          <a:xfrm>
            <a:off x="864108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accent1"/>
                </a:solidFill>
              </a:rPr>
              <a:t>1</a:t>
            </a:r>
            <a:endParaRPr lang="en-US" sz="1400"/>
          </a:p>
        </p:txBody>
      </p:sp>
      <p:sp>
        <p:nvSpPr>
          <p:cNvPr id="1201311101" name="Paso ciclo 1"/>
          <p:cNvSpPr txBox="1"/>
          <p:nvPr/>
        </p:nvSpPr>
        <p:spPr bwMode="auto">
          <a:xfrm>
            <a:off x="9189720" y="2240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Calcular predicciones</a:t>
            </a:r>
            <a:endParaRPr lang="en-US" sz="1400"/>
          </a:p>
        </p:txBody>
      </p:sp>
      <p:sp>
        <p:nvSpPr>
          <p:cNvPr id="260549421" name="Círculo ciclo 2"/>
          <p:cNvSpPr/>
          <p:nvPr/>
        </p:nvSpPr>
        <p:spPr bwMode="auto">
          <a:xfrm>
            <a:off x="8641080" y="2807208"/>
            <a:ext cx="384048" cy="384048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2038021232" name="Número ciclo 2"/>
          <p:cNvSpPr txBox="1"/>
          <p:nvPr/>
        </p:nvSpPr>
        <p:spPr bwMode="auto">
          <a:xfrm>
            <a:off x="864108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accent1"/>
                </a:solidFill>
              </a:rPr>
              <a:t>2</a:t>
            </a:r>
            <a:endParaRPr lang="en-US" sz="1400"/>
          </a:p>
        </p:txBody>
      </p:sp>
      <p:sp>
        <p:nvSpPr>
          <p:cNvPr id="241574429" name="Paso ciclo 2"/>
          <p:cNvSpPr txBox="1"/>
          <p:nvPr/>
        </p:nvSpPr>
        <p:spPr bwMode="auto">
          <a:xfrm>
            <a:off x="9189720" y="28072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Evaluar la pérdida</a:t>
            </a:r>
            <a:endParaRPr lang="en-US" sz="1400"/>
          </a:p>
        </p:txBody>
      </p:sp>
      <p:sp>
        <p:nvSpPr>
          <p:cNvPr id="442998568" name="Círculo ciclo 3"/>
          <p:cNvSpPr/>
          <p:nvPr/>
        </p:nvSpPr>
        <p:spPr bwMode="auto">
          <a:xfrm>
            <a:off x="8641080" y="3374136"/>
            <a:ext cx="384048" cy="384048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58078363" name="Número ciclo 3"/>
          <p:cNvSpPr txBox="1"/>
          <p:nvPr/>
        </p:nvSpPr>
        <p:spPr bwMode="auto">
          <a:xfrm>
            <a:off x="864108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accent1"/>
                </a:solidFill>
              </a:rPr>
              <a:t>3</a:t>
            </a:r>
            <a:endParaRPr lang="en-US" sz="1400"/>
          </a:p>
        </p:txBody>
      </p:sp>
      <p:sp>
        <p:nvSpPr>
          <p:cNvPr id="257547871" name="Paso ciclo 3"/>
          <p:cNvSpPr txBox="1"/>
          <p:nvPr/>
        </p:nvSpPr>
        <p:spPr bwMode="auto">
          <a:xfrm>
            <a:off x="9189720" y="33741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Retropropagar gradientes</a:t>
            </a:r>
            <a:endParaRPr lang="en-US" sz="1400"/>
          </a:p>
        </p:txBody>
      </p:sp>
      <p:sp>
        <p:nvSpPr>
          <p:cNvPr id="1969284610" name="Círculo ciclo 4"/>
          <p:cNvSpPr/>
          <p:nvPr/>
        </p:nvSpPr>
        <p:spPr bwMode="auto">
          <a:xfrm>
            <a:off x="8641080" y="3941064"/>
            <a:ext cx="384048" cy="384048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929646610" name="Número ciclo 4"/>
          <p:cNvSpPr txBox="1"/>
          <p:nvPr/>
        </p:nvSpPr>
        <p:spPr bwMode="auto">
          <a:xfrm>
            <a:off x="864108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accent1"/>
                </a:solidFill>
              </a:rPr>
              <a:t>4</a:t>
            </a:r>
            <a:endParaRPr lang="en-US" sz="1400"/>
          </a:p>
        </p:txBody>
      </p:sp>
      <p:sp>
        <p:nvSpPr>
          <p:cNvPr id="1665166866" name="Paso ciclo 4"/>
          <p:cNvSpPr txBox="1"/>
          <p:nvPr/>
        </p:nvSpPr>
        <p:spPr bwMode="auto">
          <a:xfrm>
            <a:off x="9189720" y="39410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Actualizar parámetros</a:t>
            </a:r>
            <a:endParaRPr lang="en-US" sz="1400"/>
          </a:p>
        </p:txBody>
      </p:sp>
      <p:sp>
        <p:nvSpPr>
          <p:cNvPr id="591727063" name="Texto fin de época"/>
          <p:cNvSpPr txBox="1"/>
          <p:nvPr/>
        </p:nvSpPr>
        <p:spPr bwMode="auto">
          <a:xfrm>
            <a:off x="8641080" y="4617720"/>
            <a:ext cx="2788920" cy="150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200" b="1" spc="100">
                <a:solidFill>
                  <a:schemeClr val="accent4"/>
                </a:solidFill>
              </a:rPr>
              <a:t>AL FINAL DE CADA ÉPOCA</a:t>
            </a:r>
            <a:endParaRPr lang="en-US" sz="14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300">
                <a:solidFill>
                  <a:schemeClr val="bg1"/>
                </a:solidFill>
              </a:rPr>
              <a:t>Se calcula la pérdida de validación sin actualizar pesos y se guarda el modelo si es un nuevo mínimo.</a:t>
            </a:r>
            <a:endParaRPr lang="en-US" sz="1400"/>
          </a:p>
        </p:txBody>
      </p:sp>
      <p:sp>
        <p:nvSpPr>
          <p:cNvPr id="190835255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327748" name="Text 0"/>
          <p:cNvSpPr/>
          <p:nvPr>
            <p:ph type="title" idx="100" hasCustomPrompt="1"/>
          </p:nvPr>
        </p:nvSpPr>
        <p:spPr bwMode="auto"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chemeClr val="bg1"/>
                </a:solidFill>
              </a:rPr>
              <a:t>Aumento de datos</a:t>
            </a:r>
            <a:endParaRPr lang="en-US" sz="3600"/>
          </a:p>
        </p:txBody>
      </p:sp>
      <p:sp>
        <p:nvSpPr>
          <p:cNvPr id="257283756" name="Text 0"/>
          <p:cNvSpPr/>
          <p:nvPr>
            <p:ph type="body" idx="101" hasCustomPrompt="1"/>
          </p:nvPr>
        </p:nvSpPr>
        <p:spPr bwMode="auto"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chemeClr val="accent1"/>
                </a:solidFill>
              </a:rPr>
              <a:t>4.6 · MATERIALES Y MÉTODOS · AUMENTO DE DATOS</a:t>
            </a:r>
            <a:endParaRPr lang="en-US" sz="1200"/>
          </a:p>
        </p:txBody>
      </p:sp>
      <p:sp>
        <p:nvSpPr>
          <p:cNvPr id="115444028" name="Tarjeta Volteo horizontal"/>
          <p:cNvSpPr/>
          <p:nvPr/>
        </p:nvSpPr>
        <p:spPr bwMode="auto">
          <a:xfrm>
            <a:off x="548640" y="1645920"/>
            <a:ext cx="3246120" cy="2148840"/>
          </a:xfrm>
          <a:prstGeom prst="roundRect">
            <a:avLst>
              <a:gd name="adj" fmla="val 4255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815581731" name="Título Volteo horizontal"/>
          <p:cNvSpPr txBox="1"/>
          <p:nvPr/>
        </p:nvSpPr>
        <p:spPr bwMode="auto">
          <a:xfrm>
            <a:off x="731520" y="1810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bg1"/>
                </a:solidFill>
              </a:rPr>
              <a:t>Volteo horizontal</a:t>
            </a:r>
            <a:endParaRPr lang="en-US" sz="1600"/>
          </a:p>
        </p:txBody>
      </p:sp>
      <p:sp>
        <p:nvSpPr>
          <p:cNvPr id="1514333253" name="Rango Volteo horizontal"/>
          <p:cNvSpPr txBox="1"/>
          <p:nvPr/>
        </p:nvSpPr>
        <p:spPr bwMode="auto">
          <a:xfrm>
            <a:off x="731520" y="2121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p = 0.5</a:t>
            </a:r>
            <a:endParaRPr lang="en-US" sz="1300"/>
          </a:p>
        </p:txBody>
      </p:sp>
      <p:sp>
        <p:nvSpPr>
          <p:cNvPr id="1616058982" name="Etiqueta Volteo horizontal"/>
          <p:cNvSpPr/>
          <p:nvPr/>
        </p:nvSpPr>
        <p:spPr bwMode="auto">
          <a:xfrm>
            <a:off x="731520" y="2560320"/>
            <a:ext cx="1737360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744388082" name="Texto etiqueta Volteo horizontal"/>
          <p:cNvSpPr txBox="1"/>
          <p:nvPr/>
        </p:nvSpPr>
        <p:spPr bwMode="auto">
          <a:xfrm>
            <a:off x="731520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accent1"/>
                </a:solidFill>
              </a:rPr>
              <a:t>Imagen + máscara</a:t>
            </a:r>
            <a:endParaRPr lang="en-US" sz="1100"/>
          </a:p>
        </p:txBody>
      </p:sp>
      <p:sp>
        <p:nvSpPr>
          <p:cNvPr id="1698991248" name="Texto Volteo horizontal"/>
          <p:cNvSpPr txBox="1"/>
          <p:nvPr/>
        </p:nvSpPr>
        <p:spPr bwMode="auto">
          <a:xfrm>
            <a:off x="731520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El mismo volteo en ambas mantiene la correspondencia.</a:t>
            </a:r>
            <a:endParaRPr lang="en-US" sz="1400"/>
          </a:p>
        </p:txBody>
      </p:sp>
      <p:sp>
        <p:nvSpPr>
          <p:cNvPr id="48115927" name="Tarjeta Brillo"/>
          <p:cNvSpPr/>
          <p:nvPr/>
        </p:nvSpPr>
        <p:spPr bwMode="auto">
          <a:xfrm>
            <a:off x="3931920" y="1645920"/>
            <a:ext cx="3246120" cy="2148840"/>
          </a:xfrm>
          <a:prstGeom prst="roundRect">
            <a:avLst>
              <a:gd name="adj" fmla="val 4255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37092029" name="Título Brillo"/>
          <p:cNvSpPr txBox="1"/>
          <p:nvPr/>
        </p:nvSpPr>
        <p:spPr bwMode="auto">
          <a:xfrm>
            <a:off x="4114800" y="1810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bg1"/>
                </a:solidFill>
              </a:rPr>
              <a:t>Brillo</a:t>
            </a:r>
            <a:endParaRPr lang="en-US" sz="1600"/>
          </a:p>
        </p:txBody>
      </p:sp>
      <p:sp>
        <p:nvSpPr>
          <p:cNvPr id="1856768591" name="Rango Brillo"/>
          <p:cNvSpPr txBox="1"/>
          <p:nvPr/>
        </p:nvSpPr>
        <p:spPr bwMode="auto">
          <a:xfrm>
            <a:off x="4114800" y="2121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× 0.85 – 1.15</a:t>
            </a:r>
            <a:endParaRPr lang="en-US" sz="1300"/>
          </a:p>
        </p:txBody>
      </p:sp>
      <p:sp>
        <p:nvSpPr>
          <p:cNvPr id="1663027803" name="Etiqueta Brillo"/>
          <p:cNvSpPr/>
          <p:nvPr/>
        </p:nvSpPr>
        <p:spPr bwMode="auto">
          <a:xfrm>
            <a:off x="4114800" y="2560320"/>
            <a:ext cx="1737360" cy="274320"/>
          </a:xfrm>
          <a:prstGeom prst="roundRect">
            <a:avLst>
              <a:gd name="adj" fmla="val 50000"/>
            </a:avLst>
          </a:prstGeom>
          <a:solidFill>
            <a:schemeClr val="accent4">
              <a:alpha val="20000"/>
            </a:schemeClr>
          </a:solidFill>
          <a:ln/>
        </p:spPr>
      </p:sp>
      <p:sp>
        <p:nvSpPr>
          <p:cNvPr id="878201962" name="Texto etiqueta Brillo"/>
          <p:cNvSpPr txBox="1"/>
          <p:nvPr/>
        </p:nvSpPr>
        <p:spPr bwMode="auto">
          <a:xfrm>
            <a:off x="4114800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accent4"/>
                </a:solidFill>
              </a:rPr>
              <a:t>Solo imagen</a:t>
            </a:r>
            <a:endParaRPr lang="en-US" sz="1100"/>
          </a:p>
        </p:txBody>
      </p:sp>
      <p:sp>
        <p:nvSpPr>
          <p:cNvPr id="865233798" name="Texto Brillo"/>
          <p:cNvSpPr txBox="1"/>
          <p:nvPr/>
        </p:nvSpPr>
        <p:spPr bwMode="auto">
          <a:xfrm>
            <a:off x="4114800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Simula distintas condiciones de iluminación.</a:t>
            </a:r>
            <a:endParaRPr lang="en-US" sz="1400"/>
          </a:p>
        </p:txBody>
      </p:sp>
      <p:sp>
        <p:nvSpPr>
          <p:cNvPr id="925942284" name="Tarjeta Contraste"/>
          <p:cNvSpPr/>
          <p:nvPr/>
        </p:nvSpPr>
        <p:spPr bwMode="auto">
          <a:xfrm>
            <a:off x="548640" y="3931920"/>
            <a:ext cx="3246120" cy="2148840"/>
          </a:xfrm>
          <a:prstGeom prst="roundRect">
            <a:avLst>
              <a:gd name="adj" fmla="val 4255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994536384" name="Título Contraste"/>
          <p:cNvSpPr txBox="1"/>
          <p:nvPr/>
        </p:nvSpPr>
        <p:spPr bwMode="auto">
          <a:xfrm>
            <a:off x="731520" y="4096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bg1"/>
                </a:solidFill>
              </a:rPr>
              <a:t>Contraste</a:t>
            </a:r>
            <a:endParaRPr lang="en-US" sz="1600"/>
          </a:p>
        </p:txBody>
      </p:sp>
      <p:sp>
        <p:nvSpPr>
          <p:cNvPr id="1374885451" name="Rango Contraste"/>
          <p:cNvSpPr txBox="1"/>
          <p:nvPr/>
        </p:nvSpPr>
        <p:spPr bwMode="auto">
          <a:xfrm>
            <a:off x="731520" y="4407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× 0.85 – 1.15</a:t>
            </a:r>
            <a:endParaRPr lang="en-US" sz="1300"/>
          </a:p>
        </p:txBody>
      </p:sp>
      <p:sp>
        <p:nvSpPr>
          <p:cNvPr id="87414615" name="Etiqueta Contraste"/>
          <p:cNvSpPr/>
          <p:nvPr/>
        </p:nvSpPr>
        <p:spPr bwMode="auto">
          <a:xfrm>
            <a:off x="731520" y="4846320"/>
            <a:ext cx="1737360" cy="274320"/>
          </a:xfrm>
          <a:prstGeom prst="roundRect">
            <a:avLst>
              <a:gd name="adj" fmla="val 50000"/>
            </a:avLst>
          </a:prstGeom>
          <a:solidFill>
            <a:schemeClr val="accent4">
              <a:alpha val="20000"/>
            </a:schemeClr>
          </a:solidFill>
          <a:ln/>
        </p:spPr>
      </p:sp>
      <p:sp>
        <p:nvSpPr>
          <p:cNvPr id="280057036" name="Texto etiqueta Contraste"/>
          <p:cNvSpPr txBox="1"/>
          <p:nvPr/>
        </p:nvSpPr>
        <p:spPr bwMode="auto">
          <a:xfrm>
            <a:off x="731520" y="4846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accent4"/>
                </a:solidFill>
              </a:rPr>
              <a:t>Solo imagen</a:t>
            </a:r>
            <a:endParaRPr lang="en-US" sz="1100"/>
          </a:p>
        </p:txBody>
      </p:sp>
      <p:sp>
        <p:nvSpPr>
          <p:cNvPr id="1532906834" name="Texto Contraste"/>
          <p:cNvSpPr txBox="1"/>
          <p:nvPr/>
        </p:nvSpPr>
        <p:spPr bwMode="auto">
          <a:xfrm>
            <a:off x="731520" y="5257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Varía la separación entre claros y oscuros.</a:t>
            </a:r>
            <a:endParaRPr lang="en-US" sz="1400"/>
          </a:p>
        </p:txBody>
      </p:sp>
      <p:sp>
        <p:nvSpPr>
          <p:cNvPr id="1759335398" name="Tarjeta Saturación"/>
          <p:cNvSpPr/>
          <p:nvPr/>
        </p:nvSpPr>
        <p:spPr bwMode="auto">
          <a:xfrm>
            <a:off x="3931920" y="3931920"/>
            <a:ext cx="3246120" cy="2148840"/>
          </a:xfrm>
          <a:prstGeom prst="roundRect">
            <a:avLst>
              <a:gd name="adj" fmla="val 4255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783099061" name="Título Saturación"/>
          <p:cNvSpPr txBox="1"/>
          <p:nvPr/>
        </p:nvSpPr>
        <p:spPr bwMode="auto">
          <a:xfrm>
            <a:off x="4114800" y="4096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bg1"/>
                </a:solidFill>
              </a:rPr>
              <a:t>Saturación</a:t>
            </a:r>
            <a:endParaRPr lang="en-US" sz="1600"/>
          </a:p>
        </p:txBody>
      </p:sp>
      <p:sp>
        <p:nvSpPr>
          <p:cNvPr id="1654775504" name="Rango Saturación"/>
          <p:cNvSpPr txBox="1"/>
          <p:nvPr/>
        </p:nvSpPr>
        <p:spPr bwMode="auto">
          <a:xfrm>
            <a:off x="4114800" y="4407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× 0.85 – 1.15</a:t>
            </a:r>
            <a:endParaRPr lang="en-US" sz="1300"/>
          </a:p>
        </p:txBody>
      </p:sp>
      <p:sp>
        <p:nvSpPr>
          <p:cNvPr id="817379211" name="Etiqueta Saturación"/>
          <p:cNvSpPr/>
          <p:nvPr/>
        </p:nvSpPr>
        <p:spPr bwMode="auto">
          <a:xfrm>
            <a:off x="4114800" y="4846320"/>
            <a:ext cx="1737360" cy="274320"/>
          </a:xfrm>
          <a:prstGeom prst="roundRect">
            <a:avLst>
              <a:gd name="adj" fmla="val 50000"/>
            </a:avLst>
          </a:prstGeom>
          <a:solidFill>
            <a:schemeClr val="accent4">
              <a:alpha val="20000"/>
            </a:schemeClr>
          </a:solidFill>
          <a:ln/>
        </p:spPr>
      </p:sp>
      <p:sp>
        <p:nvSpPr>
          <p:cNvPr id="1265322709" name="Texto etiqueta Saturación"/>
          <p:cNvSpPr txBox="1"/>
          <p:nvPr/>
        </p:nvSpPr>
        <p:spPr bwMode="auto">
          <a:xfrm>
            <a:off x="4114800" y="4846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accent4"/>
                </a:solidFill>
              </a:rPr>
              <a:t>Solo imagen</a:t>
            </a:r>
            <a:endParaRPr lang="en-US" sz="1100"/>
          </a:p>
        </p:txBody>
      </p:sp>
      <p:sp>
        <p:nvSpPr>
          <p:cNvPr id="1131614502" name="Texto Saturación"/>
          <p:cNvSpPr txBox="1"/>
          <p:nvPr/>
        </p:nvSpPr>
        <p:spPr bwMode="auto">
          <a:xfrm>
            <a:off x="4114800" y="5257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Varía la intensidad del color.</a:t>
            </a:r>
            <a:endParaRPr lang="en-US" sz="1400"/>
          </a:p>
        </p:txBody>
      </p:sp>
      <p:sp>
        <p:nvSpPr>
          <p:cNvPr id="1172578212" name="Tarjeta por qué"/>
          <p:cNvSpPr/>
          <p:nvPr/>
        </p:nvSpPr>
        <p:spPr bwMode="auto">
          <a:xfrm>
            <a:off x="7406640" y="1645920"/>
            <a:ext cx="4233672" cy="4434840"/>
          </a:xfrm>
          <a:prstGeom prst="roundRect">
            <a:avLst>
              <a:gd name="adj" fmla="val 2160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417258858" name="Rótulo por qué"/>
          <p:cNvSpPr txBox="1"/>
          <p:nvPr/>
        </p:nvSpPr>
        <p:spPr bwMode="auto">
          <a:xfrm>
            <a:off x="7635240" y="1828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chemeClr val="accent1"/>
                </a:solidFill>
              </a:rPr>
              <a:t>¿POR QUÉ?</a:t>
            </a:r>
            <a:endParaRPr lang="en-US" sz="1200"/>
          </a:p>
        </p:txBody>
      </p:sp>
      <p:sp>
        <p:nvSpPr>
          <p:cNvPr id="332436011" name="Texto por qué"/>
          <p:cNvSpPr txBox="1"/>
          <p:nvPr/>
        </p:nvSpPr>
        <p:spPr bwMode="auto">
          <a:xfrm>
            <a:off x="7635240" y="2240280"/>
            <a:ext cx="3794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  <a:defRPr/>
            </a:pPr>
            <a:r>
              <a:rPr lang="en-US" sz="1600">
                <a:solidFill>
                  <a:schemeClr val="bg1"/>
                </a:solidFill>
              </a:rPr>
              <a:t>El modelo no debe memorizar la apariencia exacta de las 350 imágenes de entrenamiento.</a:t>
            </a:r>
            <a:endParaRPr lang="en-US" sz="1600"/>
          </a:p>
          <a:p>
            <a:pPr marL="342900" indent="-342900">
              <a:spcAft>
                <a:spcPts val="1600"/>
              </a:spcAft>
              <a:buSzPct val="100000"/>
              <a:buChar char="•"/>
              <a:defRPr/>
            </a:pPr>
            <a:r>
              <a:rPr lang="en-US" sz="1600">
                <a:solidFill>
                  <a:schemeClr val="bg1"/>
                </a:solidFill>
              </a:rPr>
              <a:t>Se activa solo en entrenamiento (augment=True); validación y prueba no se modifican.</a:t>
            </a:r>
            <a:endParaRPr lang="en-US" sz="1600"/>
          </a:p>
          <a:p>
            <a:pPr marL="342900" indent="-342900">
              <a:spcAft>
                <a:spcPts val="1600"/>
              </a:spcAft>
              <a:buSzPct val="100000"/>
              <a:buChar char="•"/>
              <a:defRPr/>
            </a:pPr>
            <a:r>
              <a:rPr lang="en-US" sz="1600">
                <a:solidFill>
                  <a:schemeClr val="bg1"/>
                </a:solidFill>
              </a:rPr>
              <a:t>Aumenta la diversidad efectiva de los ejemplos [2].</a:t>
            </a:r>
            <a:endParaRPr lang="en-US" sz="1600"/>
          </a:p>
          <a:p>
            <a:pPr marL="342900" indent="-342900">
              <a:spcAft>
                <a:spcPts val="1600"/>
              </a:spcAft>
              <a:buSzPct val="100000"/>
              <a:buChar char="•"/>
              <a:defRPr/>
            </a:pPr>
            <a:r>
              <a:rPr lang="en-US" sz="1600">
                <a:solidFill>
                  <a:schemeClr val="accent4"/>
                </a:solidFill>
              </a:rPr>
              <a:t>No garantiza mejorar: se midió con y sin aumento, a 10 y a 100 épocas.</a:t>
            </a:r>
            <a:endParaRPr lang="en-US" sz="1600"/>
          </a:p>
        </p:txBody>
      </p:sp>
      <p:sp>
        <p:nvSpPr>
          <p:cNvPr id="182265618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62277" name="Tarjeta Dice"/>
          <p:cNvSpPr/>
          <p:nvPr/>
        </p:nvSpPr>
        <p:spPr bwMode="auto">
          <a:xfrm flipH="0" flipV="0">
            <a:off x="548640" y="1645920"/>
            <a:ext cx="5440680" cy="2971800"/>
          </a:xfrm>
          <a:prstGeom prst="roundRect">
            <a:avLst>
              <a:gd name="adj" fmla="val 3448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31302256" name="Text 0"/>
          <p:cNvSpPr/>
          <p:nvPr>
            <p:ph type="title" idx="100" hasCustomPrompt="1"/>
          </p:nvPr>
        </p:nvSpPr>
        <p:spPr bwMode="auto">
          <a:xfrm>
            <a:off x="548639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chemeClr val="bg1"/>
                </a:solidFill>
              </a:rPr>
              <a:t>Métricas de rendimiento</a:t>
            </a:r>
            <a:endParaRPr lang="en-US" sz="3600"/>
          </a:p>
        </p:txBody>
      </p:sp>
      <p:sp>
        <p:nvSpPr>
          <p:cNvPr id="2093860547" name="Text 0"/>
          <p:cNvSpPr/>
          <p:nvPr>
            <p:ph type="body" idx="101" hasCustomPrompt="1"/>
          </p:nvPr>
        </p:nvSpPr>
        <p:spPr bwMode="auto"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chemeClr val="accent1"/>
                </a:solidFill>
              </a:rPr>
              <a:t>4.7 · MATERIALES Y MÉTODOS · MÉTRICAS</a:t>
            </a:r>
            <a:endParaRPr lang="en-US" sz="1200"/>
          </a:p>
        </p:txBody>
      </p:sp>
      <p:sp>
        <p:nvSpPr>
          <p:cNvPr id="1730077186" name="Nombre IoU"/>
          <p:cNvSpPr txBox="1"/>
          <p:nvPr/>
        </p:nvSpPr>
        <p:spPr bwMode="auto">
          <a:xfrm flipH="0" flipV="0">
            <a:off x="822960" y="1828800"/>
            <a:ext cx="48920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bg1"/>
                </a:solidFill>
              </a:rPr>
              <a:t>IoU</a:t>
            </a:r>
            <a:r>
              <a:rPr lang="es-ES" sz="1800" b="1">
                <a:solidFill>
                  <a:schemeClr val="bg1"/>
                </a:solidFill>
              </a:rPr>
              <a:t> (intersection over union)</a:t>
            </a:r>
            <a:endParaRPr lang="en-US" sz="1800"/>
          </a:p>
        </p:txBody>
      </p:sp>
      <p:sp>
        <p:nvSpPr>
          <p:cNvPr id="1675883419" name="Fórmula IoU"/>
          <p:cNvSpPr txBox="1"/>
          <p:nvPr/>
        </p:nvSpPr>
        <p:spPr bwMode="auto">
          <a:xfrm flipH="0" flipV="0">
            <a:off x="822960" y="2377440"/>
            <a:ext cx="48920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"/>
                    </m:oMathParaPr>
                    <m:oMath>
                      <m:box>
                        <m:boxPr>
                          <m:aln m:val="off"/>
                          <m:diff m:val="off"/>
                          <m:noBreak m:val="off"/>
                          <m:opEmu m:val="off"/>
                          <m:ctrlPr>
                            <a:rPr lang="es-ES" sz="1800" b="0" i="1" u="none" strike="noStrike" cap="none" spc="0">
                              <a:solidFill>
                                <a:schemeClr val="accen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s-ES" sz="1800" b="0" i="1" u="none" strike="noStrike" cap="none" spc="0">
                                  <a:solidFill>
                                    <a:schemeClr val="accent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i"/>
                                </m:rPr>
                                <a:rPr lang="es-ES" sz="1800" u="none" strike="noStrike" cap="none" spc="0">
                                  <a:solidFill>
                                    <a:schemeClr val="accent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TP</m:t>
                              </m:r>
                            </m:num>
                            <m:den>
                              <m:r>
                                <m:rPr>
                                  <m:sty m:val="i"/>
                                </m:rPr>
                                <a:rPr lang="es-ES" sz="1800" u="none" strike="noStrike" cap="none" spc="0">
                                  <a:solidFill>
                                    <a:schemeClr val="accent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(TP+FP+FN)</m:t>
                              </m:r>
                            </m:den>
                          </m:f>
                        </m:e>
                      </m:box>
                    </m:oMath>
                  </m:oMathPara>
                </a14:m>
              </mc:Choice>
              <mc:Fallback/>
            </mc:AlternateContent>
            <a:endParaRPr lang="en-US" sz="1800"/>
          </a:p>
        </p:txBody>
      </p:sp>
      <p:sp>
        <p:nvSpPr>
          <p:cNvPr id="774702284" name="Texto IoU"/>
          <p:cNvSpPr txBox="1"/>
          <p:nvPr/>
        </p:nvSpPr>
        <p:spPr bwMode="auto">
          <a:xfrm flipH="0" flipV="0">
            <a:off x="822960" y="2926080"/>
            <a:ext cx="489203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Intersección de la máscara predicha y la real entre su unión (índice de Jaccard)</a:t>
            </a:r>
            <a:r>
              <a:rPr lang="es-ES" sz="1400">
                <a:solidFill>
                  <a:schemeClr val="bg1"/>
                </a:solidFill>
              </a:rPr>
              <a:t>, metrica mas estricta</a:t>
            </a:r>
            <a:r>
              <a:rPr lang="en-US" sz="1400">
                <a:solidFill>
                  <a:schemeClr val="bg1"/>
                </a:solidFill>
              </a:rPr>
              <a:t>.</a:t>
            </a:r>
            <a:endParaRPr lang="en-US" sz="1400"/>
          </a:p>
        </p:txBody>
      </p:sp>
      <p:sp>
        <p:nvSpPr>
          <p:cNvPr id="1701328416" name="Tarjeta Dice"/>
          <p:cNvSpPr/>
          <p:nvPr/>
        </p:nvSpPr>
        <p:spPr bwMode="auto">
          <a:xfrm flipH="0" flipV="0">
            <a:off x="6199632" y="1645920"/>
            <a:ext cx="5440680" cy="2971800"/>
          </a:xfrm>
          <a:prstGeom prst="roundRect">
            <a:avLst>
              <a:gd name="adj" fmla="val 3448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553986372" name="Nombre Dice"/>
          <p:cNvSpPr txBox="1"/>
          <p:nvPr/>
        </p:nvSpPr>
        <p:spPr bwMode="auto">
          <a:xfrm>
            <a:off x="6473952" y="1828800"/>
            <a:ext cx="48920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bg1"/>
                </a:solidFill>
              </a:rPr>
              <a:t>Dice</a:t>
            </a:r>
            <a:r>
              <a:rPr lang="es-ES" sz="1800">
                <a:solidFill>
                  <a:schemeClr val="bg1"/>
                </a:solidFill>
              </a:rPr>
              <a:t> (F1 score)</a:t>
            </a:r>
            <a:endParaRPr lang="en-US" sz="1800"/>
          </a:p>
        </p:txBody>
      </p:sp>
      <p:sp>
        <p:nvSpPr>
          <p:cNvPr id="1623552161" name="Fórmula Dice"/>
          <p:cNvSpPr txBox="1"/>
          <p:nvPr/>
        </p:nvSpPr>
        <p:spPr bwMode="auto">
          <a:xfrm flipH="0" flipV="0">
            <a:off x="6473952" y="2377440"/>
            <a:ext cx="48920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s-ES" sz="1800" i="1">
                <a:solidFill>
                  <a:schemeClr val="accent5"/>
                </a:solidFill>
                <a:latin typeface="Cambria"/>
                <a:ea typeface="Cambria"/>
                <a:cs typeface="Cambria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box>
                        <m:boxPr>
                          <m:aln m:val="off"/>
                          <m:diff m:val="off"/>
                          <m:noBreak m:val="off"/>
                          <m:opEmu m:val="off"/>
                          <m:ctrlPr>
                            <a:rPr lang="es-ES" sz="1800" b="0" i="1" u="none" strike="noStrike" cap="none" spc="0">
                              <a:solidFill>
                                <a:schemeClr val="accent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s-ES" sz="1800" b="0" i="1" u="none" strike="noStrike" cap="none" spc="0">
                                  <a:solidFill>
                                    <a:schemeClr val="accent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i"/>
                                </m:rPr>
                                <a:rPr lang="es-ES" sz="1800" u="none" strike="noStrike" cap="none" spc="0">
                                  <a:solidFill>
                                    <a:schemeClr val="accent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2TP</m:t>
                              </m:r>
                            </m:num>
                            <m:den>
                              <m:r>
                                <m:rPr>
                                  <m:sty m:val="i"/>
                                </m:rPr>
                                <a:rPr lang="es-ES" sz="1800" u="none" strike="noStrike" cap="none" spc="0">
                                  <a:solidFill>
                                    <a:schemeClr val="accent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(2TP+FP+FN)</m:t>
                              </m:r>
                            </m:den>
                          </m:f>
                        </m:e>
                      </m:box>
                    </m:oMath>
                  </m:oMathPara>
                </a14:m>
              </mc:Choice>
              <mc:Fallback/>
            </mc:AlternateContent>
            <a:endParaRPr lang="en-US" sz="1800"/>
          </a:p>
        </p:txBody>
      </p:sp>
      <p:sp>
        <p:nvSpPr>
          <p:cNvPr id="1137463831" name="Texto Dice"/>
          <p:cNvSpPr txBox="1"/>
          <p:nvPr/>
        </p:nvSpPr>
        <p:spPr bwMode="auto">
          <a:xfrm flipH="0" flipV="0">
            <a:off x="6473952" y="2926080"/>
            <a:ext cx="489203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Solapamiento entre ambas máscaras</a:t>
            </a:r>
            <a:r>
              <a:rPr lang="es-ES" sz="1400">
                <a:solidFill>
                  <a:schemeClr val="bg1"/>
                </a:solidFill>
              </a:rPr>
              <a:t>, d</a:t>
            </a:r>
            <a:r>
              <a:rPr lang="es-ES" sz="14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 el doble de peso a las coincidencias correctas, entregando valores numéricamente más altos que IoU</a:t>
            </a:r>
            <a:endParaRPr lang="en-US" sz="1400"/>
          </a:p>
        </p:txBody>
      </p:sp>
      <p:sp>
        <p:nvSpPr>
          <p:cNvPr id="1959637127" name="Tarjeta TP FP FN"/>
          <p:cNvSpPr/>
          <p:nvPr/>
        </p:nvSpPr>
        <p:spPr bwMode="auto">
          <a:xfrm>
            <a:off x="548640" y="4846320"/>
            <a:ext cx="5029200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315828283" name="Texto TP FP FN"/>
          <p:cNvSpPr txBox="1"/>
          <p:nvPr/>
        </p:nvSpPr>
        <p:spPr bwMode="auto">
          <a:xfrm>
            <a:off x="777240" y="48463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  <a:defRPr/>
            </a:pPr>
            <a:r>
              <a:rPr lang="en-US" sz="1400" b="1">
                <a:solidFill>
                  <a:schemeClr val="accent1"/>
                </a:solidFill>
              </a:rPr>
              <a:t>TP  </a:t>
            </a:r>
            <a:r>
              <a:rPr lang="en-US" sz="1400">
                <a:solidFill>
                  <a:schemeClr val="bg1"/>
                </a:solidFill>
              </a:rPr>
              <a:t>píxeles de coche acertados</a:t>
            </a:r>
            <a:endParaRPr lang="en-US" sz="14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1400" b="1">
                <a:solidFill>
                  <a:schemeClr val="accent2"/>
                </a:solidFill>
              </a:rPr>
              <a:t>FP  </a:t>
            </a:r>
            <a:r>
              <a:rPr lang="en-US" sz="1400">
                <a:solidFill>
                  <a:schemeClr val="bg1"/>
                </a:solidFill>
              </a:rPr>
              <a:t>fondo marcado como coche</a:t>
            </a:r>
            <a:endParaRPr lang="en-US" sz="14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1400" b="1">
                <a:solidFill>
                  <a:schemeClr val="accent5"/>
                </a:solidFill>
              </a:rPr>
              <a:t>FN  </a:t>
            </a:r>
            <a:r>
              <a:rPr lang="en-US" sz="1400">
                <a:solidFill>
                  <a:schemeClr val="bg1"/>
                </a:solidFill>
              </a:rPr>
              <a:t>coche que no se detectó</a:t>
            </a:r>
            <a:endParaRPr lang="en-US" sz="1400"/>
          </a:p>
        </p:txBody>
      </p:sp>
      <p:sp>
        <p:nvSpPr>
          <p:cNvPr id="100786064" name="Tarjeta accuracy"/>
          <p:cNvSpPr/>
          <p:nvPr/>
        </p:nvSpPr>
        <p:spPr bwMode="auto">
          <a:xfrm>
            <a:off x="5760720" y="4846320"/>
            <a:ext cx="5879592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699742455" name="Texto accuracy"/>
          <p:cNvSpPr txBox="1"/>
          <p:nvPr/>
        </p:nvSpPr>
        <p:spPr bwMode="auto">
          <a:xfrm flipH="0" flipV="0">
            <a:off x="5980176" y="4941070"/>
            <a:ext cx="5440680" cy="110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  <a:defRPr/>
            </a:pPr>
            <a:r>
              <a:rPr lang="en-US" sz="1200" b="1" spc="100">
                <a:solidFill>
                  <a:schemeClr val="accent4"/>
                </a:solidFill>
              </a:rPr>
              <a:t>¿POR QUÉ </a:t>
            </a:r>
            <a:r>
              <a:rPr lang="es-ES" sz="1200" b="1" spc="99">
                <a:solidFill>
                  <a:schemeClr val="accent4"/>
                </a:solidFill>
              </a:rPr>
              <a:t>AMBAS</a:t>
            </a:r>
            <a:r>
              <a:rPr lang="en-US" sz="1200" b="1" spc="99">
                <a:solidFill>
                  <a:schemeClr val="accent4"/>
                </a:solidFill>
              </a:rPr>
              <a:t>?</a:t>
            </a:r>
            <a:endParaRPr lang="en-US" sz="1200" b="1" spc="99">
              <a:solidFill>
                <a:schemeClr val="accent4"/>
              </a:solidFill>
            </a:endParaRPr>
          </a:p>
          <a:p>
            <a:pPr marL="0" indent="0">
              <a:spcAft>
                <a:spcPts val="299"/>
              </a:spcAft>
              <a:buNone/>
              <a:defRPr/>
            </a:pPr>
            <a:r>
              <a:rPr lang="en-US" sz="1200" b="1" i="0" u="none" strike="noStrike" cap="none" spc="99">
                <a:solidFill>
                  <a:schemeClr val="accent4"/>
                </a:solidFill>
                <a:latin typeface="Calibri"/>
                <a:ea typeface="Calibri"/>
                <a:cs typeface="Calibri"/>
              </a:rPr>
              <a:t> IoU y Dice estándares internacionales en segmentación semántica. Al medir la superposición</a:t>
            </a:r>
            <a:r>
              <a:rPr lang="es-ES" sz="1200" b="1" i="0" u="none" strike="noStrike" cap="none" spc="99">
                <a:solidFill>
                  <a:schemeClr val="accent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b="1" i="0" u="none" strike="noStrike" cap="none" spc="99">
                <a:solidFill>
                  <a:schemeClr val="accent4"/>
                </a:solidFill>
                <a:latin typeface="Calibri"/>
                <a:ea typeface="Calibri"/>
                <a:cs typeface="Calibri"/>
              </a:rPr>
              <a:t>real, evitan el sesgo que produce la abundancia de píxeles de fondo</a:t>
            </a:r>
            <a:r>
              <a:rPr lang="es-ES" sz="1200" b="1" i="0" u="none" strike="noStrike" cap="none" spc="99">
                <a:solidFill>
                  <a:schemeClr val="accent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b="1" i="0" u="none" strike="noStrike" cap="none" spc="99">
                <a:solidFill>
                  <a:schemeClr val="accent4"/>
                </a:solidFill>
                <a:latin typeface="Calibri"/>
                <a:ea typeface="Calibri"/>
                <a:cs typeface="Calibri"/>
              </a:rPr>
              <a:t>y ofrecen una medida directa de la calidad con la que el modelo delimita los contornos de los vehículos</a:t>
            </a:r>
            <a:r>
              <a:rPr lang="es-ES" sz="1200" b="1" i="0" u="none" strike="noStrike" cap="none" spc="99">
                <a:solidFill>
                  <a:schemeClr val="accent4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400"/>
          </a:p>
        </p:txBody>
      </p:sp>
      <p:sp>
        <p:nvSpPr>
          <p:cNvPr id="1872920124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898550" name="Text 0"/>
          <p:cNvSpPr/>
          <p:nvPr>
            <p:ph type="title" idx="100" hasCustomPrompt="1"/>
          </p:nvPr>
        </p:nvSpPr>
        <p:spPr bwMode="auto"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chemeClr val="bg1"/>
                </a:solidFill>
              </a:rPr>
              <a:t>Efecto de las épocas y del aumento</a:t>
            </a:r>
            <a:endParaRPr lang="en-US" sz="3600"/>
          </a:p>
        </p:txBody>
      </p:sp>
      <p:sp>
        <p:nvSpPr>
          <p:cNvPr id="1147878061" name="Text 0"/>
          <p:cNvSpPr/>
          <p:nvPr>
            <p:ph type="body" idx="101" hasCustomPrompt="1"/>
          </p:nvPr>
        </p:nvSpPr>
        <p:spPr bwMode="auto"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chemeClr val="accent1"/>
                </a:solidFill>
              </a:rPr>
              <a:t>5.</a:t>
            </a:r>
            <a:r>
              <a:rPr lang="es-ES" sz="1200" b="1" spc="199">
                <a:solidFill>
                  <a:schemeClr val="accent1"/>
                </a:solidFill>
              </a:rPr>
              <a:t>1</a:t>
            </a:r>
            <a:r>
              <a:rPr lang="en-US" sz="1200" b="1" spc="199">
                <a:solidFill>
                  <a:schemeClr val="accent1"/>
                </a:solidFill>
              </a:rPr>
              <a:t> · RESULTADOS · COMPARACIÓN DE LOS CUATRO MODELOS</a:t>
            </a:r>
            <a:endParaRPr lang="en-US" sz="1200"/>
          </a:p>
        </p:txBody>
      </p:sp>
      <p:sp>
        <p:nvSpPr>
          <p:cNvPr id="168261899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15</a:t>
            </a:fld>
            <a:endParaRPr lang="en-US"/>
          </a:p>
        </p:txBody>
      </p:sp>
      <p:graphicFrame>
        <p:nvGraphicFramePr>
          <p:cNvPr id="347299889" name="Gráfico 911061331"/>
          <p:cNvGraphicFramePr>
            <a:graphicFrameLocks xmlns:a="http://schemas.openxmlformats.org/drawingml/2006/main"/>
          </p:cNvGraphicFramePr>
          <p:nvPr/>
        </p:nvGraphicFramePr>
        <p:xfrm rot="0">
          <a:off x="548640" y="1645920"/>
          <a:ext cx="5897880" cy="4617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53260489" name="Tabla modelos"/>
          <p:cNvGraphicFramePr>
            <a:graphicFrameLocks xmlns:a="http://schemas.openxmlformats.org/drawingml/2006/main" noGrp="1"/>
          </p:cNvGraphicFramePr>
          <p:nvPr/>
        </p:nvGraphicFramePr>
        <p:xfrm rot="0">
          <a:off x="6675120" y="1645920"/>
          <a:ext cx="4965192" cy="21031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868680"/>
                <a:gridCol w="914400"/>
                <a:gridCol w="960120"/>
                <a:gridCol w="1097280"/>
                <a:gridCol w="1124712"/>
              </a:tblGrid>
              <a:tr h="420624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3B3F45"/>
                          </a:solidFill>
                        </a:rPr>
                        <a:t>Modelo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9A9487"/>
                      </a:solidFill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3B3F45"/>
                          </a:solidFill>
                        </a:rPr>
                        <a:t>Épocas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9A9487"/>
                      </a:solidFill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3B3F45"/>
                          </a:solidFill>
                        </a:rPr>
                        <a:t>Aumento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9A9487"/>
                      </a:solidFill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3B3F45"/>
                          </a:solidFill>
                        </a:rPr>
                        <a:t>IoU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9A9487"/>
                      </a:solidFill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3B3F45"/>
                          </a:solidFill>
                        </a:rPr>
                        <a:t>Dice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rgbClr val="9A9487"/>
                      </a:solidFill>
                    </a:lnB>
                    <a:solidFill>
                      <a:srgbClr val="F9F6F0"/>
                    </a:solidFill>
                  </a:tcPr>
                </a:tc>
              </a:tr>
              <a:tr h="420624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5E6269"/>
                          </a:solidFill>
                        </a:rPr>
                        <a:t>1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5E6269"/>
                          </a:solidFill>
                        </a:rPr>
                        <a:t>10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5E6269"/>
                          </a:solidFill>
                        </a:rPr>
                        <a:t>No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5E6269"/>
                          </a:solidFill>
                        </a:rPr>
                        <a:t>0.8380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5E6269"/>
                          </a:solidFill>
                        </a:rPr>
                        <a:t>0.9072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5E6269"/>
                          </a:solidFill>
                        </a:rPr>
                        <a:t>2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5E6269"/>
                          </a:solidFill>
                        </a:rPr>
                        <a:t>10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5E6269"/>
                          </a:solidFill>
                        </a:rPr>
                        <a:t>Sí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5E6269"/>
                          </a:solidFill>
                        </a:rPr>
                        <a:t>0.8702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5E6269"/>
                          </a:solidFill>
                        </a:rPr>
                        <a:t>0.9256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5E6269"/>
                          </a:solidFill>
                        </a:rPr>
                        <a:t>3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5E6269"/>
                          </a:solidFill>
                        </a:rPr>
                        <a:t>100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5E6269"/>
                          </a:solidFill>
                        </a:rPr>
                        <a:t>No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5E6269"/>
                          </a:solidFill>
                        </a:rPr>
                        <a:t>0.9199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5E6269"/>
                          </a:solidFill>
                        </a:rPr>
                        <a:t>0.9563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2A2D31"/>
                          </a:solidFill>
                        </a:rPr>
                        <a:t>4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  <a:solidFill>
                      <a:srgbClr val="E3DCC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2A2D31"/>
                          </a:solidFill>
                        </a:rPr>
                        <a:t>100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  <a:solidFill>
                      <a:srgbClr val="E3DCC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2A2D31"/>
                          </a:solidFill>
                        </a:rPr>
                        <a:t>Sí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  <a:solidFill>
                      <a:srgbClr val="E3DCC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2A2D31"/>
                          </a:solidFill>
                        </a:rPr>
                        <a:t>0.9280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  <a:solidFill>
                      <a:srgbClr val="E3DCC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 b="1">
                          <a:solidFill>
                            <a:srgbClr val="2A2D31"/>
                          </a:solidFill>
                        </a:rPr>
                        <a:t>0.9602</a:t>
                      </a:r>
                      <a:endParaRPr lang="en-US" sz="1400"/>
                    </a:p>
                  </a:txBody>
                  <a:tcPr marL="91440" marR="91440" marT="45720" marB="4572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6350" algn="ctr">
                      <a:solidFill>
                        <a:srgbClr val="D2C9B8"/>
                      </a:solidFill>
                    </a:lnB>
                    <a:solidFill>
                      <a:srgbClr val="E3DCCB"/>
                    </a:solidFill>
                  </a:tcPr>
                </a:tc>
              </a:tr>
            </a:tbl>
          </a:graphicData>
        </a:graphic>
      </p:graphicFrame>
      <p:sp>
        <p:nvSpPr>
          <p:cNvPr id="1346680601" name="Tarjeta épocas"/>
          <p:cNvSpPr/>
          <p:nvPr/>
        </p:nvSpPr>
        <p:spPr bwMode="auto">
          <a:xfrm>
            <a:off x="6675120" y="3977640"/>
            <a:ext cx="2395728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</a:ln>
        </p:spPr>
      </p:sp>
      <p:sp>
        <p:nvSpPr>
          <p:cNvPr id="1795196668" name="Texto épocas"/>
          <p:cNvSpPr txBox="1"/>
          <p:nvPr/>
        </p:nvSpPr>
        <p:spPr bwMode="auto">
          <a:xfrm>
            <a:off x="6858000" y="4087368"/>
            <a:ext cx="2057400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  <a:defRPr/>
            </a:pPr>
            <a:r>
              <a:rPr lang="es-ES" sz="1100" b="1">
                <a:solidFill>
                  <a:schemeClr val="accent1"/>
                </a:solidFill>
              </a:rPr>
              <a:t>10 → 100 ÉPOCAS</a:t>
            </a:r>
            <a:endParaRPr/>
          </a:p>
          <a:p>
            <a:pPr marL="0" indent="0" algn="l">
              <a:buNone/>
              <a:defRPr/>
            </a:pPr>
            <a:r>
              <a:rPr lang="es-ES" sz="28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+0.082</a:t>
            </a:r>
            <a:endParaRPr/>
          </a:p>
          <a:p>
            <a:pPr marL="0" indent="0" algn="l">
              <a:buNone/>
              <a:defRPr/>
            </a:pPr>
            <a:r>
              <a:rPr lang="es-ES" sz="1200" b="0">
                <a:solidFill>
                  <a:schemeClr val="bg2"/>
                </a:solidFill>
              </a:rPr>
              <a:t>IoU sin aumento (con aumento: +0.058)</a:t>
            </a:r>
            <a:endParaRPr/>
          </a:p>
        </p:txBody>
      </p:sp>
      <p:sp>
        <p:nvSpPr>
          <p:cNvPr id="1662499095" name="Tarjeta aumento"/>
          <p:cNvSpPr/>
          <p:nvPr/>
        </p:nvSpPr>
        <p:spPr bwMode="auto">
          <a:xfrm>
            <a:off x="9244584" y="3977640"/>
            <a:ext cx="2395728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</a:ln>
        </p:spPr>
      </p:sp>
      <p:sp>
        <p:nvSpPr>
          <p:cNvPr id="1196649484" name="Texto aumento"/>
          <p:cNvSpPr txBox="1"/>
          <p:nvPr/>
        </p:nvSpPr>
        <p:spPr bwMode="auto">
          <a:xfrm>
            <a:off x="9427464" y="4087368"/>
            <a:ext cx="2057400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  <a:defRPr/>
            </a:pPr>
            <a:r>
              <a:rPr lang="es-ES" sz="1100" b="1">
                <a:solidFill>
                  <a:schemeClr val="accent3"/>
                </a:solidFill>
              </a:rPr>
              <a:t>SIN → CON AUMENTO</a:t>
            </a:r>
            <a:endParaRPr/>
          </a:p>
          <a:p>
            <a:pPr marL="0" indent="0" algn="l">
              <a:buNone/>
              <a:defRPr/>
            </a:pPr>
            <a:r>
              <a:rPr lang="es-ES" sz="28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+0.032</a:t>
            </a:r>
            <a:endParaRPr/>
          </a:p>
          <a:p>
            <a:pPr marL="0" indent="0" algn="l">
              <a:buNone/>
              <a:defRPr/>
            </a:pPr>
            <a:r>
              <a:rPr lang="es-ES" sz="1200" b="0">
                <a:solidFill>
                  <a:schemeClr val="bg2"/>
                </a:solidFill>
              </a:rPr>
              <a:t>IoU a 10 épocas (a 100 épocas: +0.008)</a:t>
            </a:r>
            <a:endParaRPr/>
          </a:p>
        </p:txBody>
      </p:sp>
      <p:sp>
        <p:nvSpPr>
          <p:cNvPr id="1536732930" name="Tarjeta cautela"/>
          <p:cNvSpPr/>
          <p:nvPr/>
        </p:nvSpPr>
        <p:spPr bwMode="auto">
          <a:xfrm>
            <a:off x="6675120" y="5532120"/>
            <a:ext cx="4965192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</a:ln>
        </p:spPr>
      </p:sp>
      <p:sp>
        <p:nvSpPr>
          <p:cNvPr id="294524909" name="Texto cautela"/>
          <p:cNvSpPr txBox="1"/>
          <p:nvPr/>
        </p:nvSpPr>
        <p:spPr bwMode="auto">
          <a:xfrm>
            <a:off x="6858000" y="5532120"/>
            <a:ext cx="459943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s-ES" sz="1300" b="1">
                <a:solidFill>
                  <a:schemeClr val="accent4"/>
                </a:solidFill>
              </a:rPr>
              <a:t>Una ejecución por modelo: </a:t>
            </a:r>
            <a:r>
              <a:rPr lang="es-ES" sz="1300" b="0">
                <a:solidFill>
                  <a:schemeClr val="bg1"/>
                </a:solidFill>
              </a:rPr>
              <a:t>una diferencia de +0.008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377134" name="Text 0"/>
          <p:cNvSpPr/>
          <p:nvPr>
            <p:ph type="title" idx="100" hasCustomPrompt="1"/>
          </p:nvPr>
        </p:nvSpPr>
        <p:spPr bwMode="auto"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s-ES" sz="3600" b="1">
                <a:solidFill>
                  <a:schemeClr val="bg1"/>
                </a:solidFill>
              </a:rPr>
              <a:t>C</a:t>
            </a:r>
            <a:r>
              <a:rPr lang="en-US" sz="3600" b="1">
                <a:solidFill>
                  <a:schemeClr val="bg1"/>
                </a:solidFill>
              </a:rPr>
              <a:t>omparaciones</a:t>
            </a:r>
            <a:endParaRPr lang="en-US" sz="3600"/>
          </a:p>
        </p:txBody>
      </p:sp>
      <p:sp>
        <p:nvSpPr>
          <p:cNvPr id="967175150" name="Text 0"/>
          <p:cNvSpPr/>
          <p:nvPr>
            <p:ph type="body" idx="101" hasCustomPrompt="1"/>
          </p:nvPr>
        </p:nvSpPr>
        <p:spPr bwMode="auto"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chemeClr val="accent1"/>
                </a:solidFill>
              </a:rPr>
              <a:t>5.</a:t>
            </a:r>
            <a:r>
              <a:rPr lang="es-ES" sz="1200" b="1" spc="199">
                <a:solidFill>
                  <a:schemeClr val="accent1"/>
                </a:solidFill>
              </a:rPr>
              <a:t>2</a:t>
            </a:r>
            <a:r>
              <a:rPr lang="en-US" sz="1200" b="1" spc="199">
                <a:solidFill>
                  <a:schemeClr val="accent1"/>
                </a:solidFill>
              </a:rPr>
              <a:t> · RESULTADOS · LECTURA DE LAS IMÁGENES</a:t>
            </a:r>
            <a:endParaRPr lang="en-US" sz="1200"/>
          </a:p>
        </p:txBody>
      </p:sp>
      <p:sp>
        <p:nvSpPr>
          <p:cNvPr id="1969596081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234130753" name="Ejemplo: 1 · Imagen original" descr="Ejemplo: 1 · Imagen original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1645920"/>
            <a:ext cx="2606040" cy="1954530"/>
          </a:xfrm>
          <a:prstGeom prst="rect">
            <a:avLst/>
          </a:prstGeom>
        </p:spPr>
      </p:pic>
      <p:sp>
        <p:nvSpPr>
          <p:cNvPr id="1847844172" name="Texto paso 1"/>
          <p:cNvSpPr txBox="1"/>
          <p:nvPr/>
        </p:nvSpPr>
        <p:spPr bwMode="auto">
          <a:xfrm>
            <a:off x="548640" y="370332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  <a:defRPr/>
            </a:pPr>
            <a:r>
              <a:rPr lang="es-ES" sz="1400" b="1">
                <a:solidFill>
                  <a:schemeClr val="accent1"/>
                </a:solidFill>
              </a:rPr>
              <a:t>1 · Imagen original</a:t>
            </a:r>
            <a:endParaRPr/>
          </a:p>
          <a:p>
            <a:pPr marL="0" indent="0" algn="l">
              <a:buNone/>
              <a:defRPr/>
            </a:pPr>
            <a:r>
              <a:rPr lang="es-ES" sz="1300" b="0">
                <a:solidFill>
                  <a:schemeClr val="bg1"/>
                </a:solidFill>
              </a:rPr>
              <a:t>Escena de entrada.</a:t>
            </a:r>
            <a:endParaRPr/>
          </a:p>
        </p:txBody>
      </p:sp>
      <p:pic>
        <p:nvPicPr>
          <p:cNvPr id="2045249027" name="Ejemplo: 2 · Máscara real" descr="Ejemplo: 2 · Máscara real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377184" y="1645920"/>
            <a:ext cx="2606040" cy="1954530"/>
          </a:xfrm>
          <a:prstGeom prst="rect">
            <a:avLst/>
          </a:prstGeom>
        </p:spPr>
      </p:pic>
      <p:sp>
        <p:nvSpPr>
          <p:cNvPr id="772529198" name="Texto paso 2"/>
          <p:cNvSpPr txBox="1"/>
          <p:nvPr/>
        </p:nvSpPr>
        <p:spPr bwMode="auto">
          <a:xfrm>
            <a:off x="3377184" y="370332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  <a:defRPr/>
            </a:pPr>
            <a:r>
              <a:rPr lang="es-ES" sz="1400" b="1">
                <a:solidFill>
                  <a:schemeClr val="accent1"/>
                </a:solidFill>
              </a:rPr>
              <a:t>2 · Máscara real</a:t>
            </a:r>
            <a:endParaRPr/>
          </a:p>
          <a:p>
            <a:pPr marL="0" indent="0" algn="l">
              <a:buNone/>
              <a:defRPr/>
            </a:pPr>
            <a:r>
              <a:rPr lang="es-ES" sz="1300" b="0">
                <a:solidFill>
                  <a:schemeClr val="bg1"/>
                </a:solidFill>
              </a:rPr>
              <a:t>Etiqueta manual: coche en blanco.</a:t>
            </a:r>
            <a:endParaRPr/>
          </a:p>
        </p:txBody>
      </p:sp>
      <p:pic>
        <p:nvPicPr>
          <p:cNvPr id="1016236321" name="Ejemplo: 3 · Predicción" descr="Ejemplo: 3 · Predicción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205728" y="1645920"/>
            <a:ext cx="2606040" cy="1954530"/>
          </a:xfrm>
          <a:prstGeom prst="rect">
            <a:avLst/>
          </a:prstGeom>
        </p:spPr>
      </p:pic>
      <p:sp>
        <p:nvSpPr>
          <p:cNvPr id="499642747" name="Texto paso 3"/>
          <p:cNvSpPr txBox="1"/>
          <p:nvPr/>
        </p:nvSpPr>
        <p:spPr bwMode="auto">
          <a:xfrm>
            <a:off x="6205728" y="370332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  <a:defRPr/>
            </a:pPr>
            <a:r>
              <a:rPr lang="es-ES" sz="1400" b="1">
                <a:solidFill>
                  <a:schemeClr val="accent1"/>
                </a:solidFill>
              </a:rPr>
              <a:t>3 · Predicción</a:t>
            </a:r>
            <a:endParaRPr/>
          </a:p>
          <a:p>
            <a:pPr marL="0" indent="0" algn="l">
              <a:buNone/>
              <a:defRPr/>
            </a:pPr>
            <a:r>
              <a:rPr lang="es-ES" sz="1300" b="0">
                <a:solidFill>
                  <a:schemeClr val="bg1"/>
                </a:solidFill>
              </a:rPr>
              <a:t>Máscara que produce el modelo.</a:t>
            </a:r>
            <a:endParaRPr/>
          </a:p>
        </p:txBody>
      </p:sp>
      <p:pic>
        <p:nvPicPr>
          <p:cNvPr id="2001344584" name="Ejemplo: 4 · Errores" descr="Ejemplo: 4 · Errores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034272" y="1645920"/>
            <a:ext cx="2606040" cy="1954530"/>
          </a:xfrm>
          <a:prstGeom prst="rect">
            <a:avLst/>
          </a:prstGeom>
        </p:spPr>
      </p:pic>
      <p:sp>
        <p:nvSpPr>
          <p:cNvPr id="224608930" name="Texto paso 4"/>
          <p:cNvSpPr txBox="1"/>
          <p:nvPr/>
        </p:nvSpPr>
        <p:spPr bwMode="auto">
          <a:xfrm>
            <a:off x="9034272" y="370332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  <a:defRPr/>
            </a:pPr>
            <a:r>
              <a:rPr lang="es-ES" sz="1400" b="1">
                <a:solidFill>
                  <a:schemeClr val="accent4"/>
                </a:solidFill>
              </a:rPr>
              <a:t>4 · Errores</a:t>
            </a:r>
            <a:endParaRPr/>
          </a:p>
          <a:p>
            <a:pPr marL="0" indent="0" algn="l">
              <a:buNone/>
              <a:defRPr/>
            </a:pPr>
            <a:r>
              <a:rPr lang="es-ES" sz="1300" b="0">
                <a:solidFill>
                  <a:schemeClr val="bg1"/>
                </a:solidFill>
              </a:rPr>
              <a:t>Predicción sobre la imagen, con colores.</a:t>
            </a:r>
            <a:endParaRPr/>
          </a:p>
        </p:txBody>
      </p:sp>
      <p:sp>
        <p:nvSpPr>
          <p:cNvPr id="400171034" name="Rótulo colores"/>
          <p:cNvSpPr txBox="1"/>
          <p:nvPr/>
        </p:nvSpPr>
        <p:spPr bwMode="auto">
          <a:xfrm>
            <a:off x="548640" y="45262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s-ES" sz="1200" b="1">
                <a:solidFill>
                  <a:schemeClr val="accent1"/>
                </a:solidFill>
              </a:rPr>
              <a:t>SIGNIFICADO DE LOS COLORES</a:t>
            </a:r>
            <a:endParaRPr/>
          </a:p>
        </p:txBody>
      </p:sp>
      <p:sp>
        <p:nvSpPr>
          <p:cNvPr id="1377606807" name="Tarjeta Verde · TP"/>
          <p:cNvSpPr/>
          <p:nvPr/>
        </p:nvSpPr>
        <p:spPr bwMode="auto">
          <a:xfrm>
            <a:off x="548640" y="4846320"/>
            <a:ext cx="2606040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</a:ln>
        </p:spPr>
      </p:sp>
      <p:sp>
        <p:nvSpPr>
          <p:cNvPr id="1009683755" name="Muestra Verde · TP"/>
          <p:cNvSpPr/>
          <p:nvPr/>
        </p:nvSpPr>
        <p:spPr bwMode="auto">
          <a:xfrm>
            <a:off x="731520" y="4983480"/>
            <a:ext cx="237744" cy="237744"/>
          </a:xfrm>
          <a:prstGeom prst="ellipse">
            <a:avLst/>
          </a:prstGeom>
          <a:solidFill>
            <a:srgbClr val="33B232"/>
          </a:solidFill>
          <a:ln w="12700">
            <a:solidFill>
              <a:srgbClr val="5E6269"/>
            </a:solidFill>
          </a:ln>
        </p:spPr>
      </p:sp>
      <p:sp>
        <p:nvSpPr>
          <p:cNvPr id="379772504" name="Nombre Verde · TP"/>
          <p:cNvSpPr txBox="1"/>
          <p:nvPr/>
        </p:nvSpPr>
        <p:spPr bwMode="auto">
          <a:xfrm>
            <a:off x="1078992" y="496519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s-ES" sz="1400" b="1">
                <a:solidFill>
                  <a:schemeClr val="bg1"/>
                </a:solidFill>
              </a:rPr>
              <a:t>Verde · TP</a:t>
            </a:r>
            <a:endParaRPr/>
          </a:p>
        </p:txBody>
      </p:sp>
      <p:sp>
        <p:nvSpPr>
          <p:cNvPr id="1388980992" name="Texto Verde · TP"/>
          <p:cNvSpPr txBox="1"/>
          <p:nvPr/>
        </p:nvSpPr>
        <p:spPr bwMode="auto">
          <a:xfrm>
            <a:off x="731520" y="5349240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s-ES" sz="1200" b="0">
                <a:solidFill>
                  <a:schemeClr val="bg1"/>
                </a:solidFill>
              </a:rPr>
              <a:t>Verdadero positivo: coche real y el modelo también lo marca. Acierto</a:t>
            </a:r>
            <a:r>
              <a:rPr lang="es-ES" sz="1200" b="0">
                <a:solidFill>
                  <a:schemeClr val="bg2"/>
                </a:solidFill>
              </a:rPr>
              <a:t>.</a:t>
            </a:r>
            <a:endParaRPr/>
          </a:p>
        </p:txBody>
      </p:sp>
      <p:sp>
        <p:nvSpPr>
          <p:cNvPr id="665616548" name="Tarjeta Rojo · FP"/>
          <p:cNvSpPr/>
          <p:nvPr/>
        </p:nvSpPr>
        <p:spPr bwMode="auto">
          <a:xfrm>
            <a:off x="3377184" y="4846320"/>
            <a:ext cx="2606040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</a:ln>
        </p:spPr>
      </p:sp>
      <p:sp>
        <p:nvSpPr>
          <p:cNvPr id="1192091111" name="Muestra Rojo · FP"/>
          <p:cNvSpPr/>
          <p:nvPr/>
        </p:nvSpPr>
        <p:spPr bwMode="auto">
          <a:xfrm>
            <a:off x="3560064" y="4983480"/>
            <a:ext cx="237744" cy="237744"/>
          </a:xfrm>
          <a:prstGeom prst="ellipse">
            <a:avLst/>
          </a:prstGeom>
          <a:solidFill>
            <a:srgbClr val="D9544C"/>
          </a:solidFill>
          <a:ln w="12700">
            <a:solidFill>
              <a:srgbClr val="5E6269"/>
            </a:solidFill>
          </a:ln>
        </p:spPr>
      </p:sp>
      <p:sp>
        <p:nvSpPr>
          <p:cNvPr id="1288961883" name="Nombre Rojo · FP"/>
          <p:cNvSpPr txBox="1"/>
          <p:nvPr/>
        </p:nvSpPr>
        <p:spPr bwMode="auto">
          <a:xfrm>
            <a:off x="3907536" y="496519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s-ES" sz="1400" b="1">
                <a:solidFill>
                  <a:schemeClr val="bg1"/>
                </a:solidFill>
              </a:rPr>
              <a:t>Rojo · FP</a:t>
            </a:r>
            <a:endParaRPr/>
          </a:p>
        </p:txBody>
      </p:sp>
      <p:sp>
        <p:nvSpPr>
          <p:cNvPr id="1403290650" name="Texto Rojo · FP"/>
          <p:cNvSpPr txBox="1"/>
          <p:nvPr/>
        </p:nvSpPr>
        <p:spPr bwMode="auto">
          <a:xfrm>
            <a:off x="3560064" y="5349240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s-ES" sz="1200" b="0">
                <a:solidFill>
                  <a:schemeClr val="bg1"/>
                </a:solidFill>
              </a:rPr>
              <a:t>Falso positivo: el modelo marca coche donde hay fondo, por ejemplo suelo.</a:t>
            </a:r>
            <a:endParaRPr/>
          </a:p>
        </p:txBody>
      </p:sp>
      <p:sp>
        <p:nvSpPr>
          <p:cNvPr id="2060214614" name="Tarjeta Azul · FN"/>
          <p:cNvSpPr/>
          <p:nvPr/>
        </p:nvSpPr>
        <p:spPr bwMode="auto">
          <a:xfrm>
            <a:off x="6205728" y="4846320"/>
            <a:ext cx="2606040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</a:ln>
        </p:spPr>
      </p:sp>
      <p:sp>
        <p:nvSpPr>
          <p:cNvPr id="1601989253" name="Muestra Azul · FN"/>
          <p:cNvSpPr/>
          <p:nvPr/>
        </p:nvSpPr>
        <p:spPr bwMode="auto">
          <a:xfrm>
            <a:off x="6388608" y="4983480"/>
            <a:ext cx="237744" cy="237744"/>
          </a:xfrm>
          <a:prstGeom prst="ellipse">
            <a:avLst/>
          </a:prstGeom>
          <a:solidFill>
            <a:srgbClr val="3933B2"/>
          </a:solidFill>
          <a:ln w="12700">
            <a:solidFill>
              <a:srgbClr val="5E6269"/>
            </a:solidFill>
          </a:ln>
        </p:spPr>
      </p:sp>
      <p:sp>
        <p:nvSpPr>
          <p:cNvPr id="1456436242" name="Nombre Azul · FN"/>
          <p:cNvSpPr txBox="1"/>
          <p:nvPr/>
        </p:nvSpPr>
        <p:spPr bwMode="auto">
          <a:xfrm>
            <a:off x="6736080" y="496519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s-ES" sz="1400" b="1">
                <a:solidFill>
                  <a:schemeClr val="bg1"/>
                </a:solidFill>
              </a:rPr>
              <a:t>Azul · FN</a:t>
            </a:r>
            <a:endParaRPr/>
          </a:p>
        </p:txBody>
      </p:sp>
      <p:sp>
        <p:nvSpPr>
          <p:cNvPr id="258148056" name="Texto Azul · FN"/>
          <p:cNvSpPr txBox="1"/>
          <p:nvPr/>
        </p:nvSpPr>
        <p:spPr bwMode="auto">
          <a:xfrm>
            <a:off x="6388608" y="5349240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s-ES" sz="1200" b="0">
                <a:solidFill>
                  <a:schemeClr val="bg1"/>
                </a:solidFill>
              </a:rPr>
              <a:t>Falso negativo: es coche pero el modelo no lo detecta, como un borde.</a:t>
            </a:r>
            <a:endParaRPr/>
          </a:p>
        </p:txBody>
      </p:sp>
      <p:sp>
        <p:nvSpPr>
          <p:cNvPr id="965330816" name="Tarjeta Sin color · TN"/>
          <p:cNvSpPr/>
          <p:nvPr/>
        </p:nvSpPr>
        <p:spPr bwMode="auto">
          <a:xfrm>
            <a:off x="9034272" y="4846320"/>
            <a:ext cx="2606040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</a:ln>
        </p:spPr>
      </p:sp>
      <p:sp>
        <p:nvSpPr>
          <p:cNvPr id="611101193" name="Muestra Sin color · TN"/>
          <p:cNvSpPr/>
          <p:nvPr/>
        </p:nvSpPr>
        <p:spPr bwMode="auto">
          <a:xfrm>
            <a:off x="9217152" y="4983480"/>
            <a:ext cx="237744" cy="237744"/>
          </a:xfrm>
          <a:prstGeom prst="ellipse">
            <a:avLst/>
          </a:prstGeom>
          <a:solidFill>
            <a:srgbClr val="9A9487"/>
          </a:solidFill>
          <a:ln w="12700">
            <a:solidFill>
              <a:srgbClr val="5E6269"/>
            </a:solidFill>
          </a:ln>
        </p:spPr>
      </p:sp>
      <p:sp>
        <p:nvSpPr>
          <p:cNvPr id="934962912" name="Nombre Sin color · TN"/>
          <p:cNvSpPr txBox="1"/>
          <p:nvPr/>
        </p:nvSpPr>
        <p:spPr bwMode="auto">
          <a:xfrm>
            <a:off x="9564624" y="496519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s-ES" sz="1400" b="1">
                <a:solidFill>
                  <a:schemeClr val="bg1"/>
                </a:solidFill>
              </a:rPr>
              <a:t>Sin color · TN</a:t>
            </a:r>
            <a:endParaRPr/>
          </a:p>
        </p:txBody>
      </p:sp>
      <p:sp>
        <p:nvSpPr>
          <p:cNvPr id="1515781242" name="Texto Sin color · TN"/>
          <p:cNvSpPr txBox="1"/>
          <p:nvPr/>
        </p:nvSpPr>
        <p:spPr bwMode="auto">
          <a:xfrm>
            <a:off x="9217152" y="5349240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s-ES" sz="1200" b="0">
                <a:solidFill>
                  <a:schemeClr val="bg1"/>
                </a:solidFill>
              </a:rPr>
              <a:t>Verdadero negativo: es fondo y el modelo lo deja como fondo.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333032" name="Text 0"/>
          <p:cNvSpPr/>
          <p:nvPr>
            <p:ph type="title" idx="100" hasCustomPrompt="1"/>
          </p:nvPr>
        </p:nvSpPr>
        <p:spPr bwMode="auto">
          <a:xfrm>
            <a:off x="548639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chemeClr val="bg1"/>
                </a:solidFill>
              </a:rPr>
              <a:t>Comparación visual: 10 épocas</a:t>
            </a:r>
            <a:endParaRPr lang="en-US" sz="3600"/>
          </a:p>
        </p:txBody>
      </p:sp>
      <p:sp>
        <p:nvSpPr>
          <p:cNvPr id="61068741" name="Text 0"/>
          <p:cNvSpPr/>
          <p:nvPr>
            <p:ph type="body" idx="101" hasCustomPrompt="1"/>
          </p:nvPr>
        </p:nvSpPr>
        <p:spPr bwMode="auto"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chemeClr val="accent1"/>
                </a:solidFill>
              </a:rPr>
              <a:t>5.</a:t>
            </a:r>
            <a:r>
              <a:rPr lang="es-ES" sz="1200" b="1" spc="199">
                <a:solidFill>
                  <a:schemeClr val="accent1"/>
                </a:solidFill>
              </a:rPr>
              <a:t>3</a:t>
            </a:r>
            <a:r>
              <a:rPr lang="en-US" sz="1200" b="1" spc="199">
                <a:solidFill>
                  <a:schemeClr val="accent1"/>
                </a:solidFill>
              </a:rPr>
              <a:t> · RESULTADOS · MISMA ESCENA, 10 ÉPOCAS</a:t>
            </a:r>
            <a:endParaRPr lang="en-US" sz="1200"/>
          </a:p>
        </p:txBody>
      </p:sp>
      <p:sp>
        <p:nvSpPr>
          <p:cNvPr id="1393234412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17</a:t>
            </a:fld>
            <a:endParaRPr lang="en-US"/>
          </a:p>
        </p:txBody>
      </p:sp>
      <p:sp>
        <p:nvSpPr>
          <p:cNvPr id="1760460105" name="Columna 1"/>
          <p:cNvSpPr txBox="1"/>
          <p:nvPr/>
        </p:nvSpPr>
        <p:spPr bwMode="auto">
          <a:xfrm>
            <a:off x="548640" y="1508759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s-ES" sz="1200" b="1">
                <a:solidFill>
                  <a:schemeClr val="bg2"/>
                </a:solidFill>
              </a:rPr>
              <a:t>Imagen original</a:t>
            </a:r>
            <a:endParaRPr/>
          </a:p>
        </p:txBody>
      </p:sp>
      <p:sp>
        <p:nvSpPr>
          <p:cNvPr id="460438603" name="Columna 2"/>
          <p:cNvSpPr txBox="1"/>
          <p:nvPr/>
        </p:nvSpPr>
        <p:spPr bwMode="auto">
          <a:xfrm>
            <a:off x="2743200" y="1508759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s-ES" sz="1200" b="1">
                <a:solidFill>
                  <a:schemeClr val="bg2"/>
                </a:solidFill>
              </a:rPr>
              <a:t>Máscara real</a:t>
            </a:r>
            <a:endParaRPr/>
          </a:p>
        </p:txBody>
      </p:sp>
      <p:sp>
        <p:nvSpPr>
          <p:cNvPr id="1897243992" name="Columna 3"/>
          <p:cNvSpPr txBox="1"/>
          <p:nvPr/>
        </p:nvSpPr>
        <p:spPr bwMode="auto">
          <a:xfrm>
            <a:off x="4937760" y="1508759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s-ES" sz="1200" b="1">
                <a:solidFill>
                  <a:schemeClr val="bg2"/>
                </a:solidFill>
              </a:rPr>
              <a:t>Predicción</a:t>
            </a:r>
            <a:endParaRPr/>
          </a:p>
        </p:txBody>
      </p:sp>
      <p:sp>
        <p:nvSpPr>
          <p:cNvPr id="1073044034" name="Columna 4"/>
          <p:cNvSpPr txBox="1"/>
          <p:nvPr/>
        </p:nvSpPr>
        <p:spPr bwMode="auto">
          <a:xfrm>
            <a:off x="7132320" y="1508759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s-ES" sz="1200" b="1">
                <a:solidFill>
                  <a:schemeClr val="bg2"/>
                </a:solidFill>
              </a:rPr>
              <a:t>Errores superpuestos</a:t>
            </a:r>
            <a:endParaRPr/>
          </a:p>
        </p:txBody>
      </p:sp>
      <p:pic>
        <p:nvPicPr>
          <p:cNvPr id="1572345935" name="Comparación visual del modelo 1" descr="Comparación visual del modelo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1828800"/>
            <a:ext cx="8778240" cy="1645920"/>
          </a:xfrm>
          <a:prstGeom prst="rect">
            <a:avLst/>
          </a:prstGeom>
        </p:spPr>
      </p:pic>
      <p:sp>
        <p:nvSpPr>
          <p:cNvPr id="1459922948" name="Tarjeta modelo 1"/>
          <p:cNvSpPr/>
          <p:nvPr/>
        </p:nvSpPr>
        <p:spPr bwMode="auto">
          <a:xfrm>
            <a:off x="9537192" y="1828800"/>
            <a:ext cx="2103120" cy="164592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</a:ln>
        </p:spPr>
      </p:sp>
      <p:sp>
        <p:nvSpPr>
          <p:cNvPr id="950888836" name="Texto modelo 1"/>
          <p:cNvSpPr txBox="1"/>
          <p:nvPr/>
        </p:nvSpPr>
        <p:spPr bwMode="auto">
          <a:xfrm>
            <a:off x="9692640" y="1920240"/>
            <a:ext cx="1801367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s-ES" sz="1100" b="1">
                <a:solidFill>
                  <a:schemeClr val="accent1"/>
                </a:solidFill>
              </a:rPr>
              <a:t>MODELO 1</a:t>
            </a:r>
            <a:endParaRPr/>
          </a:p>
          <a:p>
            <a:pPr marL="0" indent="0" algn="l">
              <a:spcAft>
                <a:spcPts val="200"/>
              </a:spcAft>
              <a:buNone/>
              <a:defRPr/>
            </a:pPr>
            <a:r>
              <a:rPr lang="es-ES" sz="1200" b="0">
                <a:solidFill>
                  <a:schemeClr val="bg2"/>
                </a:solidFill>
              </a:rPr>
              <a:t>10 épocas, sin aumento</a:t>
            </a:r>
            <a:endParaRPr/>
          </a:p>
          <a:p>
            <a:pPr marL="0" indent="0" algn="l">
              <a:buNone/>
              <a:defRPr/>
            </a:pPr>
            <a:r>
              <a:rPr lang="es-ES" sz="30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0.665</a:t>
            </a:r>
            <a:endParaRPr/>
          </a:p>
          <a:p>
            <a:pPr marL="0" indent="0" algn="l">
              <a:buNone/>
              <a:defRPr/>
            </a:pPr>
            <a:r>
              <a:rPr lang="es-ES" sz="1200" b="0">
                <a:solidFill>
                  <a:schemeClr val="bg2"/>
                </a:solidFill>
              </a:rPr>
              <a:t>IoU de esta escena</a:t>
            </a:r>
            <a:endParaRPr/>
          </a:p>
        </p:txBody>
      </p:sp>
      <p:pic>
        <p:nvPicPr>
          <p:cNvPr id="239914276" name="Comparación visual del modelo 2" descr="Comparación visual del modelo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8639" y="3703320"/>
            <a:ext cx="8778240" cy="1645920"/>
          </a:xfrm>
          <a:prstGeom prst="rect">
            <a:avLst/>
          </a:prstGeom>
        </p:spPr>
      </p:pic>
      <p:sp>
        <p:nvSpPr>
          <p:cNvPr id="958100613" name="Tarjeta modelo 2"/>
          <p:cNvSpPr/>
          <p:nvPr/>
        </p:nvSpPr>
        <p:spPr bwMode="auto">
          <a:xfrm>
            <a:off x="9537192" y="3703320"/>
            <a:ext cx="2103120" cy="164592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</a:ln>
        </p:spPr>
      </p:sp>
      <p:sp>
        <p:nvSpPr>
          <p:cNvPr id="1703639905" name="Texto modelo 2"/>
          <p:cNvSpPr txBox="1"/>
          <p:nvPr/>
        </p:nvSpPr>
        <p:spPr bwMode="auto">
          <a:xfrm>
            <a:off x="9692640" y="3794760"/>
            <a:ext cx="1801367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s-ES" sz="1100" b="1">
                <a:solidFill>
                  <a:schemeClr val="accent3"/>
                </a:solidFill>
              </a:rPr>
              <a:t>MODELO 2</a:t>
            </a:r>
            <a:endParaRPr/>
          </a:p>
          <a:p>
            <a:pPr marL="0" indent="0" algn="l">
              <a:spcAft>
                <a:spcPts val="200"/>
              </a:spcAft>
              <a:buNone/>
              <a:defRPr/>
            </a:pPr>
            <a:r>
              <a:rPr lang="es-ES" sz="1200" b="0">
                <a:solidFill>
                  <a:schemeClr val="bg2"/>
                </a:solidFill>
              </a:rPr>
              <a:t>10 épocas, con aumento</a:t>
            </a:r>
            <a:endParaRPr/>
          </a:p>
          <a:p>
            <a:pPr marL="0" indent="0" algn="l">
              <a:buNone/>
              <a:defRPr/>
            </a:pPr>
            <a:r>
              <a:rPr lang="es-ES" sz="30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0.784</a:t>
            </a:r>
            <a:endParaRPr/>
          </a:p>
          <a:p>
            <a:pPr marL="0" indent="0" algn="l">
              <a:buNone/>
              <a:defRPr/>
            </a:pPr>
            <a:r>
              <a:rPr lang="es-ES" sz="1200" b="0">
                <a:solidFill>
                  <a:schemeClr val="bg2"/>
                </a:solidFill>
              </a:rPr>
              <a:t>IoU de esta escena</a:t>
            </a:r>
            <a:endParaRPr/>
          </a:p>
        </p:txBody>
      </p:sp>
      <p:sp>
        <p:nvSpPr>
          <p:cNvPr id="1394478289" name="Tarjeta lectura"/>
          <p:cNvSpPr/>
          <p:nvPr/>
        </p:nvSpPr>
        <p:spPr bwMode="auto">
          <a:xfrm>
            <a:off x="548640" y="5623560"/>
            <a:ext cx="11091672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</a:ln>
        </p:spPr>
      </p:sp>
      <p:sp>
        <p:nvSpPr>
          <p:cNvPr id="1378687357" name="Texto lectura"/>
          <p:cNvSpPr txBox="1"/>
          <p:nvPr/>
        </p:nvSpPr>
        <p:spPr bwMode="auto">
          <a:xfrm flipH="0" flipV="0">
            <a:off x="666761" y="5623560"/>
            <a:ext cx="1085542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s-ES" sz="1300" b="1">
                <a:solidFill>
                  <a:schemeClr val="bg1"/>
                </a:solidFill>
              </a:rPr>
              <a:t>El aumento reduce los falsos positivos (rojo) </a:t>
            </a:r>
            <a:r>
              <a:rPr lang="es-ES" sz="1300" b="0">
                <a:solidFill>
                  <a:schemeClr val="bg1"/>
                </a:solidFill>
              </a:rPr>
              <a:t>del suelo a ambos lados del coche y cierra el hueco del parabrisas trasero aparece algo de azul en el borde derecho.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409462" name="Text 0"/>
          <p:cNvSpPr/>
          <p:nvPr>
            <p:ph type="title" idx="100" hasCustomPrompt="1"/>
          </p:nvPr>
        </p:nvSpPr>
        <p:spPr bwMode="auto"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chemeClr val="bg1"/>
                </a:solidFill>
              </a:rPr>
              <a:t>Comparación visual: 100 épocas</a:t>
            </a:r>
            <a:endParaRPr lang="en-US" sz="3600"/>
          </a:p>
        </p:txBody>
      </p:sp>
      <p:sp>
        <p:nvSpPr>
          <p:cNvPr id="342622137" name="Text 0"/>
          <p:cNvSpPr/>
          <p:nvPr>
            <p:ph type="body" idx="101" hasCustomPrompt="1"/>
          </p:nvPr>
        </p:nvSpPr>
        <p:spPr bwMode="auto"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chemeClr val="accent1"/>
                </a:solidFill>
              </a:rPr>
              <a:t>5.</a:t>
            </a:r>
            <a:r>
              <a:rPr lang="es-ES" sz="1200" b="1" spc="199">
                <a:solidFill>
                  <a:schemeClr val="accent1"/>
                </a:solidFill>
              </a:rPr>
              <a:t>4</a:t>
            </a:r>
            <a:r>
              <a:rPr lang="en-US" sz="1200" b="1" spc="199">
                <a:solidFill>
                  <a:schemeClr val="accent1"/>
                </a:solidFill>
              </a:rPr>
              <a:t> · RESULTADOS · MISMA ESCENA, 100 ÉPOCAS</a:t>
            </a:r>
            <a:endParaRPr lang="en-US" sz="1200"/>
          </a:p>
        </p:txBody>
      </p:sp>
      <p:sp>
        <p:nvSpPr>
          <p:cNvPr id="10140480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18</a:t>
            </a:fld>
            <a:endParaRPr lang="en-US"/>
          </a:p>
        </p:txBody>
      </p:sp>
      <p:sp>
        <p:nvSpPr>
          <p:cNvPr id="1329396600" name="Columna 1"/>
          <p:cNvSpPr txBox="1"/>
          <p:nvPr/>
        </p:nvSpPr>
        <p:spPr bwMode="auto">
          <a:xfrm>
            <a:off x="548640" y="1508759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s-ES" sz="1200" b="1">
                <a:solidFill>
                  <a:schemeClr val="bg2"/>
                </a:solidFill>
              </a:rPr>
              <a:t>Imagen original</a:t>
            </a:r>
            <a:endParaRPr/>
          </a:p>
        </p:txBody>
      </p:sp>
      <p:sp>
        <p:nvSpPr>
          <p:cNvPr id="789544009" name="Columna 2"/>
          <p:cNvSpPr txBox="1"/>
          <p:nvPr/>
        </p:nvSpPr>
        <p:spPr bwMode="auto">
          <a:xfrm>
            <a:off x="2743200" y="1508759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s-ES" sz="1200" b="1">
                <a:solidFill>
                  <a:schemeClr val="bg2"/>
                </a:solidFill>
              </a:rPr>
              <a:t>Máscara real</a:t>
            </a:r>
            <a:endParaRPr/>
          </a:p>
        </p:txBody>
      </p:sp>
      <p:sp>
        <p:nvSpPr>
          <p:cNvPr id="1875506704" name="Columna 3"/>
          <p:cNvSpPr txBox="1"/>
          <p:nvPr/>
        </p:nvSpPr>
        <p:spPr bwMode="auto">
          <a:xfrm>
            <a:off x="4937760" y="1508759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s-ES" sz="1200" b="1">
                <a:solidFill>
                  <a:schemeClr val="bg2"/>
                </a:solidFill>
              </a:rPr>
              <a:t>Predicción</a:t>
            </a:r>
            <a:endParaRPr/>
          </a:p>
        </p:txBody>
      </p:sp>
      <p:sp>
        <p:nvSpPr>
          <p:cNvPr id="657583527" name="Columna 4"/>
          <p:cNvSpPr txBox="1"/>
          <p:nvPr/>
        </p:nvSpPr>
        <p:spPr bwMode="auto">
          <a:xfrm>
            <a:off x="7132320" y="1508759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s-ES" sz="1200" b="1">
                <a:solidFill>
                  <a:schemeClr val="bg2"/>
                </a:solidFill>
              </a:rPr>
              <a:t>Errores superpuestos</a:t>
            </a:r>
            <a:endParaRPr/>
          </a:p>
        </p:txBody>
      </p:sp>
      <p:pic>
        <p:nvPicPr>
          <p:cNvPr id="1857255200" name="Comparación visual del modelo 3" descr="Comparación visual del modelo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1828800"/>
            <a:ext cx="8778240" cy="1645920"/>
          </a:xfrm>
          <a:prstGeom prst="rect">
            <a:avLst/>
          </a:prstGeom>
        </p:spPr>
      </p:pic>
      <p:sp>
        <p:nvSpPr>
          <p:cNvPr id="1395028180" name="Tarjeta modelo 3"/>
          <p:cNvSpPr/>
          <p:nvPr/>
        </p:nvSpPr>
        <p:spPr bwMode="auto">
          <a:xfrm>
            <a:off x="9537192" y="1828800"/>
            <a:ext cx="2103120" cy="164592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</a:ln>
        </p:spPr>
      </p:sp>
      <p:sp>
        <p:nvSpPr>
          <p:cNvPr id="1484625509" name="Texto modelo 3"/>
          <p:cNvSpPr txBox="1"/>
          <p:nvPr/>
        </p:nvSpPr>
        <p:spPr bwMode="auto">
          <a:xfrm>
            <a:off x="9692640" y="1920240"/>
            <a:ext cx="1801367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s-ES" sz="1100" b="1">
                <a:solidFill>
                  <a:schemeClr val="accent1"/>
                </a:solidFill>
              </a:rPr>
              <a:t>MODELO 3</a:t>
            </a:r>
            <a:endParaRPr/>
          </a:p>
          <a:p>
            <a:pPr marL="0" indent="0" algn="l">
              <a:spcAft>
                <a:spcPts val="200"/>
              </a:spcAft>
              <a:buNone/>
              <a:defRPr/>
            </a:pPr>
            <a:r>
              <a:rPr lang="es-ES" sz="1200" b="0">
                <a:solidFill>
                  <a:schemeClr val="bg2"/>
                </a:solidFill>
              </a:rPr>
              <a:t>100 épocas, sin aumento</a:t>
            </a:r>
            <a:endParaRPr/>
          </a:p>
          <a:p>
            <a:pPr marL="0" indent="0" algn="l">
              <a:buNone/>
              <a:defRPr/>
            </a:pPr>
            <a:r>
              <a:rPr lang="es-ES" sz="30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0.819</a:t>
            </a:r>
            <a:endParaRPr/>
          </a:p>
          <a:p>
            <a:pPr marL="0" indent="0" algn="l">
              <a:buNone/>
              <a:defRPr/>
            </a:pPr>
            <a:r>
              <a:rPr lang="es-ES" sz="1200" b="0">
                <a:solidFill>
                  <a:schemeClr val="bg2"/>
                </a:solidFill>
              </a:rPr>
              <a:t>IoU de esta escena</a:t>
            </a:r>
            <a:endParaRPr/>
          </a:p>
        </p:txBody>
      </p:sp>
      <p:pic>
        <p:nvPicPr>
          <p:cNvPr id="100998260" name="Comparación visual del modelo 4" descr="Comparación visual del modelo 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8640" y="3703320"/>
            <a:ext cx="8778240" cy="1645920"/>
          </a:xfrm>
          <a:prstGeom prst="rect">
            <a:avLst/>
          </a:prstGeom>
        </p:spPr>
      </p:pic>
      <p:sp>
        <p:nvSpPr>
          <p:cNvPr id="265647133" name="Tarjeta modelo 4"/>
          <p:cNvSpPr/>
          <p:nvPr/>
        </p:nvSpPr>
        <p:spPr bwMode="auto">
          <a:xfrm>
            <a:off x="9537192" y="3703320"/>
            <a:ext cx="2103120" cy="164592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</a:ln>
        </p:spPr>
      </p:sp>
      <p:sp>
        <p:nvSpPr>
          <p:cNvPr id="1597851386" name="Texto modelo 4"/>
          <p:cNvSpPr txBox="1"/>
          <p:nvPr/>
        </p:nvSpPr>
        <p:spPr bwMode="auto">
          <a:xfrm>
            <a:off x="9692640" y="3794760"/>
            <a:ext cx="1801367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s-ES" sz="1100" b="1">
                <a:solidFill>
                  <a:schemeClr val="accent3"/>
                </a:solidFill>
              </a:rPr>
              <a:t>MODELO 4</a:t>
            </a:r>
            <a:endParaRPr/>
          </a:p>
          <a:p>
            <a:pPr marL="0" indent="0" algn="l">
              <a:spcAft>
                <a:spcPts val="200"/>
              </a:spcAft>
              <a:buNone/>
              <a:defRPr/>
            </a:pPr>
            <a:r>
              <a:rPr lang="es-ES" sz="1200" b="0">
                <a:solidFill>
                  <a:schemeClr val="bg2"/>
                </a:solidFill>
              </a:rPr>
              <a:t>100 épocas, con aumento</a:t>
            </a:r>
            <a:endParaRPr/>
          </a:p>
          <a:p>
            <a:pPr marL="0" indent="0" algn="l">
              <a:buNone/>
              <a:defRPr/>
            </a:pPr>
            <a:r>
              <a:rPr lang="es-ES" sz="30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0.867</a:t>
            </a:r>
            <a:endParaRPr/>
          </a:p>
          <a:p>
            <a:pPr marL="0" indent="0" algn="l">
              <a:buNone/>
              <a:defRPr/>
            </a:pPr>
            <a:r>
              <a:rPr lang="es-ES" sz="1200" b="0">
                <a:solidFill>
                  <a:schemeClr val="bg2"/>
                </a:solidFill>
              </a:rPr>
              <a:t>IoU de esta escena</a:t>
            </a:r>
            <a:endParaRPr/>
          </a:p>
        </p:txBody>
      </p:sp>
      <p:sp>
        <p:nvSpPr>
          <p:cNvPr id="535353752" name="Tarjeta lectura"/>
          <p:cNvSpPr/>
          <p:nvPr/>
        </p:nvSpPr>
        <p:spPr bwMode="auto">
          <a:xfrm>
            <a:off x="548640" y="5623560"/>
            <a:ext cx="11091672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</a:ln>
        </p:spPr>
      </p:sp>
      <p:sp>
        <p:nvSpPr>
          <p:cNvPr id="1756874968" name="Texto lectura"/>
          <p:cNvSpPr txBox="1"/>
          <p:nvPr/>
        </p:nvSpPr>
        <p:spPr bwMode="auto">
          <a:xfrm>
            <a:off x="731520" y="5623560"/>
            <a:ext cx="1072591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s-ES" sz="1300" b="1">
                <a:solidFill>
                  <a:schemeClr val="bg1"/>
                </a:solidFill>
              </a:rPr>
              <a:t>Con 100 épocas el contorno del coche es más limpio. </a:t>
            </a:r>
            <a:r>
              <a:rPr lang="es-ES" sz="1300" b="0">
                <a:solidFill>
                  <a:schemeClr val="bg1"/>
                </a:solidFill>
              </a:rPr>
              <a:t>Persiste una región roja a la izquierda del coche, más pequeña con aumento.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270818" name="Text 0"/>
          <p:cNvSpPr/>
          <p:nvPr>
            <p:ph type="title" idx="100" hasCustomPrompt="1"/>
          </p:nvPr>
        </p:nvSpPr>
        <p:spPr bwMode="auto"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chemeClr val="bg1"/>
                </a:solidFill>
              </a:rPr>
              <a:t>Qué indican los resultados</a:t>
            </a:r>
            <a:endParaRPr lang="en-US" sz="3600"/>
          </a:p>
        </p:txBody>
      </p:sp>
      <p:sp>
        <p:nvSpPr>
          <p:cNvPr id="2104476427" name="Text 0"/>
          <p:cNvSpPr/>
          <p:nvPr>
            <p:ph type="body" idx="101" hasCustomPrompt="1"/>
          </p:nvPr>
        </p:nvSpPr>
        <p:spPr bwMode="auto"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chemeClr val="accent1"/>
                </a:solidFill>
              </a:rPr>
              <a:t>6.1 · DISCUSIÓN · INTERPRETACIÓN</a:t>
            </a:r>
            <a:endParaRPr lang="en-US" sz="1200"/>
          </a:p>
        </p:txBody>
      </p:sp>
      <p:sp>
        <p:nvSpPr>
          <p:cNvPr id="1310519728" name="Tarjeta interpretación"/>
          <p:cNvSpPr/>
          <p:nvPr/>
        </p:nvSpPr>
        <p:spPr bwMode="auto">
          <a:xfrm>
            <a:off x="548640" y="1645920"/>
            <a:ext cx="5394960" cy="4617720"/>
          </a:xfrm>
          <a:prstGeom prst="roundRect">
            <a:avLst>
              <a:gd name="adj" fmla="val 1980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814430350" name="Rótulo interpretación"/>
          <p:cNvSpPr txBox="1"/>
          <p:nvPr/>
        </p:nvSpPr>
        <p:spPr bwMode="auto">
          <a:xfrm>
            <a:off x="777240" y="1828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chemeClr val="accent1"/>
                </a:solidFill>
              </a:rPr>
              <a:t>LOS CUATRO MODELOS</a:t>
            </a:r>
            <a:endParaRPr lang="en-US" sz="1200"/>
          </a:p>
        </p:txBody>
      </p:sp>
      <p:sp>
        <p:nvSpPr>
          <p:cNvPr id="60789490" name="Texto interpretación"/>
          <p:cNvSpPr txBox="1"/>
          <p:nvPr/>
        </p:nvSpPr>
        <p:spPr bwMode="auto">
          <a:xfrm>
            <a:off x="777240" y="224028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  <a:defRPr/>
            </a:pPr>
            <a:r>
              <a:rPr lang="en-US" sz="1700">
                <a:solidFill>
                  <a:schemeClr val="bg1"/>
                </a:solidFill>
              </a:rPr>
              <a:t>Los cuatro segmentan bien: IoU de 0.8380 a 0.9280 y Dice de 0.9072 a 0.9602 en prueba.</a:t>
            </a:r>
            <a:endParaRPr lang="en-US" sz="1700"/>
          </a:p>
          <a:p>
            <a:pPr marL="342900" indent="-342900">
              <a:spcAft>
                <a:spcPts val="1600"/>
              </a:spcAft>
              <a:buSzPct val="100000"/>
              <a:buChar char="•"/>
              <a:defRPr/>
            </a:pPr>
            <a:r>
              <a:rPr lang="en-US" sz="1700">
                <a:solidFill>
                  <a:schemeClr val="bg1"/>
                </a:solidFill>
              </a:rPr>
              <a:t>Más épocas dio la mayor mejora: 100 épocas sin aumento (0.9199) supera a 10 épocas con aumento (0.8702).</a:t>
            </a:r>
            <a:endParaRPr lang="en-US" sz="1700"/>
          </a:p>
          <a:p>
            <a:pPr marL="342900" indent="-342900">
              <a:spcAft>
                <a:spcPts val="1600"/>
              </a:spcAft>
              <a:buSzPct val="100000"/>
              <a:buChar char="•"/>
              <a:defRPr/>
            </a:pPr>
            <a:r>
              <a:rPr lang="en-US" sz="1700">
                <a:solidFill>
                  <a:schemeClr val="bg1"/>
                </a:solidFill>
              </a:rPr>
              <a:t>El aumento ayuda en ambos casos, pero menos con 100 épocas: +0.032 frente a +0.008.</a:t>
            </a:r>
            <a:endParaRPr lang="en-US" sz="1700"/>
          </a:p>
          <a:p>
            <a:pPr marL="342900" indent="-342900">
              <a:spcAft>
                <a:spcPts val="1600"/>
              </a:spcAft>
              <a:buSzPct val="100000"/>
              <a:buChar char="•"/>
              <a:defRPr/>
            </a:pPr>
            <a:r>
              <a:rPr lang="en-US" sz="1700">
                <a:solidFill>
                  <a:schemeClr val="bg1"/>
                </a:solidFill>
              </a:rPr>
              <a:t>Los errores dominantes son falsos positivos en el suelo </a:t>
            </a:r>
            <a:r>
              <a:rPr lang="es-ES" sz="1700">
                <a:solidFill>
                  <a:schemeClr val="bg1"/>
                </a:solidFill>
              </a:rPr>
              <a:t>(fondo)</a:t>
            </a:r>
            <a:r>
              <a:rPr lang="en-US" sz="1700">
                <a:solidFill>
                  <a:schemeClr val="bg1"/>
                </a:solidFill>
              </a:rPr>
              <a:t>.</a:t>
            </a:r>
            <a:endParaRPr lang="en-US" sz="1700"/>
          </a:p>
        </p:txBody>
      </p:sp>
      <p:sp>
        <p:nvSpPr>
          <p:cNvPr id="716308411" name="Tarjeta aumento"/>
          <p:cNvSpPr/>
          <p:nvPr/>
        </p:nvSpPr>
        <p:spPr bwMode="auto">
          <a:xfrm>
            <a:off x="6217920" y="1645920"/>
            <a:ext cx="5422392" cy="4617720"/>
          </a:xfrm>
          <a:prstGeom prst="roundRect">
            <a:avLst>
              <a:gd name="adj" fmla="val 1980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943321423" name="Rótulo aumento"/>
          <p:cNvSpPr txBox="1"/>
          <p:nvPr/>
        </p:nvSpPr>
        <p:spPr bwMode="auto">
          <a:xfrm>
            <a:off x="6446520" y="1828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chemeClr val="accent1"/>
                </a:solidFill>
              </a:rPr>
              <a:t>¿QUÉ SE PUEDE AFIRMAR?</a:t>
            </a:r>
            <a:endParaRPr lang="en-US" sz="1200"/>
          </a:p>
        </p:txBody>
      </p:sp>
      <p:sp>
        <p:nvSpPr>
          <p:cNvPr id="308416624" name="Bloque sustentado"/>
          <p:cNvSpPr/>
          <p:nvPr/>
        </p:nvSpPr>
        <p:spPr bwMode="auto">
          <a:xfrm>
            <a:off x="6446520" y="2240280"/>
            <a:ext cx="4965192" cy="160020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056242306" name="Texto sustentado"/>
          <p:cNvSpPr txBox="1"/>
          <p:nvPr/>
        </p:nvSpPr>
        <p:spPr bwMode="auto">
          <a:xfrm>
            <a:off x="6675120" y="233172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  <a:defRPr/>
            </a:pPr>
            <a:r>
              <a:rPr lang="en-US" sz="1500" b="1">
                <a:solidFill>
                  <a:schemeClr val="accent1"/>
                </a:solidFill>
              </a:rPr>
              <a:t>Sustentado</a:t>
            </a:r>
            <a:r>
              <a:rPr lang="es-ES" sz="1500" b="1">
                <a:solidFill>
                  <a:schemeClr val="accent1"/>
                </a:solidFill>
              </a:rPr>
              <a:t>:</a:t>
            </a:r>
            <a:endParaRPr lang="en-US" sz="1400"/>
          </a:p>
          <a:p>
            <a:pPr marL="0" indent="0" algn="just">
              <a:spcAft>
                <a:spcPts val="300"/>
              </a:spcAft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El mejor modelo (100 épocas + aumento) obtiene los mejores promedios en 75 imágenes de prueba.</a:t>
            </a:r>
            <a:endParaRPr lang="en-US" sz="1400"/>
          </a:p>
        </p:txBody>
      </p:sp>
      <p:sp>
        <p:nvSpPr>
          <p:cNvPr id="1770173296" name="Bloque pendiente"/>
          <p:cNvSpPr/>
          <p:nvPr/>
        </p:nvSpPr>
        <p:spPr bwMode="auto">
          <a:xfrm>
            <a:off x="6446520" y="4274820"/>
            <a:ext cx="4965192" cy="160020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885233395" name="Texto pendiente"/>
          <p:cNvSpPr txBox="1"/>
          <p:nvPr/>
        </p:nvSpPr>
        <p:spPr bwMode="auto">
          <a:xfrm>
            <a:off x="6675120" y="427482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  <a:defRPr/>
            </a:pPr>
            <a:r>
              <a:rPr lang="es-ES" sz="1500" b="1">
                <a:solidFill>
                  <a:schemeClr val="accent4"/>
                </a:solidFill>
              </a:rPr>
              <a:t>Considerando que:</a:t>
            </a:r>
            <a:endParaRPr lang="en-US" sz="1400"/>
          </a:p>
          <a:p>
            <a:pPr marL="0" indent="0" algn="just">
              <a:spcAft>
                <a:spcPts val="300"/>
              </a:spcAft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La ganancia del aumento a 100 épocas (+0.008) es pequeña y cada modelo se entrenó una sola vez.</a:t>
            </a:r>
            <a:endParaRPr lang="en-US" sz="1400"/>
          </a:p>
        </p:txBody>
      </p:sp>
      <p:sp>
        <p:nvSpPr>
          <p:cNvPr id="1888412804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190477" name="Text 0"/>
          <p:cNvSpPr/>
          <p:nvPr>
            <p:ph type="title" idx="100" hasCustomPrompt="1"/>
          </p:nvPr>
        </p:nvSpPr>
        <p:spPr bwMode="auto"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chemeClr val="bg1"/>
                </a:solidFill>
              </a:rPr>
              <a:t>Limitaciones y trabajo futuro</a:t>
            </a:r>
            <a:endParaRPr lang="en-US" sz="3600"/>
          </a:p>
        </p:txBody>
      </p:sp>
      <p:sp>
        <p:nvSpPr>
          <p:cNvPr id="2108614469" name="Text 0"/>
          <p:cNvSpPr/>
          <p:nvPr>
            <p:ph type="body" idx="101" hasCustomPrompt="1"/>
          </p:nvPr>
        </p:nvSpPr>
        <p:spPr bwMode="auto"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chemeClr val="accent1"/>
                </a:solidFill>
              </a:rPr>
              <a:t>6.2 · DISCUSIÓN · LIMITACIONES Y TRABAJO FUTURO</a:t>
            </a:r>
            <a:endParaRPr lang="en-US" sz="1200"/>
          </a:p>
        </p:txBody>
      </p:sp>
      <p:sp>
        <p:nvSpPr>
          <p:cNvPr id="1561937146" name="Rótulo limitaciones"/>
          <p:cNvSpPr txBox="1"/>
          <p:nvPr/>
        </p:nvSpPr>
        <p:spPr bwMode="auto">
          <a:xfrm>
            <a:off x="548640" y="1645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chemeClr val="accent2"/>
                </a:solidFill>
              </a:rPr>
              <a:t>LIMITACIONES</a:t>
            </a:r>
            <a:endParaRPr lang="en-US" sz="1200"/>
          </a:p>
        </p:txBody>
      </p:sp>
      <p:sp>
        <p:nvSpPr>
          <p:cNvPr id="1753982086" name="Tarjeta Tamaño del dataset"/>
          <p:cNvSpPr/>
          <p:nvPr/>
        </p:nvSpPr>
        <p:spPr bwMode="auto">
          <a:xfrm>
            <a:off x="548640" y="2011680"/>
            <a:ext cx="310896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858619763" name="Título Tamaño del dataset"/>
          <p:cNvSpPr txBox="1"/>
          <p:nvPr/>
        </p:nvSpPr>
        <p:spPr bwMode="auto">
          <a:xfrm>
            <a:off x="731520" y="2121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Tamaño del dataset</a:t>
            </a:r>
            <a:endParaRPr lang="en-US" sz="1500"/>
          </a:p>
        </p:txBody>
      </p:sp>
      <p:sp>
        <p:nvSpPr>
          <p:cNvPr id="621592375" name="Texto Tamaño del dataset"/>
          <p:cNvSpPr txBox="1"/>
          <p:nvPr/>
        </p:nvSpPr>
        <p:spPr bwMode="auto">
          <a:xfrm>
            <a:off x="731520" y="245059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500 imágenes no cubren toda la variación de luz, clima, distancia y oclusión.</a:t>
            </a:r>
            <a:endParaRPr lang="en-US" sz="1300"/>
          </a:p>
        </p:txBody>
      </p:sp>
      <p:sp>
        <p:nvSpPr>
          <p:cNvPr id="1336567924" name="Tarjeta Etiquetas manuales"/>
          <p:cNvSpPr/>
          <p:nvPr/>
        </p:nvSpPr>
        <p:spPr bwMode="auto">
          <a:xfrm>
            <a:off x="3840480" y="2011680"/>
            <a:ext cx="310896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726188201" name="Título Etiquetas manuales"/>
          <p:cNvSpPr txBox="1"/>
          <p:nvPr/>
        </p:nvSpPr>
        <p:spPr bwMode="auto">
          <a:xfrm>
            <a:off x="4023360" y="2121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s-ES" sz="1500" b="1">
                <a:solidFill>
                  <a:schemeClr val="bg1"/>
                </a:solidFill>
              </a:rPr>
              <a:t>Entrenamiento</a:t>
            </a:r>
            <a:endParaRPr lang="en-US" sz="1500"/>
          </a:p>
        </p:txBody>
      </p:sp>
      <p:sp>
        <p:nvSpPr>
          <p:cNvPr id="1256272362" name="Texto Etiquetas manuales"/>
          <p:cNvSpPr txBox="1"/>
          <p:nvPr/>
        </p:nvSpPr>
        <p:spPr bwMode="auto">
          <a:xfrm>
            <a:off x="4023360" y="245059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s-ES" sz="1300">
                <a:solidFill>
                  <a:schemeClr val="bg2"/>
                </a:solidFill>
              </a:rPr>
              <a:t>Entrenamiento en CPU mayor tiempo de entrenamiento y menor tiempo de experimentación.</a:t>
            </a:r>
            <a:endParaRPr lang="en-US" sz="1300"/>
          </a:p>
        </p:txBody>
      </p:sp>
      <p:sp>
        <p:nvSpPr>
          <p:cNvPr id="1285824148" name="Tarjeta Resolución 256×256"/>
          <p:cNvSpPr/>
          <p:nvPr/>
        </p:nvSpPr>
        <p:spPr bwMode="auto">
          <a:xfrm>
            <a:off x="548640" y="3429000"/>
            <a:ext cx="310896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856096319" name="Título Resolución 256×256"/>
          <p:cNvSpPr txBox="1"/>
          <p:nvPr/>
        </p:nvSpPr>
        <p:spPr bwMode="auto">
          <a:xfrm>
            <a:off x="731520" y="3538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Resolución 256×256</a:t>
            </a:r>
            <a:endParaRPr lang="en-US" sz="1500"/>
          </a:p>
        </p:txBody>
      </p:sp>
      <p:sp>
        <p:nvSpPr>
          <p:cNvPr id="1454626915" name="Texto Resolución 256×256"/>
          <p:cNvSpPr txBox="1"/>
          <p:nvPr/>
        </p:nvSpPr>
        <p:spPr bwMode="auto">
          <a:xfrm>
            <a:off x="731520" y="3867911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Limita los detalles finos que la red puede conservar.</a:t>
            </a:r>
            <a:endParaRPr lang="en-US" sz="1300"/>
          </a:p>
        </p:txBody>
      </p:sp>
      <p:sp>
        <p:nvSpPr>
          <p:cNvPr id="2142130013" name="Tarjeta Solo binaria"/>
          <p:cNvSpPr/>
          <p:nvPr/>
        </p:nvSpPr>
        <p:spPr bwMode="auto">
          <a:xfrm>
            <a:off x="3840480" y="3429000"/>
            <a:ext cx="310896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734402233" name="Título Solo binaria"/>
          <p:cNvSpPr txBox="1"/>
          <p:nvPr/>
        </p:nvSpPr>
        <p:spPr bwMode="auto">
          <a:xfrm>
            <a:off x="4023360" y="3538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Solo binaria</a:t>
            </a:r>
            <a:endParaRPr lang="en-US" sz="1500"/>
          </a:p>
        </p:txBody>
      </p:sp>
      <p:sp>
        <p:nvSpPr>
          <p:cNvPr id="970559589" name="Texto Solo binaria"/>
          <p:cNvSpPr txBox="1"/>
          <p:nvPr/>
        </p:nvSpPr>
        <p:spPr bwMode="auto">
          <a:xfrm>
            <a:off x="4023360" y="3867911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No separa instancias: dos coches que se tocan forman una región.</a:t>
            </a:r>
            <a:endParaRPr lang="en-US" sz="1300"/>
          </a:p>
        </p:txBody>
      </p:sp>
      <p:sp>
        <p:nvSpPr>
          <p:cNvPr id="346256495" name="Tarjeta Conjunto de prueba"/>
          <p:cNvSpPr/>
          <p:nvPr/>
        </p:nvSpPr>
        <p:spPr bwMode="auto">
          <a:xfrm>
            <a:off x="548640" y="4846320"/>
            <a:ext cx="310896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985268954" name="Título Conjunto de prueba"/>
          <p:cNvSpPr txBox="1"/>
          <p:nvPr/>
        </p:nvSpPr>
        <p:spPr bwMode="auto">
          <a:xfrm>
            <a:off x="731520" y="4956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Conjunto de prueba</a:t>
            </a:r>
            <a:endParaRPr lang="en-US" sz="1500"/>
          </a:p>
        </p:txBody>
      </p:sp>
      <p:sp>
        <p:nvSpPr>
          <p:cNvPr id="1580920900" name="Texto Conjunto de prueba"/>
          <p:cNvSpPr txBox="1"/>
          <p:nvPr/>
        </p:nvSpPr>
        <p:spPr bwMode="auto">
          <a:xfrm>
            <a:off x="731520" y="528523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s-ES" sz="1300">
                <a:solidFill>
                  <a:schemeClr val="bg2"/>
                </a:solidFill>
              </a:rPr>
              <a:t>No se hizo prueba en un entorno de uso real</a:t>
            </a:r>
            <a:endParaRPr lang="en-US" sz="1300"/>
          </a:p>
        </p:txBody>
      </p:sp>
      <p:sp>
        <p:nvSpPr>
          <p:cNvPr id="1610872203" name="Tarjeta Alcance limitado"/>
          <p:cNvSpPr/>
          <p:nvPr/>
        </p:nvSpPr>
        <p:spPr bwMode="auto">
          <a:xfrm>
            <a:off x="3840480" y="4846320"/>
            <a:ext cx="310896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655274435" name="Título Alcance limitado"/>
          <p:cNvSpPr txBox="1"/>
          <p:nvPr/>
        </p:nvSpPr>
        <p:spPr bwMode="auto">
          <a:xfrm>
            <a:off x="4023360" y="4956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Una ejecución por modelo</a:t>
            </a:r>
            <a:endParaRPr lang="en-US" sz="1500"/>
          </a:p>
        </p:txBody>
      </p:sp>
      <p:sp>
        <p:nvSpPr>
          <p:cNvPr id="1118150508" name="Texto Alcance limitado"/>
          <p:cNvSpPr txBox="1"/>
          <p:nvPr/>
        </p:nvSpPr>
        <p:spPr bwMode="auto">
          <a:xfrm>
            <a:off x="4023360" y="528523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No se mide la variabilidad entre ejecuciones ni se prueba que sea la mejor arquitectura.</a:t>
            </a:r>
            <a:endParaRPr lang="en-US" sz="1300"/>
          </a:p>
        </p:txBody>
      </p:sp>
      <p:sp>
        <p:nvSpPr>
          <p:cNvPr id="1061401065" name="Rótulo futuro"/>
          <p:cNvSpPr txBox="1"/>
          <p:nvPr/>
        </p:nvSpPr>
        <p:spPr bwMode="auto">
          <a:xfrm>
            <a:off x="7406640" y="16459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chemeClr val="accent1"/>
                </a:solidFill>
              </a:rPr>
              <a:t>TRABAJO FUTURO</a:t>
            </a:r>
            <a:endParaRPr lang="en-US" sz="1200"/>
          </a:p>
        </p:txBody>
      </p:sp>
      <p:sp>
        <p:nvSpPr>
          <p:cNvPr id="67330846" name="Tarjeta futuro 1"/>
          <p:cNvSpPr/>
          <p:nvPr/>
        </p:nvSpPr>
        <p:spPr bwMode="auto">
          <a:xfrm>
            <a:off x="7406640" y="2011680"/>
            <a:ext cx="4233672" cy="73152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827859202" name="Futuro 1"/>
          <p:cNvSpPr txBox="1"/>
          <p:nvPr/>
        </p:nvSpPr>
        <p:spPr bwMode="auto">
          <a:xfrm>
            <a:off x="7589520" y="201168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Repetir los entrenamientos con distintas semillas.</a:t>
            </a:r>
            <a:endParaRPr lang="en-US" sz="1400"/>
          </a:p>
        </p:txBody>
      </p:sp>
      <p:sp>
        <p:nvSpPr>
          <p:cNvPr id="48228156" name="Tarjeta futuro 2"/>
          <p:cNvSpPr/>
          <p:nvPr/>
        </p:nvSpPr>
        <p:spPr bwMode="auto">
          <a:xfrm>
            <a:off x="7406640" y="2862072"/>
            <a:ext cx="4233672" cy="73152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711442137" name="Futuro 2"/>
          <p:cNvSpPr txBox="1"/>
          <p:nvPr/>
        </p:nvSpPr>
        <p:spPr bwMode="auto">
          <a:xfrm>
            <a:off x="7589520" y="286207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s-ES" sz="1400">
                <a:solidFill>
                  <a:schemeClr val="bg1"/>
                </a:solidFill>
              </a:rPr>
              <a:t>Implementar entrenamiento en GPU.</a:t>
            </a:r>
            <a:endParaRPr lang="en-US" sz="1400"/>
          </a:p>
        </p:txBody>
      </p:sp>
      <p:sp>
        <p:nvSpPr>
          <p:cNvPr id="1376892420" name="Tarjeta futuro 3"/>
          <p:cNvSpPr/>
          <p:nvPr/>
        </p:nvSpPr>
        <p:spPr bwMode="auto">
          <a:xfrm>
            <a:off x="7406640" y="3712464"/>
            <a:ext cx="4233672" cy="73152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907685643" name="Futuro 3"/>
          <p:cNvSpPr txBox="1"/>
          <p:nvPr/>
        </p:nvSpPr>
        <p:spPr bwMode="auto">
          <a:xfrm>
            <a:off x="7589520" y="3712464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Variar resolución y tamaño de lote; probar épocas intermedias.</a:t>
            </a:r>
            <a:endParaRPr lang="en-US" sz="1400"/>
          </a:p>
        </p:txBody>
      </p:sp>
      <p:sp>
        <p:nvSpPr>
          <p:cNvPr id="723120800" name="Tarjeta futuro 4"/>
          <p:cNvSpPr/>
          <p:nvPr/>
        </p:nvSpPr>
        <p:spPr bwMode="auto">
          <a:xfrm>
            <a:off x="7406640" y="4562856"/>
            <a:ext cx="4233672" cy="73152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531320899" name="Futuro 4"/>
          <p:cNvSpPr txBox="1"/>
          <p:nvPr/>
        </p:nvSpPr>
        <p:spPr bwMode="auto">
          <a:xfrm>
            <a:off x="7589520" y="4562856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Analizar por tamaño, visibilidad y distancia del coche.</a:t>
            </a:r>
            <a:endParaRPr lang="en-US" sz="1400"/>
          </a:p>
        </p:txBody>
      </p:sp>
      <p:sp>
        <p:nvSpPr>
          <p:cNvPr id="303459558" name="Tarjeta futuro 5"/>
          <p:cNvSpPr/>
          <p:nvPr/>
        </p:nvSpPr>
        <p:spPr bwMode="auto">
          <a:xfrm>
            <a:off x="7406640" y="5413248"/>
            <a:ext cx="4233672" cy="73152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369112477" name="Futuro 5"/>
          <p:cNvSpPr txBox="1"/>
          <p:nvPr/>
        </p:nvSpPr>
        <p:spPr bwMode="auto">
          <a:xfrm>
            <a:off x="7589520" y="541324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Probar imágenes externas para medir la generalización.</a:t>
            </a:r>
            <a:endParaRPr lang="en-US" sz="1400"/>
          </a:p>
        </p:txBody>
      </p:sp>
      <p:sp>
        <p:nvSpPr>
          <p:cNvPr id="357612345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77038" name="Text 0"/>
          <p:cNvSpPr/>
          <p:nvPr>
            <p:ph type="title" idx="100" hasCustomPrompt="1"/>
          </p:nvPr>
        </p:nvSpPr>
        <p:spPr bwMode="auto"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chemeClr val="bg1"/>
                </a:solidFill>
              </a:rPr>
              <a:t>Conclusión</a:t>
            </a:r>
            <a:endParaRPr lang="en-US" sz="3600"/>
          </a:p>
        </p:txBody>
      </p:sp>
      <p:sp>
        <p:nvSpPr>
          <p:cNvPr id="688148814" name="Text 0"/>
          <p:cNvSpPr/>
          <p:nvPr>
            <p:ph type="body" idx="101" hasCustomPrompt="1"/>
          </p:nvPr>
        </p:nvSpPr>
        <p:spPr bwMode="auto"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chemeClr val="accent1"/>
                </a:solidFill>
              </a:rPr>
              <a:t>6.3 · DISCUSIÓN · CONCLUSIÓN</a:t>
            </a:r>
            <a:endParaRPr lang="en-US" sz="1200"/>
          </a:p>
        </p:txBody>
      </p:sp>
      <p:sp>
        <p:nvSpPr>
          <p:cNvPr id="221245415" name="Mensaje principal"/>
          <p:cNvSpPr txBox="1"/>
          <p:nvPr/>
        </p:nvSpPr>
        <p:spPr bwMode="auto">
          <a:xfrm>
            <a:off x="548640" y="169164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26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Una U-Net propia en PyTorch segmenta coches con buena calidad: IoU 0.9280 y Dice 0.9602 en prueba con 100 épocas y aumento</a:t>
            </a:r>
            <a:r>
              <a:rPr lang="es-ES" sz="26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,</a:t>
            </a:r>
            <a:r>
              <a:rPr lang="es-ES" sz="2600"/>
              <a:t> </a:t>
            </a:r>
            <a:r>
              <a:rPr lang="es-ES" sz="2600">
                <a:solidFill>
                  <a:schemeClr val="bg1"/>
                </a:solidFill>
              </a:rPr>
              <a:t>Mejor modelo.</a:t>
            </a:r>
            <a:endParaRPr sz="2600">
              <a:solidFill>
                <a:schemeClr val="bg1"/>
              </a:solidFill>
            </a:endParaRPr>
          </a:p>
        </p:txBody>
      </p:sp>
      <p:sp>
        <p:nvSpPr>
          <p:cNvPr id="1454208681" name="Texto Implementación"/>
          <p:cNvSpPr txBox="1"/>
          <p:nvPr/>
        </p:nvSpPr>
        <p:spPr bwMode="auto">
          <a:xfrm>
            <a:off x="548640" y="356616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bg1"/>
                </a:solidFill>
              </a:rPr>
              <a:t>Implementación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1.94 M de parámetros, entrenada con 350 imágenes en cuatro variantes.</a:t>
            </a:r>
            <a:endParaRPr lang="en-US" sz="1400"/>
          </a:p>
        </p:txBody>
      </p:sp>
      <p:sp>
        <p:nvSpPr>
          <p:cNvPr id="239850307" name="Texto Evaluación"/>
          <p:cNvSpPr txBox="1"/>
          <p:nvPr/>
        </p:nvSpPr>
        <p:spPr bwMode="auto">
          <a:xfrm>
            <a:off x="548640" y="448056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bg1"/>
                </a:solidFill>
              </a:rPr>
              <a:t>Evaluación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IoU y Dice en 75 imágenes de prueba e inspección visual de errores (TP, FP, FN).</a:t>
            </a:r>
            <a:endParaRPr lang="en-US" sz="1400"/>
          </a:p>
        </p:txBody>
      </p:sp>
      <p:sp>
        <p:nvSpPr>
          <p:cNvPr id="701822636" name="Texto Siguiente paso"/>
          <p:cNvSpPr txBox="1"/>
          <p:nvPr/>
        </p:nvSpPr>
        <p:spPr bwMode="auto">
          <a:xfrm>
            <a:off x="548640" y="539496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bg1"/>
                </a:solidFill>
              </a:rPr>
              <a:t>Siguiente paso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Repetir con distintas semillas y probar con imágenes externas.</a:t>
            </a:r>
            <a:endParaRPr lang="en-US" sz="1400"/>
          </a:p>
        </p:txBody>
      </p:sp>
      <p:sp>
        <p:nvSpPr>
          <p:cNvPr id="235262420" name="Mapa de características 1"/>
          <p:cNvSpPr/>
          <p:nvPr/>
        </p:nvSpPr>
        <p:spPr bwMode="auto">
          <a:xfrm>
            <a:off x="7818120" y="2377440"/>
            <a:ext cx="335280" cy="3108960"/>
          </a:xfrm>
          <a:prstGeom prst="roundRect">
            <a:avLst>
              <a:gd name="adj" fmla="val 13636"/>
            </a:avLst>
          </a:prstGeom>
          <a:solidFill>
            <a:srgbClr val="2A2D31"/>
          </a:solidFill>
          <a:ln/>
        </p:spPr>
      </p:sp>
      <p:sp>
        <p:nvSpPr>
          <p:cNvPr id="1491087334" name="Mapa de características 2"/>
          <p:cNvSpPr/>
          <p:nvPr/>
        </p:nvSpPr>
        <p:spPr bwMode="auto">
          <a:xfrm>
            <a:off x="8253984" y="2688336"/>
            <a:ext cx="335280" cy="2487168"/>
          </a:xfrm>
          <a:prstGeom prst="roundRect">
            <a:avLst>
              <a:gd name="adj" fmla="val 13636"/>
            </a:avLst>
          </a:prstGeom>
          <a:solidFill>
            <a:srgbClr val="2A2D31"/>
          </a:solidFill>
          <a:ln/>
        </p:spPr>
      </p:sp>
      <p:sp>
        <p:nvSpPr>
          <p:cNvPr id="426612327" name="Mapa de características 3"/>
          <p:cNvSpPr/>
          <p:nvPr/>
        </p:nvSpPr>
        <p:spPr bwMode="auto">
          <a:xfrm>
            <a:off x="8689848" y="2999232"/>
            <a:ext cx="335280" cy="1865376"/>
          </a:xfrm>
          <a:prstGeom prst="roundRect">
            <a:avLst>
              <a:gd name="adj" fmla="val 13636"/>
            </a:avLst>
          </a:prstGeom>
          <a:solidFill>
            <a:srgbClr val="2A2D31"/>
          </a:solidFill>
          <a:ln/>
        </p:spPr>
      </p:sp>
      <p:sp>
        <p:nvSpPr>
          <p:cNvPr id="2002651655" name="Mapa de características 4"/>
          <p:cNvSpPr/>
          <p:nvPr/>
        </p:nvSpPr>
        <p:spPr bwMode="auto">
          <a:xfrm>
            <a:off x="9125712" y="3310127"/>
            <a:ext cx="335280" cy="1243584"/>
          </a:xfrm>
          <a:prstGeom prst="roundRect">
            <a:avLst>
              <a:gd name="adj" fmla="val 13636"/>
            </a:avLst>
          </a:prstGeom>
          <a:solidFill>
            <a:srgbClr val="2A2D31"/>
          </a:solidFill>
          <a:ln/>
        </p:spPr>
      </p:sp>
      <p:sp>
        <p:nvSpPr>
          <p:cNvPr id="1034478116" name="Mapa de características 5"/>
          <p:cNvSpPr/>
          <p:nvPr/>
        </p:nvSpPr>
        <p:spPr bwMode="auto">
          <a:xfrm>
            <a:off x="9561576" y="3582161"/>
            <a:ext cx="335280" cy="699516"/>
          </a:xfrm>
          <a:prstGeom prst="roundRect">
            <a:avLst>
              <a:gd name="adj" fmla="val 13636"/>
            </a:avLst>
          </a:prstGeom>
          <a:solidFill>
            <a:srgbClr val="5E6269"/>
          </a:solidFill>
          <a:ln/>
        </p:spPr>
      </p:sp>
      <p:sp>
        <p:nvSpPr>
          <p:cNvPr id="1183303472" name="Mapa de características 6"/>
          <p:cNvSpPr/>
          <p:nvPr/>
        </p:nvSpPr>
        <p:spPr bwMode="auto">
          <a:xfrm>
            <a:off x="9997440" y="3310127"/>
            <a:ext cx="335280" cy="1243584"/>
          </a:xfrm>
          <a:prstGeom prst="roundRect">
            <a:avLst>
              <a:gd name="adj" fmla="val 13636"/>
            </a:avLst>
          </a:prstGeom>
          <a:solidFill>
            <a:srgbClr val="A39D8E"/>
          </a:solidFill>
          <a:ln/>
        </p:spPr>
      </p:sp>
      <p:sp>
        <p:nvSpPr>
          <p:cNvPr id="906414088" name="Mapa de características 7"/>
          <p:cNvSpPr/>
          <p:nvPr/>
        </p:nvSpPr>
        <p:spPr bwMode="auto">
          <a:xfrm>
            <a:off x="10433304" y="2999232"/>
            <a:ext cx="335280" cy="1865376"/>
          </a:xfrm>
          <a:prstGeom prst="roundRect">
            <a:avLst>
              <a:gd name="adj" fmla="val 13636"/>
            </a:avLst>
          </a:prstGeom>
          <a:solidFill>
            <a:srgbClr val="A39D8E"/>
          </a:solidFill>
          <a:ln/>
        </p:spPr>
      </p:sp>
      <p:sp>
        <p:nvSpPr>
          <p:cNvPr id="1371237301" name="Mapa de características 8"/>
          <p:cNvSpPr/>
          <p:nvPr/>
        </p:nvSpPr>
        <p:spPr bwMode="auto">
          <a:xfrm>
            <a:off x="10869168" y="2688336"/>
            <a:ext cx="335280" cy="2487168"/>
          </a:xfrm>
          <a:prstGeom prst="roundRect">
            <a:avLst>
              <a:gd name="adj" fmla="val 13636"/>
            </a:avLst>
          </a:prstGeom>
          <a:solidFill>
            <a:srgbClr val="A39D8E"/>
          </a:solidFill>
          <a:ln/>
        </p:spPr>
      </p:sp>
      <p:sp>
        <p:nvSpPr>
          <p:cNvPr id="2093235435" name="Mapa de características 9"/>
          <p:cNvSpPr/>
          <p:nvPr/>
        </p:nvSpPr>
        <p:spPr bwMode="auto">
          <a:xfrm>
            <a:off x="11305032" y="2377440"/>
            <a:ext cx="335280" cy="3108960"/>
          </a:xfrm>
          <a:prstGeom prst="roundRect">
            <a:avLst>
              <a:gd name="adj" fmla="val 13636"/>
            </a:avLst>
          </a:prstGeom>
          <a:solidFill>
            <a:srgbClr val="A39D8E"/>
          </a:solidFill>
          <a:ln/>
        </p:spPr>
      </p:sp>
      <p:sp>
        <p:nvSpPr>
          <p:cNvPr id="135060745" name="Skip connection 1"/>
          <p:cNvSpPr/>
          <p:nvPr/>
        </p:nvSpPr>
        <p:spPr bwMode="auto">
          <a:xfrm>
            <a:off x="8208264" y="2249424"/>
            <a:ext cx="3041904" cy="0"/>
          </a:xfrm>
          <a:prstGeom prst="line">
            <a:avLst/>
          </a:prstGeom>
          <a:noFill/>
          <a:ln w="19050">
            <a:solidFill>
              <a:srgbClr val="5E6269"/>
            </a:solidFill>
            <a:prstDash val="dash"/>
          </a:ln>
        </p:spPr>
      </p:sp>
      <p:sp>
        <p:nvSpPr>
          <p:cNvPr id="224127989" name="Skip connection 2"/>
          <p:cNvSpPr/>
          <p:nvPr/>
        </p:nvSpPr>
        <p:spPr bwMode="auto">
          <a:xfrm>
            <a:off x="8644128" y="2560320"/>
            <a:ext cx="2170176" cy="0"/>
          </a:xfrm>
          <a:prstGeom prst="line">
            <a:avLst/>
          </a:prstGeom>
          <a:noFill/>
          <a:ln w="19050">
            <a:solidFill>
              <a:srgbClr val="5E6269"/>
            </a:solidFill>
            <a:prstDash val="dash"/>
          </a:ln>
        </p:spPr>
      </p:sp>
      <p:sp>
        <p:nvSpPr>
          <p:cNvPr id="705962453" name="Skip connection 3"/>
          <p:cNvSpPr/>
          <p:nvPr/>
        </p:nvSpPr>
        <p:spPr bwMode="auto">
          <a:xfrm>
            <a:off x="9079992" y="2871216"/>
            <a:ext cx="1298448" cy="0"/>
          </a:xfrm>
          <a:prstGeom prst="line">
            <a:avLst/>
          </a:prstGeom>
          <a:noFill/>
          <a:ln w="19050">
            <a:solidFill>
              <a:srgbClr val="5E6269"/>
            </a:solidFill>
            <a:prstDash val="dash"/>
          </a:ln>
        </p:spPr>
      </p:sp>
      <p:sp>
        <p:nvSpPr>
          <p:cNvPr id="948444844" name="Skip connection 4"/>
          <p:cNvSpPr/>
          <p:nvPr/>
        </p:nvSpPr>
        <p:spPr bwMode="auto">
          <a:xfrm>
            <a:off x="9515856" y="3182112"/>
            <a:ext cx="426720" cy="0"/>
          </a:xfrm>
          <a:prstGeom prst="line">
            <a:avLst/>
          </a:prstGeom>
          <a:noFill/>
          <a:ln w="19050">
            <a:solidFill>
              <a:srgbClr val="5E6269"/>
            </a:solidFill>
            <a:prstDash val="dash"/>
          </a:ln>
        </p:spPr>
      </p:sp>
      <p:sp>
        <p:nvSpPr>
          <p:cNvPr id="22045105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069858" name="Text 0"/>
          <p:cNvSpPr/>
          <p:nvPr>
            <p:ph type="title" idx="100" hasCustomPrompt="1"/>
          </p:nvPr>
        </p:nvSpPr>
        <p:spPr bwMode="auto"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chemeClr val="bg1"/>
                </a:solidFill>
              </a:rPr>
              <a:t>Referencias bibliográficas</a:t>
            </a:r>
            <a:endParaRPr lang="en-US" sz="3600"/>
          </a:p>
        </p:txBody>
      </p:sp>
      <p:sp>
        <p:nvSpPr>
          <p:cNvPr id="426416710" name="Text 0"/>
          <p:cNvSpPr/>
          <p:nvPr>
            <p:ph type="body" idx="101" hasCustomPrompt="1"/>
          </p:nvPr>
        </p:nvSpPr>
        <p:spPr bwMode="auto"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chemeClr val="accent1"/>
                </a:solidFill>
              </a:rPr>
              <a:t>7 · REFERENCIAS</a:t>
            </a:r>
            <a:endParaRPr lang="en-US" sz="1200"/>
          </a:p>
        </p:txBody>
      </p:sp>
      <p:sp>
        <p:nvSpPr>
          <p:cNvPr id="593341000" name="Tarjeta referencias"/>
          <p:cNvSpPr/>
          <p:nvPr/>
        </p:nvSpPr>
        <p:spPr bwMode="auto">
          <a:xfrm>
            <a:off x="548640" y="1645920"/>
            <a:ext cx="11091672" cy="4617720"/>
          </a:xfrm>
          <a:prstGeom prst="roundRect">
            <a:avLst>
              <a:gd name="adj" fmla="val 1980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243800713" name="Texto referencias"/>
          <p:cNvSpPr txBox="1"/>
          <p:nvPr/>
        </p:nvSpPr>
        <p:spPr bwMode="auto">
          <a:xfrm>
            <a:off x="822960" y="1874520"/>
            <a:ext cx="1056132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[1] Ronneberger, O., Fischer, P., &amp; Brox, T. (2015). U-Net: Convolutional Networks for Biomedical Image Segmentation. MICCAI 2015 (pp. 234–241). Springer. https://doi.org/10.1007/978-3-319-24574-4_28</a:t>
            </a:r>
            <a:endParaRPr lang="en-US" sz="1400"/>
          </a:p>
          <a:p>
            <a:pPr marL="0" indent="0">
              <a:spcAft>
                <a:spcPts val="1200"/>
              </a:spcAft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[2] Shorten, C., &amp; Khoshgoftaar, T. M. (2019). A survey on Image Data Augmentation for Deep Learning. Journal of Big Data, 6, 60. https://doi.org/10.1186/s40537-019-0197-0</a:t>
            </a:r>
            <a:endParaRPr lang="en-US" sz="1400"/>
          </a:p>
          <a:p>
            <a:pPr marL="0" indent="0">
              <a:spcAft>
                <a:spcPts val="1200"/>
              </a:spcAft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[3] Kingma, D. P., &amp; Ba, J. (2015). Adam: A Method for Stochastic Optimization. ICLR. https://arxiv.org/abs/1412.6980</a:t>
            </a:r>
            <a:endParaRPr lang="en-US" sz="1400"/>
          </a:p>
          <a:p>
            <a:pPr marL="0" indent="0">
              <a:spcAft>
                <a:spcPts val="1200"/>
              </a:spcAft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[4] Russell, B. C., Torralba, A., Murphy, K. P., &amp; Freeman, W. T. (2008). LabelMe: A Database and Web-Based Tool for Image Annotation. IJCV, 77, 157–173. https://doi.org/10.1007/s11263-007-0090-8</a:t>
            </a:r>
            <a:endParaRPr lang="en-US" sz="1400"/>
          </a:p>
          <a:p>
            <a:pPr marL="0" indent="0">
              <a:spcAft>
                <a:spcPts val="1200"/>
              </a:spcAft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[5] PyTorch. BCEWithLogitsLoss — PyTorch documentation. https://docs.pytorch.org/docs/stable/generated/torch.nn.BCEWithLogitsLoss.html</a:t>
            </a:r>
            <a:endParaRPr lang="en-US" sz="1400"/>
          </a:p>
          <a:p>
            <a:pPr marL="0" indent="0">
              <a:spcAft>
                <a:spcPts val="1200"/>
              </a:spcAft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[6] PyTorch. ConvTranspose2d — PyTorch documentation. https://docs.pytorch.org/docs/stable/generated/torch.nn.ConvTranspose2d.html</a:t>
            </a:r>
            <a:endParaRPr lang="en-US" sz="1400"/>
          </a:p>
          <a:p>
            <a:pPr marL="0" indent="0">
              <a:spcAft>
                <a:spcPts val="1200"/>
              </a:spcAft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[7] scikit-learn Developers. jaccard_score — scikit-learn documentation. https://scikit-learn.org/stable/modules/generated/sklearn.metrics.jaccard_score.html</a:t>
            </a:r>
            <a:endParaRPr lang="en-US" sz="1400"/>
          </a:p>
          <a:p>
            <a:pPr marL="0" indent="0">
              <a:spcAft>
                <a:spcPts val="1200"/>
              </a:spcAft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[8] PyTorch. Datasets &amp; DataLoaders — PyTorch Tutorials. https://docs.pytorch.org/tutorials/beginner/basics/data_tutorial.html</a:t>
            </a:r>
            <a:endParaRPr lang="en-US" sz="1400"/>
          </a:p>
        </p:txBody>
      </p:sp>
      <p:sp>
        <p:nvSpPr>
          <p:cNvPr id="30654373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919615" name="Text 0"/>
          <p:cNvSpPr/>
          <p:nvPr>
            <p:ph type="title" idx="100" hasCustomPrompt="1"/>
          </p:nvPr>
        </p:nvSpPr>
        <p:spPr bwMode="auto"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chemeClr val="bg1"/>
                </a:solidFill>
              </a:rPr>
              <a:t>Recursos del proyecto</a:t>
            </a:r>
            <a:endParaRPr lang="en-US" sz="3600"/>
          </a:p>
        </p:txBody>
      </p:sp>
      <p:sp>
        <p:nvSpPr>
          <p:cNvPr id="312293910" name="Text 0"/>
          <p:cNvSpPr/>
          <p:nvPr>
            <p:ph type="body" idx="101" hasCustomPrompt="1"/>
          </p:nvPr>
        </p:nvSpPr>
        <p:spPr bwMode="auto"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chemeClr val="accent1"/>
                </a:solidFill>
              </a:rPr>
              <a:t>7 · REFERENCIAS · RECURSOS</a:t>
            </a:r>
            <a:endParaRPr lang="en-US" sz="1200"/>
          </a:p>
        </p:txBody>
      </p:sp>
      <p:sp>
        <p:nvSpPr>
          <p:cNvPr id="1545711398" name="Tarjeta TUTORIALES Y CÓDIGO DE REFERENCIA"/>
          <p:cNvSpPr/>
          <p:nvPr/>
        </p:nvSpPr>
        <p:spPr bwMode="auto">
          <a:xfrm>
            <a:off x="548640" y="1645920"/>
            <a:ext cx="11091672" cy="2697480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704968483" name="Rótulo TUTORIALES Y CÓDIGO DE REFERENCIA"/>
          <p:cNvSpPr txBox="1"/>
          <p:nvPr/>
        </p:nvSpPr>
        <p:spPr bwMode="auto">
          <a:xfrm>
            <a:off x="777240" y="18105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chemeClr val="accent1"/>
                </a:solidFill>
              </a:rPr>
              <a:t>TUTORIALES Y CÓDIGO DE REFERENCIA</a:t>
            </a:r>
            <a:endParaRPr lang="en-US" sz="1200"/>
          </a:p>
        </p:txBody>
      </p:sp>
      <p:sp>
        <p:nvSpPr>
          <p:cNvPr id="954860983" name="Enlaces TUTORIALES Y CÓDIGO DE REFERENCIA"/>
          <p:cNvSpPr txBox="1"/>
          <p:nvPr/>
        </p:nvSpPr>
        <p:spPr bwMode="auto">
          <a:xfrm>
            <a:off x="777240" y="219456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  <a:defRPr/>
            </a:pPr>
            <a:r>
              <a:rPr lang="en-US" sz="1500" u="sng">
                <a:solidFill>
                  <a:srgbClr val="3B3F45"/>
                </a:solidFill>
                <a:hlinkClick r:id="rId3" tooltip=""/>
              </a:rPr>
              <a:t>https://medium.com/@alessandromondin/semantic-segmentation-with-pytorch-u-net-from-scratch-502d6565910a</a:t>
            </a:r>
            <a:endParaRPr lang="en-US" sz="1500"/>
          </a:p>
          <a:p>
            <a:pPr marL="0" indent="0">
              <a:spcAft>
                <a:spcPts val="900"/>
              </a:spcAft>
              <a:buNone/>
              <a:defRPr/>
            </a:pPr>
            <a:r>
              <a:rPr lang="en-US" sz="1500" u="sng">
                <a:solidFill>
                  <a:srgbClr val="3B3F45"/>
                </a:solidFill>
                <a:hlinkClick r:id="rId4" tooltip=""/>
              </a:rPr>
              <a:t>https://bhimraj.com.np/blog/pytorch-unet-image-segmentation-implementation</a:t>
            </a:r>
            <a:endParaRPr lang="en-US" sz="1500"/>
          </a:p>
          <a:p>
            <a:pPr marL="0" indent="0">
              <a:spcAft>
                <a:spcPts val="900"/>
              </a:spcAft>
              <a:buNone/>
              <a:defRPr/>
            </a:pPr>
            <a:r>
              <a:rPr lang="en-US" sz="1500" u="sng">
                <a:solidFill>
                  <a:srgbClr val="3B3F45"/>
                </a:solidFill>
                <a:hlinkClick r:id="rId5" tooltip=""/>
              </a:rPr>
              <a:t>https://github.com/milesial/Pytorch-UNet</a:t>
            </a:r>
            <a:endParaRPr lang="en-US" sz="1500"/>
          </a:p>
          <a:p>
            <a:pPr marL="0" indent="0">
              <a:spcAft>
                <a:spcPts val="900"/>
              </a:spcAft>
              <a:buNone/>
              <a:defRPr/>
            </a:pPr>
            <a:r>
              <a:rPr lang="en-US" sz="1500" u="sng">
                <a:solidFill>
                  <a:srgbClr val="3B3F45"/>
                </a:solidFill>
                <a:hlinkClick r:id="rId6" tooltip=""/>
              </a:rPr>
              <a:t>https://www.analyticsvidhya.com/blog/2023/08/unet-architecture-mastering-image-segmentation/</a:t>
            </a:r>
            <a:endParaRPr lang="en-US" sz="1500"/>
          </a:p>
          <a:p>
            <a:pPr marL="0" indent="0">
              <a:spcAft>
                <a:spcPts val="900"/>
              </a:spcAft>
              <a:buNone/>
              <a:defRPr/>
            </a:pPr>
            <a:r>
              <a:rPr lang="en-US" sz="1500" u="sng">
                <a:solidFill>
                  <a:srgbClr val="3B3F45"/>
                </a:solidFill>
                <a:hlinkClick r:id="rId7" tooltip=""/>
              </a:rPr>
              <a:t>https://theaisummer.com/unet-architectures/</a:t>
            </a:r>
            <a:endParaRPr lang="en-US" sz="1500"/>
          </a:p>
        </p:txBody>
      </p:sp>
      <p:sp>
        <p:nvSpPr>
          <p:cNvPr id="255598715" name="Tarjeta CONJUNTOS DE DATOS Y REPOSITORIOS"/>
          <p:cNvSpPr/>
          <p:nvPr/>
        </p:nvSpPr>
        <p:spPr bwMode="auto">
          <a:xfrm>
            <a:off x="548640" y="4526280"/>
            <a:ext cx="11091672" cy="173736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635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289138098" name="Rótulo CONJUNTOS DE DATOS Y REPOSITORIOS"/>
          <p:cNvSpPr txBox="1"/>
          <p:nvPr/>
        </p:nvSpPr>
        <p:spPr bwMode="auto">
          <a:xfrm>
            <a:off x="777240" y="46908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chemeClr val="accent4"/>
                </a:solidFill>
              </a:rPr>
              <a:t>CONJUNTOS DE DATOS Y REPOSITORIOS</a:t>
            </a:r>
            <a:endParaRPr lang="en-US" sz="1200"/>
          </a:p>
        </p:txBody>
      </p:sp>
      <p:sp>
        <p:nvSpPr>
          <p:cNvPr id="2089041580" name="Enlaces CONJUNTOS DE DATOS Y REPOSITORIOS"/>
          <p:cNvSpPr txBox="1"/>
          <p:nvPr/>
        </p:nvSpPr>
        <p:spPr bwMode="auto">
          <a:xfrm>
            <a:off x="777240" y="50749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  <a:defRPr/>
            </a:pPr>
            <a:r>
              <a:rPr lang="en-US" sz="1500" u="sng">
                <a:solidFill>
                  <a:srgbClr val="3B3F45"/>
                </a:solidFill>
                <a:hlinkClick r:id="rId8" tooltip=""/>
              </a:rPr>
              <a:t>https://huggingface.co/datasets/Smily6820/car-images</a:t>
            </a:r>
            <a:endParaRPr lang="en-US" sz="1500"/>
          </a:p>
          <a:p>
            <a:pPr marL="0" indent="0">
              <a:spcAft>
                <a:spcPts val="900"/>
              </a:spcAft>
              <a:buNone/>
              <a:defRPr/>
            </a:pPr>
            <a:r>
              <a:rPr lang="en-US" sz="1500" u="sng">
                <a:solidFill>
                  <a:srgbClr val="3B3F45"/>
                </a:solidFill>
                <a:hlinkClick r:id="rId9" tooltip=""/>
              </a:rPr>
              <a:t>https://github.com/EkdeepSLubana/raw_dataset/tree/master</a:t>
            </a:r>
            <a:endParaRPr lang="en-US" sz="1500"/>
          </a:p>
        </p:txBody>
      </p:sp>
      <p:sp>
        <p:nvSpPr>
          <p:cNvPr id="157324497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81360" y="6446520"/>
            <a:ext cx="758952" cy="256032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E6269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UNet Articulo">
  <a:themeElements>
    <a:clrScheme name="UNet Articulo">
      <a:dk1>
        <a:srgbClr val="EFEAE0"/>
      </a:dk1>
      <a:lt1>
        <a:srgbClr val="2A2D31"/>
      </a:lt1>
      <a:dk2>
        <a:srgbClr val="F9F6F0"/>
      </a:dk2>
      <a:lt2>
        <a:srgbClr val="5E6269"/>
      </a:lt2>
      <a:accent1>
        <a:srgbClr val="3B3F45"/>
      </a:accent1>
      <a:accent2>
        <a:srgbClr val="565A61"/>
      </a:accent2>
      <a:accent3>
        <a:srgbClr val="1E2124"/>
      </a:accent3>
      <a:accent4>
        <a:srgbClr val="565A61"/>
      </a:accent4>
      <a:accent5>
        <a:srgbClr val="4A4E55"/>
      </a:accent5>
      <a:accent6>
        <a:srgbClr val="9A9487"/>
      </a:accent6>
      <a:hlink>
        <a:srgbClr val="3B3F45"/>
      </a:hlink>
      <a:folHlink>
        <a:srgbClr val="565A61"/>
      </a:folHlink>
    </a:clrScheme>
    <a:fontScheme name="UNet Articulo">
      <a:majorFont>
        <a:latin typeface="Cambria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Desarrollo y evaluación de una U-Net para segmentación de vehículos</dc:title>
  <dc:subject>PptxGenJS Presentation</dc:subject>
  <dc:creator>Ricardo Acuña Alcántara</dc:creator>
  <cp:lastModifiedBy/>
  <cp:revision>9</cp:revision>
  <dcterms:created xsi:type="dcterms:W3CDTF">2026-10-14T21:15:42Z</dcterms:created>
  <dcterms:modified xsi:type="dcterms:W3CDTF">2026-10-20T23:58:41Z</dcterms:modified>
</cp:coreProperties>
</file>