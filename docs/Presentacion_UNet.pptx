
<file path=[Content_Types].xml><?xml version="1.0" encoding="utf-8"?>
<Types xmlns="http://schemas.openxmlformats.org/package/2006/content-types">
  <Default Extension="xml" ContentType="application/xml"/>
  <Default Extension="xlsx" ContentType="application/vnd.openxmlformats-officedocument.spreadsheetml.sheet"/>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5.xml" ContentType="application/vnd.openxmlformats-officedocument.presentationml.slide+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charts/chart1.xml" ContentType="application/vnd.openxmlformats-officedocument.drawingml.chart+xml"/>
  <Override PartName="/ppt/slides/slide12.xml" ContentType="application/vnd.openxmlformats-officedocument.presentationml.slide+xml"/>
  <Override PartName="/ppt/notesSlides/notesSlide12.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charts/chart2.xml" ContentType="application/vnd.openxmlformats-officedocument.drawingml.chart+xml"/>
  <Override PartName="/ppt/slides/slide7.xml" ContentType="application/vnd.openxmlformats-officedocument.presentationml.slide+xml"/>
  <Override PartName="/ppt/notesSlides/notesSlide2.xml" ContentType="application/vnd.openxmlformats-officedocument.presentationml.notesSlide+xml"/>
  <Override PartName="/ppt/viewProps.xml" ContentType="application/vnd.openxmlformats-officedocument.presentationml.viewProps+xml"/>
  <Override PartName="/ppt/slides/slide3.xml" ContentType="application/vnd.openxmlformats-officedocument.presentationml.slide+xml"/>
  <Override PartName="/ppt/theme/theme1.xml" ContentType="application/vnd.openxmlformats-officedocument.theme+xml"/>
  <Override PartName="/ppt/slides/slide2.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400" b="0" i="0" u="none" strike="noStrike">
                <a:solidFill>
                  <a:srgbClr val="F3F5F7"/>
                </a:solidFill>
                <a:latin typeface="+mn-lt"/>
              </a:defRPr>
            </a:pPr>
            <a:r>
              <a:rPr sz="1400" b="0" i="0" u="none" strike="noStrike">
                <a:solidFill>
                  <a:srgbClr val="F3F5F7"/>
                </a:solidFill>
                <a:latin typeface="+mn-lt"/>
              </a:rPr>
              <a:t>División de las 500 parejas</a:t>
            </a:r>
            <a:endParaRPr/>
          </a:p>
        </c:rich>
      </c:tx>
      <c:layout/>
      <c:overlay val="0"/>
    </c:title>
    <c:autoTitleDeleted val="0"/>
    <c:plotArea>
      <c:layout/>
      <c:doughnutChart>
        <c:varyColors val="1"/>
        <c:ser>
          <c:idx val="0"/>
          <c:order val="0"/>
          <c:tx>
            <c:strRef>
              <c:f>Sheet1!$B$1</c:f>
              <c:strCache>
                <c:ptCount val="1"/>
                <c:pt idx="0">
                  <c:v>Parejas</c:v>
                </c:pt>
              </c:strCache>
            </c:strRef>
          </c:tx>
          <c:spPr bwMode="auto">
            <a:prstGeom prst="rect">
              <a:avLst/>
            </a:prstGeom>
            <a:solidFill>
              <a:schemeClr val="accent1"/>
            </a:solidFill>
            <a:ln w="9525" cap="flat">
              <a:solidFill>
                <a:srgbClr val="F9F9F9"/>
              </a:solidFill>
              <a:prstDash val="solid"/>
              <a:round/>
            </a:ln>
            <a:effectLst/>
          </c:spPr>
          <c:dPt>
            <c:idx val="0"/>
            <c:bubble3D val="0"/>
            <c:spPr bwMode="auto">
              <a:prstGeom prst="rect">
                <a:avLst/>
              </a:prstGeom>
              <a:solidFill>
                <a:srgbClr val="2BB38A"/>
              </a:solidFill>
              <a:ln w="12700" cap="flat">
                <a:solidFill>
                  <a:srgbClr val="0F1419"/>
                </a:solidFill>
                <a:prstDash val="solid"/>
                <a:round/>
              </a:ln>
              <a:effectLst/>
            </c:spPr>
          </c:dPt>
          <c:dPt>
            <c:idx val="1"/>
            <c:bubble3D val="0"/>
            <c:spPr bwMode="auto">
              <a:prstGeom prst="rect">
                <a:avLst/>
              </a:prstGeom>
              <a:solidFill>
                <a:srgbClr val="4FA3E0"/>
              </a:solidFill>
              <a:ln w="12700" cap="flat">
                <a:solidFill>
                  <a:srgbClr val="0F1419"/>
                </a:solidFill>
                <a:prstDash val="solid"/>
                <a:round/>
              </a:ln>
              <a:effectLst/>
            </c:spPr>
          </c:dPt>
          <c:dPt>
            <c:idx val="2"/>
            <c:bubble3D val="0"/>
            <c:spPr bwMode="auto">
              <a:prstGeom prst="rect">
                <a:avLst/>
              </a:prstGeom>
              <a:solidFill>
                <a:srgbClr val="E8683A"/>
              </a:solidFill>
              <a:ln w="12700" cap="flat">
                <a:solidFill>
                  <a:srgbClr val="0F1419"/>
                </a:solidFill>
                <a:prstDash val="solid"/>
                <a:round/>
              </a:ln>
              <a:effectLst/>
            </c:spPr>
          </c:dPt>
          <c:dLbls>
            <c:dLbl>
              <c:idx val="0"/>
              <c:layout/>
              <c:numFmt formatCode="General" sourceLinked="0"/>
              <c:showBubbleSize val="0"/>
              <c:showCatName val="0"/>
              <c:showLegendKey val="0"/>
              <c:showPercent val="0"/>
              <c:showSerName val="0"/>
              <c:showVal val="1"/>
              <c:spPr bwMode="auto"/>
              <c:txPr>
                <a:bodyPr/>
                <a:lstStyle/>
                <a:p>
                  <a:pPr>
                    <a:defRPr sz="1400" b="1" i="0" u="none" strike="noStrike">
                      <a:solidFill>
                        <a:srgbClr val="0F1419"/>
                      </a:solidFill>
                      <a:latin typeface="+mn-lt"/>
                    </a:defRPr>
                  </a:pPr>
                  <a:endParaRPr/>
                </a:p>
              </c:txPr>
            </c:dLbl>
            <c:dLbl>
              <c:idx val="1"/>
              <c:layout/>
              <c:numFmt formatCode="General" sourceLinked="0"/>
              <c:showBubbleSize val="0"/>
              <c:showCatName val="0"/>
              <c:showLegendKey val="0"/>
              <c:showPercent val="0"/>
              <c:showSerName val="0"/>
              <c:showVal val="1"/>
              <c:spPr bwMode="auto"/>
              <c:txPr>
                <a:bodyPr/>
                <a:lstStyle/>
                <a:p>
                  <a:pPr>
                    <a:defRPr sz="1400" b="1" i="0" u="none" strike="noStrike">
                      <a:solidFill>
                        <a:srgbClr val="0F1419"/>
                      </a:solidFill>
                      <a:latin typeface="+mn-lt"/>
                    </a:defRPr>
                  </a:pPr>
                  <a:endParaRPr/>
                </a:p>
              </c:txPr>
            </c:dLbl>
            <c:dLbl>
              <c:idx val="2"/>
              <c:layout/>
              <c:numFmt formatCode="General" sourceLinked="0"/>
              <c:showBubbleSize val="0"/>
              <c:showCatName val="0"/>
              <c:showLegendKey val="0"/>
              <c:showPercent val="0"/>
              <c:showSerName val="0"/>
              <c:showVal val="1"/>
              <c:spPr bwMode="auto"/>
              <c:txPr>
                <a:bodyPr/>
                <a:lstStyle/>
                <a:p>
                  <a:pPr>
                    <a:defRPr sz="1400" b="1" i="0" u="none" strike="noStrike">
                      <a:solidFill>
                        <a:srgbClr val="0F1419"/>
                      </a:solidFill>
                      <a:latin typeface="+mn-lt"/>
                    </a:defRPr>
                  </a:pPr>
                  <a:endParaRPr/>
                </a:p>
              </c:txPr>
            </c:dLbl>
            <c:numFmt formatCode="General" sourceLinked="0"/>
            <c:showBubbleSize val="0"/>
            <c:showCatName val="1"/>
            <c:showLeaderLines val="0"/>
            <c:showLegendKey val="0"/>
            <c:showPercent val="1"/>
            <c:showSerName val="0"/>
            <c:showVal val="0"/>
            <c:txPr>
              <a:bodyPr/>
              <a:lstStyle/>
              <a:p>
                <a:pPr>
                  <a:defRPr sz="1800" b="1" i="0" u="none" strike="noStrike">
                    <a:solidFill>
                      <a:srgbClr val="000000"/>
                    </a:solidFill>
                    <a:latin typeface="Arial"/>
                  </a:defRPr>
                </a:pPr>
                <a:endParaRPr/>
              </a:p>
            </c:txPr>
          </c:dLbls>
          <c:cat>
            <c:strRef>
              <c:f>Sheet1!$A$2:$A$4</c:f>
              <c:strCache>
                <c:ptCount val="3"/>
                <c:pt idx="0">
                  <c:v>Entrenamiento</c:v>
                </c:pt>
                <c:pt idx="1">
                  <c:v>Validación</c:v>
                </c:pt>
                <c:pt idx="2">
                  <c:v>Prueba</c:v>
                </c:pt>
              </c:strCache>
            </c:strRef>
          </c:cat>
          <c:val>
            <c:numRef>
              <c:f>Sheet1!$B$2:$B$4</c:f>
              <c:numCache>
                <c:ptCount val="3"/>
                <c:pt idx="0">
                  <c:v>350</c:v>
                </c:pt>
                <c:pt idx="1">
                  <c:v>75</c:v>
                </c:pt>
                <c:pt idx="2">
                  <c:v>75</c:v>
                </c:pt>
              </c:numCache>
            </c:numRef>
          </c:val>
        </c:ser>
        <c:dLbls>
          <c:showBubbleSize val="0"/>
          <c:showCatName val="0"/>
          <c:showLegendKey val="0"/>
          <c:showPercent val="0"/>
          <c:showSerName val="0"/>
          <c:showVal val="0"/>
        </c:dLbls>
        <c:firstSliceAng val="0"/>
        <c:holeSize val="58"/>
      </c:doughnutChart>
      <c:spPr bwMode="auto">
        <a:prstGeom prst="rect">
          <a:avLst/>
        </a:prstGeom>
        <a:noFill/>
        <a:ln>
          <a:noFill/>
        </a:ln>
        <a:effectLst/>
      </c:spPr>
    </c:plotArea>
    <c:legend>
      <c:legendPos val="b"/>
      <c:layout/>
      <c:overlay val="0"/>
      <c:txPr>
        <a:bodyPr/>
        <a:lstStyle/>
        <a:p>
          <a:pPr>
            <a:defRPr sz="1300">
              <a:solidFill>
                <a:srgbClr val="F3F5F7"/>
              </a:solidFill>
              <a:latin typeface="+mn-lt"/>
              <a:cs typeface="+mn-lt"/>
            </a:defRPr>
          </a:pPr>
          <a:endParaRPr lang="en-US"/>
        </a:p>
      </c:txPr>
    </c:legend>
    <c:plotVisOnly val="1"/>
    <c:dispBlanksAs val="span"/>
    <c:showDLblsOverMax val="0"/>
  </c:chart>
  <c:spPr bwMode="auto">
    <a:xfrm rot="0">
      <a:off x="6858000" y="1645920"/>
      <a:ext cx="4782312" cy="3611880"/>
    </a:xfrm>
    <a:prstGeom prst="rect">
      <a:avLst/>
    </a:prstGeom>
    <a:noFill/>
    <a:ln>
      <a:noFill/>
    </a:ln>
    <a:effectLst/>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400" b="0" i="0" u="none" strike="noStrike">
                <a:solidFill>
                  <a:srgbClr val="F3F5F7"/>
                </a:solidFill>
                <a:latin typeface="+mn-lt"/>
              </a:defRPr>
            </a:pPr>
            <a:r>
              <a:rPr sz="1400" b="0" i="0" u="none" strike="noStrike">
                <a:solidFill>
                  <a:srgbClr val="F3F5F7"/>
                </a:solidFill>
                <a:latin typeface="+mn-lt"/>
              </a:rPr>
              <a:t>Pérdida BCEWithLogits por época</a:t>
            </a:r>
            <a:endParaRPr/>
          </a:p>
        </c:rich>
      </c:tx>
      <c:layout/>
      <c:overlay val="0"/>
    </c:title>
    <c:autoTitleDeleted val="0"/>
    <c:plotArea>
      <c:layout/>
      <c:lineChart>
        <c:varyColors val="0"/>
        <c:ser>
          <c:idx val="0"/>
          <c:order val="0"/>
          <c:tx>
            <c:strRef>
              <c:f>Sheet1!$B$1</c:f>
              <c:strCache>
                <c:ptCount val="1"/>
                <c:pt idx="0">
                  <c:v>Entrenamiento</c:v>
                </c:pt>
              </c:strCache>
            </c:strRef>
          </c:tx>
          <c:spPr bwMode="auto">
            <a:prstGeom prst="rect">
              <a:avLst/>
            </a:prstGeom>
            <a:solidFill>
              <a:srgbClr val="2BB38A"/>
            </a:solidFill>
            <a:ln w="38100" cap="flat">
              <a:solidFill>
                <a:srgbClr val="2BB38A"/>
              </a:solidFill>
              <a:prstDash val="solid"/>
              <a:round/>
            </a:ln>
            <a:effectLst/>
          </c:spPr>
          <c:marker>
            <c:symbol val="circle"/>
            <c:size val="8"/>
            <c:spPr bwMode="auto">
              <a:prstGeom prst="rect">
                <a:avLst/>
              </a:prstGeom>
              <a:solidFill>
                <a:srgbClr val="2BB38A"/>
              </a:solidFill>
              <a:ln w="9525" cap="flat">
                <a:solidFill>
                  <a:srgbClr val="2BB38A"/>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0.3991</c:v>
                </c:pt>
                <c:pt idx="1">
                  <c:v>0.2703</c:v>
                </c:pt>
                <c:pt idx="2">
                  <c:v>0.2313</c:v>
                </c:pt>
                <c:pt idx="3">
                  <c:v>0.1991</c:v>
                </c:pt>
                <c:pt idx="4">
                  <c:v>0.1757</c:v>
                </c:pt>
                <c:pt idx="5">
                  <c:v>0.1705</c:v>
                </c:pt>
                <c:pt idx="6">
                  <c:v>0.1616</c:v>
                </c:pt>
                <c:pt idx="7">
                  <c:v>0.1318</c:v>
                </c:pt>
                <c:pt idx="8">
                  <c:v>0.1215</c:v>
                </c:pt>
                <c:pt idx="9">
                  <c:v>0.1136</c:v>
                </c:pt>
              </c:numCache>
            </c:numRef>
          </c:val>
          <c:smooth val="0"/>
        </c:ser>
        <c:ser>
          <c:idx val="1"/>
          <c:order val="1"/>
          <c:tx>
            <c:strRef>
              <c:f>Sheet1!$C$1</c:f>
              <c:strCache>
                <c:ptCount val="1"/>
                <c:pt idx="0">
                  <c:v>Validación</c:v>
                </c:pt>
              </c:strCache>
            </c:strRef>
          </c:tx>
          <c:spPr bwMode="auto">
            <a:prstGeom prst="rect">
              <a:avLst/>
            </a:prstGeom>
            <a:solidFill>
              <a:srgbClr val="E8683A"/>
            </a:solidFill>
            <a:ln w="38100" cap="flat">
              <a:solidFill>
                <a:srgbClr val="E8683A"/>
              </a:solidFill>
              <a:prstDash val="solid"/>
              <a:round/>
            </a:ln>
            <a:effectLst/>
          </c:spPr>
          <c:marker>
            <c:symbol val="circle"/>
            <c:size val="8"/>
            <c:spPr bwMode="auto">
              <a:prstGeom prst="rect">
                <a:avLst/>
              </a:prstGeom>
              <a:solidFill>
                <a:srgbClr val="E8683A"/>
              </a:solidFill>
              <a:ln w="9525" cap="flat">
                <a:solidFill>
                  <a:srgbClr val="E8683A"/>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0.2938</c:v>
                </c:pt>
                <c:pt idx="1">
                  <c:v>0.1996</c:v>
                </c:pt>
                <c:pt idx="2">
                  <c:v>0.2011</c:v>
                </c:pt>
                <c:pt idx="3">
                  <c:v>0.1777</c:v>
                </c:pt>
                <c:pt idx="4">
                  <c:v>0.1738</c:v>
                </c:pt>
                <c:pt idx="5">
                  <c:v>0.1705</c:v>
                </c:pt>
                <c:pt idx="6">
                  <c:v>0.1564</c:v>
                </c:pt>
                <c:pt idx="7">
                  <c:v>0.159</c:v>
                </c:pt>
                <c:pt idx="8">
                  <c:v>0.1364</c:v>
                </c:pt>
                <c:pt idx="9">
                  <c:v>0.1306</c:v>
                </c:pt>
              </c:numCache>
            </c:numRef>
          </c:val>
          <c:smooth val="0"/>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9AA5B1"/>
                    </a:solidFill>
                    <a:latin typeface="+mn-lt"/>
                  </a:defRPr>
                </a:pPr>
                <a:r>
                  <a:rPr sz="1200" b="0" i="0" u="none" strike="noStrike">
                    <a:solidFill>
                      <a:srgbClr val="9AA5B1"/>
                    </a:solidFill>
                    <a:latin typeface="+mn-lt"/>
                  </a:rPr>
                  <a:t>Época</a:t>
                </a:r>
                <a:endParaRPr/>
              </a:p>
            </c:rich>
          </c:tx>
          <c:layout/>
          <c:overlay val="0"/>
        </c:title>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9AA5B1"/>
                </a:solidFill>
                <a:latin typeface="+mn-lt"/>
              </a:defRPr>
            </a:pPr>
            <a:endParaRPr lang="en-US"/>
          </a:p>
        </c:txPr>
        <c:crossAx val="2094734552"/>
        <c:crosses val="autoZero"/>
        <c:auto val="1"/>
        <c:lblAlgn val="ctr"/>
        <c:noMultiLvlLbl val="1"/>
      </c:catAx>
      <c:valAx>
        <c:axId val="2094734552"/>
        <c:scaling>
          <c:orientation val="minMax"/>
          <c:max val="0.450000"/>
          <c:min val="0.000000"/>
        </c:scaling>
        <c:delete val="0"/>
        <c:axPos val="l"/>
        <c:majorGridlines>
          <c:spPr bwMode="auto">
            <a:prstGeom prst="rect">
              <a:avLst/>
            </a:prstGeom>
            <a:ln w="6350" cap="flat">
              <a:solidFill>
                <a:srgbClr val="2A333D"/>
              </a:solidFill>
              <a:prstDash val="solid"/>
              <a:round/>
            </a:ln>
          </c:spPr>
        </c:majorGridlines>
        <c:numFmt formatCode="0.00"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9AA5B1"/>
                </a:solidFill>
                <a:latin typeface="+mn-lt"/>
              </a:defRPr>
            </a:pPr>
            <a:endParaRPr lang="en-US"/>
          </a:p>
        </c:txPr>
        <c:crossAx val="2094734554"/>
        <c:crosses val="autoZero"/>
        <c:crossBetween val="between"/>
        <c:majorUnit val="0.100000"/>
      </c:valAx>
      <c:spPr bwMode="auto">
        <a:prstGeom prst="rect">
          <a:avLst/>
        </a:prstGeom>
        <a:noFill/>
        <a:ln>
          <a:noFill/>
        </a:ln>
        <a:effectLst/>
      </c:spPr>
    </c:plotArea>
    <c:legend>
      <c:legendPos val="b"/>
      <c:layout/>
      <c:overlay val="0"/>
      <c:txPr>
        <a:bodyPr/>
        <a:lstStyle/>
        <a:p>
          <a:pPr>
            <a:defRPr sz="1300">
              <a:solidFill>
                <a:srgbClr val="F3F5F7"/>
              </a:solidFill>
              <a:latin typeface="+mn-lt"/>
              <a:cs typeface="+mn-lt"/>
            </a:defRPr>
          </a:pPr>
          <a:endParaRPr lang="en-US"/>
        </a:p>
      </c:txPr>
    </c:legend>
    <c:plotVisOnly val="1"/>
    <c:dispBlanksAs val="span"/>
    <c:showDLblsOverMax val="0"/>
  </c:chart>
  <c:spPr bwMode="auto">
    <a:xfrm rot="0">
      <a:off x="548640" y="1645920"/>
      <a:ext cx="7315200" cy="4617720"/>
    </a:xfrm>
    <a:prstGeom prst="rect">
      <a:avLst/>
    </a:prstGeom>
    <a:no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1746130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4702976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87969030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3285724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6327269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7764436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8769217" name="Slide Image Placeholder 1"/>
          <p:cNvSpPr>
            <a:spLocks noChangeAspect="1" noGrp="1" noRot="1"/>
          </p:cNvSpPr>
          <p:nvPr>
            <p:ph type="sldImg"/>
          </p:nvPr>
        </p:nvSpPr>
        <p:spPr bwMode="auto"/>
      </p:sp>
      <p:sp>
        <p:nvSpPr>
          <p:cNvPr id="1171628541" name="Notes Placeholder 2"/>
          <p:cNvSpPr>
            <a:spLocks noGrp="1"/>
          </p:cNvSpPr>
          <p:nvPr>
            <p:ph type="body" idx="1"/>
          </p:nvPr>
        </p:nvSpPr>
        <p:spPr bwMode="auto"/>
        <p:txBody>
          <a:bodyPr/>
          <a:lstStyle/>
          <a:p>
            <a:pPr>
              <a:defRPr/>
            </a:pPr>
            <a:r>
              <a:rPr lang="en-US"/>
              <a:t>Presentación del proyecto: implementación y evaluación de una U-Net propia en PyTorch para segmentar coches. Mencionar autor, programa y universidad. Completar el correo de contacto.</a:t>
            </a:r>
            <a:endParaRPr lang="en-US"/>
          </a:p>
        </p:txBody>
      </p:sp>
      <p:sp>
        <p:nvSpPr>
          <p:cNvPr id="184210428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5932647" name="Slide Image Placeholder 1"/>
          <p:cNvSpPr>
            <a:spLocks noChangeAspect="1" noGrp="1" noRot="1"/>
          </p:cNvSpPr>
          <p:nvPr>
            <p:ph type="sldImg"/>
          </p:nvPr>
        </p:nvSpPr>
        <p:spPr bwMode="auto"/>
      </p:sp>
      <p:sp>
        <p:nvSpPr>
          <p:cNvPr id="441552827" name="Notes Placeholder 2"/>
          <p:cNvSpPr>
            <a:spLocks noGrp="1"/>
          </p:cNvSpPr>
          <p:nvPr>
            <p:ph type="body" idx="1"/>
          </p:nvPr>
        </p:nvSpPr>
        <p:spPr bwMode="auto"/>
        <p:txBody>
          <a:bodyPr/>
          <a:lstStyle/>
          <a:p>
            <a:pPr>
              <a:defRPr/>
            </a:pPr>
            <a:r>
              <a:rPr lang="en-US"/>
              <a:t>Resumen en un solo bloque: problema, objetivo, método, resultados y conclusión. Recalcar que el beneficio global del aumento de datos aún no está cuantificado; el resumen definitivo debe incorporar esa comparación.</a:t>
            </a:r>
            <a:endParaRPr lang="en-US"/>
          </a:p>
        </p:txBody>
      </p:sp>
      <p:sp>
        <p:nvSpPr>
          <p:cNvPr id="769574289"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886791" name="Slide Image Placeholder 1"/>
          <p:cNvSpPr>
            <a:spLocks noChangeAspect="1" noGrp="1" noRot="1"/>
          </p:cNvSpPr>
          <p:nvPr>
            <p:ph type="sldImg"/>
          </p:nvPr>
        </p:nvSpPr>
        <p:spPr bwMode="auto"/>
      </p:sp>
      <p:sp>
        <p:nvSpPr>
          <p:cNvPr id="422599170" name="Notes Placeholder 2"/>
          <p:cNvSpPr>
            <a:spLocks noGrp="1"/>
          </p:cNvSpPr>
          <p:nvPr>
            <p:ph type="body" idx="1"/>
          </p:nvPr>
        </p:nvSpPr>
        <p:spPr bwMode="auto"/>
        <p:txBody>
          <a:bodyPr/>
          <a:lstStyle/>
          <a:p>
            <a:pPr>
              <a:defRPr/>
            </a:pPr>
            <a:r>
              <a:rPr lang="en-US"/>
              <a:t>La visión por computadora extrae información de imágenes. La segmentación semántica asigna una clase a cada píxel. Aquí es binaria: 0 fondo, 1 coche. Diferencia con detección (caja delimitadora). Corrección importante: el proyecto es segmentación semántica, no de instancia, porque no separa vehículos individuales.</a:t>
            </a:r>
            <a:endParaRPr lang="en-US"/>
          </a:p>
        </p:txBody>
      </p:sp>
      <p:sp>
        <p:nvSpPr>
          <p:cNvPr id="203802328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8956780" name="Slide Image Placeholder 1"/>
          <p:cNvSpPr>
            <a:spLocks noChangeAspect="1" noGrp="1" noRot="1"/>
          </p:cNvSpPr>
          <p:nvPr>
            <p:ph type="sldImg"/>
          </p:nvPr>
        </p:nvSpPr>
        <p:spPr bwMode="auto"/>
      </p:sp>
      <p:sp>
        <p:nvSpPr>
          <p:cNvPr id="1250468145" name="Notes Placeholder 2"/>
          <p:cNvSpPr>
            <a:spLocks noGrp="1"/>
          </p:cNvSpPr>
          <p:nvPr>
            <p:ph type="body" idx="1"/>
          </p:nvPr>
        </p:nvSpPr>
        <p:spPr bwMode="auto"/>
        <p:txBody>
          <a:bodyPr/>
          <a:lstStyle/>
          <a:p>
            <a:pPr>
              <a:defRPr/>
            </a:pPr>
            <a:r>
              <a:rPr lang="en-US"/>
              <a:t>U-Net (Ronneberger, Fischer y Brox, 2015) nace para imágenes biomédicas. Dos caminos más conexiones de salto. Para coches: formas variables, oclusiones, distancias y ángulos; la máscara por píxel representa la silueta mejor que una caja. Implementarla desde cero permitió controlar dimensiones, conexiones, pérdida y entrenamiento. No se afirma que supere a YOLO: existen variantes de YOLO para segmentación.</a:t>
            </a:r>
            <a:endParaRPr lang="en-US"/>
          </a:p>
        </p:txBody>
      </p:sp>
      <p:sp>
        <p:nvSpPr>
          <p:cNvPr id="12940309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2689949" name="Slide Image Placeholder 1"/>
          <p:cNvSpPr>
            <a:spLocks noChangeAspect="1" noGrp="1" noRot="1"/>
          </p:cNvSpPr>
          <p:nvPr>
            <p:ph type="sldImg"/>
          </p:nvPr>
        </p:nvSpPr>
        <p:spPr bwMode="auto"/>
      </p:sp>
      <p:sp>
        <p:nvSpPr>
          <p:cNvPr id="1342110256" name="Notes Placeholder 2"/>
          <p:cNvSpPr>
            <a:spLocks noGrp="1"/>
          </p:cNvSpPr>
          <p:nvPr>
            <p:ph type="body" idx="1"/>
          </p:nvPr>
        </p:nvSpPr>
        <p:spPr bwMode="auto"/>
        <p:txBody>
          <a:bodyPr/>
          <a:lstStyle/>
          <a:p>
            <a:pPr>
              <a:defRPr/>
            </a:pPr>
            <a:r>
              <a:rPr lang="en-US"/>
              <a:t>Objetivo general y cinco específicos. Aclarar que U-Net no es una innovación propia: la contribución es la implementación, la adaptación al dataset de coches, la evaluación experimental y el análisis visual de errores.</a:t>
            </a:r>
            <a:endParaRPr lang="en-US"/>
          </a:p>
        </p:txBody>
      </p:sp>
      <p:sp>
        <p:nvSpPr>
          <p:cNvPr id="65540103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1008437" name="Slide Image Placeholder 1"/>
          <p:cNvSpPr>
            <a:spLocks noChangeAspect="1" noGrp="1" noRot="1"/>
          </p:cNvSpPr>
          <p:nvPr>
            <p:ph type="sldImg"/>
          </p:nvPr>
        </p:nvSpPr>
        <p:spPr bwMode="auto"/>
      </p:sp>
      <p:sp>
        <p:nvSpPr>
          <p:cNvPr id="345317921" name="Notes Placeholder 2"/>
          <p:cNvSpPr>
            <a:spLocks noGrp="1"/>
          </p:cNvSpPr>
          <p:nvPr>
            <p:ph type="body" idx="1"/>
          </p:nvPr>
        </p:nvSpPr>
        <p:spPr bwMode="auto"/>
        <p:txBody>
          <a:bodyPr/>
          <a:lstStyle/>
          <a:p>
            <a:pPr>
              <a:defRPr/>
            </a:pPr>
            <a:r>
              <a:rPr lang="en-US"/>
              <a:t>500 parejas imagen-máscara. Imágenes JPG, máscaras PNG creadas a partir de anotaciones con LabelMe y convertidas a binario. División aleatoria 70/15/15 con semilla 42, conservando cada imagen con su máscara. Pendiente: indicar si las imágenes son propias o de una fuente pública y su licencia.</a:t>
            </a:r>
            <a:endParaRPr lang="en-US"/>
          </a:p>
        </p:txBody>
      </p:sp>
      <p:sp>
        <p:nvSpPr>
          <p:cNvPr id="88098490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9265676" name="Slide Image Placeholder 1"/>
          <p:cNvSpPr>
            <a:spLocks noChangeAspect="1" noGrp="1" noRot="1"/>
          </p:cNvSpPr>
          <p:nvPr>
            <p:ph type="sldImg"/>
          </p:nvPr>
        </p:nvSpPr>
        <p:spPr bwMode="auto"/>
      </p:sp>
      <p:sp>
        <p:nvSpPr>
          <p:cNvPr id="1412430071" name="Notes Placeholder 2"/>
          <p:cNvSpPr>
            <a:spLocks noGrp="1"/>
          </p:cNvSpPr>
          <p:nvPr>
            <p:ph type="body" idx="1"/>
          </p:nvPr>
        </p:nvSpPr>
        <p:spPr bwMode="auto"/>
        <p:txBody>
          <a:bodyPr/>
          <a:lstStyle/>
          <a:p>
            <a:pPr>
              <a:defRPr/>
            </a:pPr>
            <a:r>
              <a:rPr lang="en-US"/>
              <a:t>Todo está en la clase CarDataset (dataset.py). Se comprueba que cada imagen tenga máscara y mismas dimensiones. Padding en lugar de estirar para no deformar. Interpolación bilineal en imagen y vecino más cercano en máscara para no crear etiquetas intermedias. Normalización a 0-1, máscara con umbral 128 y formato CHW.</a:t>
            </a:r>
            <a:endParaRPr lang="en-US"/>
          </a:p>
        </p:txBody>
      </p:sp>
      <p:sp>
        <p:nvSpPr>
          <p:cNvPr id="39145249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8816640" name="Slide Image Placeholder 1"/>
          <p:cNvSpPr>
            <a:spLocks noChangeAspect="1" noGrp="1" noRot="1"/>
          </p:cNvSpPr>
          <p:nvPr>
            <p:ph type="sldImg"/>
          </p:nvPr>
        </p:nvSpPr>
        <p:spPr bwMode="auto"/>
      </p:sp>
      <p:sp>
        <p:nvSpPr>
          <p:cNvPr id="85627848" name="Notes Placeholder 2"/>
          <p:cNvSpPr>
            <a:spLocks noGrp="1"/>
          </p:cNvSpPr>
          <p:nvPr>
            <p:ph type="body" idx="1"/>
          </p:nvPr>
        </p:nvSpPr>
        <p:spPr bwMode="auto"/>
        <p:txBody>
          <a:bodyPr/>
          <a:lstStyle/>
          <a:p>
            <a:pPr>
              <a:defRPr/>
            </a:pPr>
            <a:r>
              <a:rPr lang="en-US"/>
              <a:t>U-Net propia: 4 bloques de encoder (16, 32, 64, 128 canales), bottleneck de 256 canales a 16x16, 4 bloques de decoder con convoluciones transpuestas y concatenación con las skip connections, y una convolución final 1x1 que produce un canal de logits. Total: 1,944,049 parámetros entrenables.</a:t>
            </a:r>
            <a:endParaRPr lang="en-US"/>
          </a:p>
        </p:txBody>
      </p:sp>
      <p:sp>
        <p:nvSpPr>
          <p:cNvPr id="1241298531"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1916122" name="Slide Image Placeholder 1"/>
          <p:cNvSpPr>
            <a:spLocks noChangeAspect="1" noGrp="1" noRot="1"/>
          </p:cNvSpPr>
          <p:nvPr>
            <p:ph type="sldImg"/>
          </p:nvPr>
        </p:nvSpPr>
        <p:spPr bwMode="auto"/>
      </p:sp>
      <p:sp>
        <p:nvSpPr>
          <p:cNvPr id="1810257463" name="Notes Placeholder 2"/>
          <p:cNvSpPr>
            <a:spLocks noGrp="1"/>
          </p:cNvSpPr>
          <p:nvPr>
            <p:ph type="body" idx="1"/>
          </p:nvPr>
        </p:nvSpPr>
        <p:spPr bwMode="auto"/>
        <p:txBody>
          <a:bodyPr/>
          <a:lstStyle/>
          <a:p>
            <a:pPr>
              <a:defRPr/>
            </a:pPr>
            <a:r>
              <a:rPr lang="en-US"/>
              <a:t>model.py organiza la red en bloques reutilizables. CNNBlock es conv 3x3 con padding 1, BatchNorm y ReLU; CNNBlocks lo repite dos veces. EncoderBlock devuelve features (para la skip) y down (tras el pooling). DecoderBlock sube la resolución con ConvTranspose2d y concatena por canales, por eso CNNBlocks recibe out_channels*2.</a:t>
            </a:r>
            <a:endParaRPr lang="en-US"/>
          </a:p>
        </p:txBody>
      </p:sp>
      <p:sp>
        <p:nvSpPr>
          <p:cNvPr id="997598388"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217273" name="Slide Image Placeholder 1"/>
          <p:cNvSpPr>
            <a:spLocks noChangeAspect="1" noGrp="1" noRot="1"/>
          </p:cNvSpPr>
          <p:nvPr>
            <p:ph type="sldImg"/>
          </p:nvPr>
        </p:nvSpPr>
        <p:spPr bwMode="auto"/>
      </p:sp>
      <p:sp>
        <p:nvSpPr>
          <p:cNvPr id="189240143" name="Notes Placeholder 2"/>
          <p:cNvSpPr>
            <a:spLocks noGrp="1"/>
          </p:cNvSpPr>
          <p:nvPr>
            <p:ph type="body" idx="1"/>
          </p:nvPr>
        </p:nvSpPr>
        <p:spPr bwMode="auto"/>
        <p:txBody>
          <a:bodyPr/>
          <a:lstStyle/>
          <a:p>
            <a:pPr>
              <a:defRPr/>
            </a:pPr>
            <a:r>
              <a:rPr lang="en-US"/>
              <a:t>Primera ejecución: lote de 4, 10 épocas, Adam con tasa 0.001, BCEWithLogitsLoss y CPU. BCEWithLogitsLoss combina sigmoide y entropía cruzada binaria de forma estable, por eso la red devuelve logits y la sigmoide solo se usa en inferencia. Se guarda el modelo con menor pérdida de validación (best_unet.pth).</a:t>
            </a:r>
            <a:endParaRPr lang="en-US"/>
          </a:p>
        </p:txBody>
      </p:sp>
      <p:sp>
        <p:nvSpPr>
          <p:cNvPr id="321508324"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720538" name="Slide Image Placeholder 1"/>
          <p:cNvSpPr>
            <a:spLocks noChangeAspect="1" noGrp="1" noRot="1"/>
          </p:cNvSpPr>
          <p:nvPr>
            <p:ph type="sldImg"/>
          </p:nvPr>
        </p:nvSpPr>
        <p:spPr bwMode="auto"/>
      </p:sp>
      <p:sp>
        <p:nvSpPr>
          <p:cNvPr id="1655945192" name="Notes Placeholder 2"/>
          <p:cNvSpPr>
            <a:spLocks noGrp="1"/>
          </p:cNvSpPr>
          <p:nvPr>
            <p:ph type="body" idx="1"/>
          </p:nvPr>
        </p:nvSpPr>
        <p:spPr bwMode="auto"/>
        <p:txBody>
          <a:bodyPr/>
          <a:lstStyle/>
          <a:p>
            <a:pPr>
              <a:defRPr/>
            </a:pPr>
            <a:r>
              <a:rPr lang="en-US"/>
              <a:t>Segunda versión: transformaciones aleatorias solo en entrenamiento (augment=True en CarDataset). Volteo horizontal con p=0.5 aplicado igual a imagen y máscara; brillo, contraste y saturación entre 0.85 y 1.15 solo en la imagen. Motivación: más diversidad efectiva y menos dependencia de la iluminación. Aplicarlo no garantiza mejora: hay que medirla.</a:t>
            </a:r>
            <a:endParaRPr lang="en-US"/>
          </a:p>
        </p:txBody>
      </p:sp>
      <p:sp>
        <p:nvSpPr>
          <p:cNvPr id="943104841"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0383547" name="Slide Image Placeholder 1"/>
          <p:cNvSpPr>
            <a:spLocks noChangeAspect="1" noGrp="1" noRot="1"/>
          </p:cNvSpPr>
          <p:nvPr>
            <p:ph type="sldImg"/>
          </p:nvPr>
        </p:nvSpPr>
        <p:spPr bwMode="auto"/>
      </p:sp>
      <p:sp>
        <p:nvSpPr>
          <p:cNvPr id="1912040491" name="Notes Placeholder 2"/>
          <p:cNvSpPr>
            <a:spLocks noGrp="1"/>
          </p:cNvSpPr>
          <p:nvPr>
            <p:ph type="body" idx="1"/>
          </p:nvPr>
        </p:nvSpPr>
        <p:spPr bwMode="auto"/>
        <p:txBody>
          <a:bodyPr/>
          <a:lstStyle/>
          <a:p>
            <a:pPr>
              <a:defRPr/>
            </a:pPr>
            <a:r>
              <a:rPr lang="en-US"/>
              <a:t>IoU y Dice comparan directamente la máscara predicha con la real. Precisión y recall muestran qué tipo de error domina: falsos positivos o falsos negativos. No se usa solo accuracy porque el fondo ocupa gran parte de la imagen. En eval.py se calculan por imagen y se promedian sobre las 75 imágenes; si ambas máscaras están vacías vale 1.</a:t>
            </a:r>
            <a:endParaRPr lang="en-US"/>
          </a:p>
        </p:txBody>
      </p:sp>
      <p:sp>
        <p:nvSpPr>
          <p:cNvPr id="75384057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0887073" name="Slide Image Placeholder 1"/>
          <p:cNvSpPr>
            <a:spLocks noChangeAspect="1" noGrp="1" noRot="1"/>
          </p:cNvSpPr>
          <p:nvPr>
            <p:ph type="sldImg"/>
          </p:nvPr>
        </p:nvSpPr>
        <p:spPr bwMode="auto"/>
      </p:sp>
      <p:sp>
        <p:nvSpPr>
          <p:cNvPr id="891799189" name="Notes Placeholder 2"/>
          <p:cNvSpPr>
            <a:spLocks noGrp="1"/>
          </p:cNvSpPr>
          <p:nvPr>
            <p:ph type="body" idx="1"/>
          </p:nvPr>
        </p:nvSpPr>
        <p:spPr bwMode="auto"/>
        <p:txBody>
          <a:bodyPr/>
          <a:lstStyle/>
          <a:p>
            <a:pPr>
              <a:defRPr/>
            </a:pPr>
            <a:r>
              <a:rPr lang="en-US"/>
              <a:t>Pérdida de entrenamiento de 0.3991 a 0.1136; validación de 0.2938 a 0.1306, con pequeños aumentos en las épocas 3 y 8. Es evidencia de que el modelo aprende, pero no demuestra por sí sola la calidad de las máscaras.</a:t>
            </a:r>
            <a:endParaRPr lang="en-US"/>
          </a:p>
        </p:txBody>
      </p:sp>
      <p:sp>
        <p:nvSpPr>
          <p:cNvPr id="916257217"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7762474" name="Slide Image Placeholder 1"/>
          <p:cNvSpPr>
            <a:spLocks noChangeAspect="1" noGrp="1" noRot="1"/>
          </p:cNvSpPr>
          <p:nvPr>
            <p:ph type="sldImg"/>
          </p:nvPr>
        </p:nvSpPr>
        <p:spPr bwMode="auto"/>
      </p:sp>
      <p:sp>
        <p:nvSpPr>
          <p:cNvPr id="796481890" name="Notes Placeholder 2"/>
          <p:cNvSpPr>
            <a:spLocks noGrp="1"/>
          </p:cNvSpPr>
          <p:nvPr>
            <p:ph type="body" idx="1"/>
          </p:nvPr>
        </p:nvSpPr>
        <p:spPr bwMode="auto"/>
        <p:txBody>
          <a:bodyPr/>
          <a:lstStyle/>
          <a:p>
            <a:pPr>
              <a:defRPr/>
            </a:pPr>
            <a:r>
              <a:rPr lang="en-US"/>
              <a:t>En prueba (75 imágenes, umbral 0.5, sin aumento): IoU 0.8380 y Dice 0.9072; en validación IoU 0.8162. Se probaron umbrales de 0.3 a 0.7 sobre validación: 0.5 da el mayor IoU; menos umbral sube el recall y más umbral sube la precisión. No mezclar esta tabla con prueba ni con el modelo aumentado.</a:t>
            </a:r>
            <a:endParaRPr lang="en-US"/>
          </a:p>
        </p:txBody>
      </p:sp>
      <p:sp>
        <p:nvSpPr>
          <p:cNvPr id="2022945216"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7654831" name="Slide Image Placeholder 1"/>
          <p:cNvSpPr>
            <a:spLocks noChangeAspect="1" noGrp="1" noRot="1"/>
          </p:cNvSpPr>
          <p:nvPr>
            <p:ph type="sldImg"/>
          </p:nvPr>
        </p:nvSpPr>
        <p:spPr bwMode="auto"/>
      </p:sp>
      <p:sp>
        <p:nvSpPr>
          <p:cNvPr id="1042119044" name="Notes Placeholder 2"/>
          <p:cNvSpPr>
            <a:spLocks noGrp="1"/>
          </p:cNvSpPr>
          <p:nvPr>
            <p:ph type="body" idx="1"/>
          </p:nvPr>
        </p:nvSpPr>
        <p:spPr bwMode="auto"/>
        <p:txBody>
          <a:bodyPr/>
          <a:lstStyle/>
          <a:p>
            <a:pPr>
              <a:defRPr/>
            </a:pPr>
            <a:r>
              <a:rPr lang="en-US"/>
              <a:t>En el ejemplo visual de la misma escena, el IoU pasó de 0.665 sin aumento a 0.719 con aumento, con menos falsos positivos (rojo). Es una sola imagen. La fila del modelo sin aumento viene de la tabla de validación a umbral 0.5; falta evaluar el checkpoint aumentado en las 75 imágenes de validación y completar la tabla.</a:t>
            </a:r>
            <a:endParaRPr lang="en-US"/>
          </a:p>
        </p:txBody>
      </p:sp>
      <p:sp>
        <p:nvSpPr>
          <p:cNvPr id="1049407062"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6642541" name="Slide Image Placeholder 1"/>
          <p:cNvSpPr>
            <a:spLocks noChangeAspect="1" noGrp="1" noRot="1"/>
          </p:cNvSpPr>
          <p:nvPr>
            <p:ph type="sldImg"/>
          </p:nvPr>
        </p:nvSpPr>
        <p:spPr bwMode="auto"/>
      </p:sp>
      <p:sp>
        <p:nvSpPr>
          <p:cNvPr id="1350123842" name="Notes Placeholder 2"/>
          <p:cNvSpPr>
            <a:spLocks noGrp="1"/>
          </p:cNvSpPr>
          <p:nvPr>
            <p:ph type="body" idx="1"/>
          </p:nvPr>
        </p:nvSpPr>
        <p:spPr bwMode="auto"/>
        <p:txBody>
          <a:bodyPr/>
          <a:lstStyle/>
          <a:p>
            <a:pPr>
              <a:defRPr/>
            </a:pPr>
            <a:r>
              <a:rPr lang="en-US"/>
              <a:t>La arquitectura es funcional y una base prometedora, pero no se afirma que segmente perfectamente ni que generalice. Sobre el aumento de datos hay que separar lo sustentado (mejora de IoU en una escena) de lo pendiente (mejora promedio en validación).</a:t>
            </a:r>
            <a:endParaRPr lang="en-US"/>
          </a:p>
        </p:txBody>
      </p:sp>
      <p:sp>
        <p:nvSpPr>
          <p:cNvPr id="1300074819"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74839" name="Slide Image Placeholder 1"/>
          <p:cNvSpPr>
            <a:spLocks noChangeAspect="1" noGrp="1" noRot="1"/>
          </p:cNvSpPr>
          <p:nvPr>
            <p:ph type="sldImg"/>
          </p:nvPr>
        </p:nvSpPr>
        <p:spPr bwMode="auto"/>
      </p:sp>
      <p:sp>
        <p:nvSpPr>
          <p:cNvPr id="347830936" name="Notes Placeholder 2"/>
          <p:cNvSpPr>
            <a:spLocks noGrp="1"/>
          </p:cNvSpPr>
          <p:nvPr>
            <p:ph type="body" idx="1"/>
          </p:nvPr>
        </p:nvSpPr>
        <p:spPr bwMode="auto"/>
        <p:txBody>
          <a:bodyPr/>
          <a:lstStyle/>
          <a:p>
            <a:pPr>
              <a:defRPr/>
            </a:pPr>
            <a:r>
              <a:rPr lang="en-US"/>
              <a:t>Limitaciones: tamaño del dataset, dependencia de etiquetas manuales, resolución de 256, segmentación binaria sin instancias, conjunto de prueba reservado como referencia final y alcance experimental limitado. Trabajo futuro: evaluar el modelo aumentado en toda la validación, probar BCE más Dice, variar resolución, lote y épocas, analizar por tamaño y distancia, y probar imágenes externas.</a:t>
            </a:r>
            <a:endParaRPr lang="en-US"/>
          </a:p>
        </p:txBody>
      </p:sp>
      <p:sp>
        <p:nvSpPr>
          <p:cNvPr id="2122996821"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3680831" name="Slide Image Placeholder 1"/>
          <p:cNvSpPr>
            <a:spLocks noChangeAspect="1" noGrp="1" noRot="1"/>
          </p:cNvSpPr>
          <p:nvPr>
            <p:ph type="sldImg"/>
          </p:nvPr>
        </p:nvSpPr>
        <p:spPr bwMode="auto"/>
      </p:sp>
      <p:sp>
        <p:nvSpPr>
          <p:cNvPr id="698184633" name="Notes Placeholder 2"/>
          <p:cNvSpPr>
            <a:spLocks noGrp="1"/>
          </p:cNvSpPr>
          <p:nvPr>
            <p:ph type="body" idx="1"/>
          </p:nvPr>
        </p:nvSpPr>
        <p:spPr bwMode="auto"/>
        <p:txBody>
          <a:bodyPr/>
          <a:lstStyle/>
          <a:p>
            <a:pPr>
              <a:defRPr/>
            </a:pPr>
            <a:r>
              <a:rPr lang="en-US"/>
              <a:t>Conclusión técnica: es factible implementar una U-Net propia en PyTorch para segmentar coches, evaluarla con métricas de solapamiento y usar el análisis visual para localizar errores. El aumento de datos abre una línea de mejora cuyo beneficio global falta cuantificar.</a:t>
            </a:r>
            <a:endParaRPr lang="en-US"/>
          </a:p>
        </p:txBody>
      </p:sp>
      <p:sp>
        <p:nvSpPr>
          <p:cNvPr id="658333231"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963354" name="Slide Image Placeholder 1"/>
          <p:cNvSpPr>
            <a:spLocks noChangeAspect="1" noGrp="1" noRot="1"/>
          </p:cNvSpPr>
          <p:nvPr>
            <p:ph type="sldImg"/>
          </p:nvPr>
        </p:nvSpPr>
        <p:spPr bwMode="auto"/>
      </p:sp>
      <p:sp>
        <p:nvSpPr>
          <p:cNvPr id="2022007083" name="Notes Placeholder 2"/>
          <p:cNvSpPr>
            <a:spLocks noGrp="1"/>
          </p:cNvSpPr>
          <p:nvPr>
            <p:ph type="body" idx="1"/>
          </p:nvPr>
        </p:nvSpPr>
        <p:spPr bwMode="auto"/>
        <p:txBody>
          <a:bodyPr/>
          <a:lstStyle/>
          <a:p>
            <a:pPr>
              <a:defRPr/>
            </a:pPr>
            <a:r>
              <a:rPr lang="en-US"/>
              <a:t>Formato APA adaptado; ajustar a las normas de la institución. Los números coinciden con las citas [n] de las diapositivas.</a:t>
            </a:r>
            <a:endParaRPr lang="en-US"/>
          </a:p>
        </p:txBody>
      </p:sp>
      <p:sp>
        <p:nvSpPr>
          <p:cNvPr id="1291957844"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2411344" name="Slide Image Placeholder 1"/>
          <p:cNvSpPr>
            <a:spLocks noChangeAspect="1" noGrp="1" noRot="1"/>
          </p:cNvSpPr>
          <p:nvPr>
            <p:ph type="sldImg"/>
          </p:nvPr>
        </p:nvSpPr>
        <p:spPr bwMode="auto"/>
      </p:sp>
      <p:sp>
        <p:nvSpPr>
          <p:cNvPr id="1780296135" name="Notes Placeholder 2"/>
          <p:cNvSpPr>
            <a:spLocks noGrp="1"/>
          </p:cNvSpPr>
          <p:nvPr>
            <p:ph type="body" idx="1"/>
          </p:nvPr>
        </p:nvSpPr>
        <p:spPr bwMode="auto"/>
        <p:txBody>
          <a:bodyPr/>
          <a:lstStyle/>
          <a:p>
            <a:pPr>
              <a:defRPr/>
            </a:pPr>
            <a:r>
              <a:rPr lang="en-US"/>
              <a:t>Tutoriales, repositorios y conjuntos de datos consultados durante el proyecto. Pendiente: confirmar cuál conjunto de datos se usó y su licencia.</a:t>
            </a:r>
            <a:endParaRPr lang="en-US"/>
          </a:p>
        </p:txBody>
      </p:sp>
      <p:sp>
        <p:nvSpPr>
          <p:cNvPr id="303273752"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ORTADA">
    <p:bg>
      <p:bgPr shadeToTitle="0">
        <a:solidFill>
          <a:schemeClr val="tx1"/>
        </a:solidFill>
      </p:bgPr>
    </p:bg>
    <p:spTree>
      <p:nvGrpSpPr>
        <p:cNvPr id="1" name=""/>
        <p:cNvGrpSpPr/>
        <p:nvPr/>
      </p:nvGrpSpPr>
      <p:grpSpPr bwMode="auto">
        <a:xfrm>
          <a:off x="0" y="0"/>
          <a:ext cx="0" cy="0"/>
          <a:chOff x="0" y="0"/>
          <a:chExt cx="0" cy="0"/>
        </a:xfrm>
      </p:grpSpPr>
      <p:sp>
        <p:nvSpPr>
          <p:cNvPr id="1085919891" name="Text 0"/>
          <p:cNvSpPr/>
          <p:nvPr>
            <p:ph type="title" idx="100" hasCustomPrompt="1"/>
          </p:nvPr>
        </p:nvSpPr>
        <p:spPr bwMode="auto">
          <a:xfrm>
            <a:off x="548640" y="914400"/>
            <a:ext cx="6492240" cy="2834640"/>
          </a:xfrm>
          <a:prstGeom prst="rect">
            <a:avLst/>
          </a:prstGeom>
          <a:noFill/>
          <a:ln/>
        </p:spPr>
        <p:txBody>
          <a:bodyPr wrap="square" rtlCol="0"/>
          <a:lstStyle>
            <a:lvl1pPr marL="0" indent="0" algn="l">
              <a:buNone/>
              <a:defRPr lang="en-US" sz="3400" b="1">
                <a:solidFill>
                  <a:schemeClr val="bg1"/>
                </a:solidFill>
              </a:defRPr>
            </a:lvl1pPr>
          </a:lstStyle>
          <a:p>
            <a:pPr marL="0" indent="0" algn="l">
              <a:buNone/>
              <a:defRPr/>
            </a:pPr>
            <a:endParaRPr lang="en-US" sz="3400"/>
          </a:p>
        </p:txBody>
      </p:sp>
      <p:sp>
        <p:nvSpPr>
          <p:cNvPr id="661178707" name="Text 0"/>
          <p:cNvSpPr/>
          <p:nvPr>
            <p:ph type="body" idx="101" hasCustomPrompt="1"/>
          </p:nvPr>
        </p:nvSpPr>
        <p:spPr bwMode="auto">
          <a:xfrm>
            <a:off x="548640" y="457200"/>
            <a:ext cx="6400800" cy="274320"/>
          </a:xfrm>
          <a:prstGeom prst="rect">
            <a:avLst/>
          </a:prstGeom>
          <a:noFill/>
          <a:ln/>
        </p:spPr>
        <p:txBody>
          <a:bodyPr wrap="square" rtlCol="0"/>
          <a:lstStyle>
            <a:lvl1pPr marL="0" indent="0">
              <a:buNone/>
              <a:defRPr lang="en-US" sz="1200" b="1" spc="200">
                <a:solidFill>
                  <a:schemeClr val="accent1"/>
                </a:solidFill>
              </a:defRPr>
            </a:lvl1pPr>
          </a:lstStyle>
          <a:p>
            <a:pPr marL="0" indent="0">
              <a:buNone/>
              <a:defRPr/>
            </a:pPr>
            <a:endParaRPr lang="en-US"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p:bg>
      <p:bgPr shadeToTitle="0">
        <a:solidFill>
          <a:schemeClr val="tx1"/>
        </a:solidFill>
      </p:bgPr>
    </p:bg>
    <p:spTree>
      <p:nvGrpSpPr>
        <p:cNvPr id="1" name=""/>
        <p:cNvGrpSpPr/>
        <p:nvPr/>
      </p:nvGrpSpPr>
      <p:grpSpPr bwMode="auto">
        <a:xfrm>
          <a:off x="0" y="0"/>
          <a:ext cx="0" cy="0"/>
          <a:chOff x="0" y="0"/>
          <a:chExt cx="0" cy="0"/>
        </a:xfrm>
      </p:grpSpPr>
      <p:sp>
        <p:nvSpPr>
          <p:cNvPr id="509138831" name="Text 0"/>
          <p:cNvSpPr/>
          <p:nvPr>
            <p:ph type="title" idx="100" hasCustomPrompt="1"/>
          </p:nvPr>
        </p:nvSpPr>
        <p:spPr bwMode="auto">
          <a:xfrm>
            <a:off x="548640" y="713232"/>
            <a:ext cx="11091672" cy="731520"/>
          </a:xfrm>
          <a:prstGeom prst="rect">
            <a:avLst/>
          </a:prstGeom>
          <a:noFill/>
          <a:ln/>
        </p:spPr>
        <p:txBody>
          <a:bodyPr wrap="square" rtlCol="0"/>
          <a:lstStyle>
            <a:lvl1pPr marL="0" indent="0" algn="l">
              <a:buNone/>
              <a:defRPr lang="en-US" sz="3600" b="1">
                <a:solidFill>
                  <a:schemeClr val="bg1"/>
                </a:solidFill>
              </a:defRPr>
            </a:lvl1pPr>
          </a:lstStyle>
          <a:p>
            <a:pPr marL="0" indent="0" algn="l">
              <a:buNone/>
              <a:defRPr/>
            </a:pPr>
            <a:endParaRPr lang="en-US" sz="3600"/>
          </a:p>
        </p:txBody>
      </p:sp>
      <p:sp>
        <p:nvSpPr>
          <p:cNvPr id="16914730" name="Text 0"/>
          <p:cNvSpPr/>
          <p:nvPr>
            <p:ph type="body" idx="101" hasCustomPrompt="1"/>
          </p:nvPr>
        </p:nvSpPr>
        <p:spPr bwMode="auto">
          <a:xfrm>
            <a:off x="548640" y="384048"/>
            <a:ext cx="8229600" cy="274320"/>
          </a:xfrm>
          <a:prstGeom prst="rect">
            <a:avLst/>
          </a:prstGeom>
          <a:noFill/>
          <a:ln/>
        </p:spPr>
        <p:txBody>
          <a:bodyPr wrap="square" rtlCol="0"/>
          <a:lstStyle>
            <a:lvl1pPr marL="0" indent="0">
              <a:buNone/>
              <a:defRPr lang="en-US" sz="1200" b="1" spc="200">
                <a:solidFill>
                  <a:schemeClr val="accent1"/>
                </a:solidFill>
              </a:defRPr>
            </a:lvl1pPr>
          </a:lstStyle>
          <a:p>
            <a:pPr marL="0" indent="0">
              <a:buNone/>
              <a:defRPr/>
            </a:pPr>
            <a:endParaRPr lang="en-US" sz="1200"/>
          </a:p>
        </p:txBody>
      </p:sp>
      <p:sp>
        <p:nvSpPr>
          <p:cNvPr id="1280627944" name="Text 0"/>
          <p:cNvSpPr/>
          <p:nvPr/>
        </p:nvSpPr>
        <p:spPr bwMode="auto">
          <a:xfrm>
            <a:off x="548640" y="6446520"/>
            <a:ext cx="5486400" cy="256032"/>
          </a:xfrm>
          <a:prstGeom prst="rect">
            <a:avLst/>
          </a:prstGeom>
          <a:noFill/>
          <a:ln/>
        </p:spPr>
        <p:txBody>
          <a:bodyPr wrap="square" lIns="0" tIns="0" rIns="0" bIns="0" rtlCol="0" anchor="ctr"/>
          <a:lstStyle/>
          <a:p>
            <a:pPr marL="0" indent="0">
              <a:buNone/>
              <a:defRPr/>
            </a:pPr>
            <a:r>
              <a:rPr lang="en-US" sz="1100">
                <a:solidFill>
                  <a:schemeClr val="bg2"/>
                </a:solidFill>
              </a:rPr>
              <a:t>U-Net · Segmentación semántica de coches</a:t>
            </a:r>
            <a:endParaRPr lang="en-US" sz="1100"/>
          </a:p>
        </p:txBody>
      </p:sp>
      <p:sp>
        <p:nvSpPr>
          <p:cNvPr id="1319122576"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1003</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
        <p:nvSpPr>
          <p:cNvPr id="428333641"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1.xml" /></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hart" Target="../charts/chart2.xml" /></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medium.com/@alessandromondin/semantic-segmentation-with-pytorch-u-net-from-scratch-502d6565910a" TargetMode="External"/><Relationship Id="rId4" Type="http://schemas.openxmlformats.org/officeDocument/2006/relationships/hyperlink" Target="https://bhimraj.com.np/blog/pytorch-unet-image-segmentation-implementation" TargetMode="External"/><Relationship Id="rId5" Type="http://schemas.openxmlformats.org/officeDocument/2006/relationships/hyperlink" Target="https://github.com/milesial/Pytorch-UNet" TargetMode="External"/><Relationship Id="rId6" Type="http://schemas.openxmlformats.org/officeDocument/2006/relationships/hyperlink" Target="https://www.analyticsvidhya.com/blog/2023/08/unet-architecture-mastering-image-segmentation/" TargetMode="External"/><Relationship Id="rId7" Type="http://schemas.openxmlformats.org/officeDocument/2006/relationships/hyperlink" Target="https://theaisummer.com/unet-architectures/" TargetMode="External"/><Relationship Id="rId8" Type="http://schemas.openxmlformats.org/officeDocument/2006/relationships/hyperlink" Target="https://huggingface.co/datasets/Smily6820/car-images" TargetMode="External"/><Relationship Id="rId9" Type="http://schemas.openxmlformats.org/officeDocument/2006/relationships/hyperlink" Target="https://github.com/EkdeepSLubana/raw_dataset/tree/master"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728571200" name="Text 0"/>
          <p:cNvSpPr/>
          <p:nvPr>
            <p:ph type="title" idx="100" hasCustomPrompt="1"/>
          </p:nvPr>
        </p:nvSpPr>
        <p:spPr bwMode="auto">
          <a:xfrm>
            <a:off x="548640" y="2011680"/>
            <a:ext cx="6492240" cy="2834640"/>
          </a:xfrm>
          <a:prstGeom prst="rect">
            <a:avLst/>
          </a:prstGeom>
          <a:noFill/>
          <a:ln/>
        </p:spPr>
        <p:txBody>
          <a:bodyPr wrap="square" lIns="0" tIns="0" rIns="0" bIns="0" rtlCol="0" anchor="t"/>
          <a:lstStyle/>
          <a:p>
            <a:pPr marL="0" indent="0" algn="l">
              <a:buNone/>
              <a:defRPr/>
            </a:pPr>
            <a:r>
              <a:rPr lang="en-US" sz="3400" b="1">
                <a:solidFill>
                  <a:schemeClr val="bg1"/>
                </a:solidFill>
              </a:rPr>
              <a:t>Desarrollo y evaluación de una red neuronal U-Net para la segmentación semántica binaria de vehículos en imágenes urbanas</a:t>
            </a:r>
            <a:endParaRPr lang="en-US" sz="3400"/>
          </a:p>
        </p:txBody>
      </p:sp>
      <p:sp>
        <p:nvSpPr>
          <p:cNvPr id="1250909982" name="Mapa de características 1"/>
          <p:cNvSpPr/>
          <p:nvPr/>
        </p:nvSpPr>
        <p:spPr bwMode="auto">
          <a:xfrm>
            <a:off x="7452360" y="1600200"/>
            <a:ext cx="368968" cy="3657600"/>
          </a:xfrm>
          <a:prstGeom prst="roundRect">
            <a:avLst>
              <a:gd name="adj" fmla="val 12391"/>
            </a:avLst>
          </a:prstGeom>
          <a:solidFill>
            <a:schemeClr val="accent1"/>
          </a:solidFill>
          <a:ln/>
        </p:spPr>
      </p:sp>
      <p:sp>
        <p:nvSpPr>
          <p:cNvPr id="896546635" name="Mapa de características 2"/>
          <p:cNvSpPr/>
          <p:nvPr/>
        </p:nvSpPr>
        <p:spPr bwMode="auto">
          <a:xfrm>
            <a:off x="7932019" y="1965960"/>
            <a:ext cx="368968" cy="2926080"/>
          </a:xfrm>
          <a:prstGeom prst="roundRect">
            <a:avLst>
              <a:gd name="adj" fmla="val 12391"/>
            </a:avLst>
          </a:prstGeom>
          <a:solidFill>
            <a:schemeClr val="accent1"/>
          </a:solidFill>
          <a:ln/>
        </p:spPr>
      </p:sp>
      <p:sp>
        <p:nvSpPr>
          <p:cNvPr id="2004570086" name="Mapa de características 3"/>
          <p:cNvSpPr/>
          <p:nvPr/>
        </p:nvSpPr>
        <p:spPr bwMode="auto">
          <a:xfrm>
            <a:off x="8411678" y="2331720"/>
            <a:ext cx="368968" cy="2194560"/>
          </a:xfrm>
          <a:prstGeom prst="roundRect">
            <a:avLst>
              <a:gd name="adj" fmla="val 12391"/>
            </a:avLst>
          </a:prstGeom>
          <a:solidFill>
            <a:schemeClr val="accent1"/>
          </a:solidFill>
          <a:ln/>
        </p:spPr>
      </p:sp>
      <p:sp>
        <p:nvSpPr>
          <p:cNvPr id="684321876" name="Mapa de características 4"/>
          <p:cNvSpPr/>
          <p:nvPr/>
        </p:nvSpPr>
        <p:spPr bwMode="auto">
          <a:xfrm>
            <a:off x="8891337" y="2697480"/>
            <a:ext cx="368968" cy="1463040"/>
          </a:xfrm>
          <a:prstGeom prst="roundRect">
            <a:avLst>
              <a:gd name="adj" fmla="val 12391"/>
            </a:avLst>
          </a:prstGeom>
          <a:solidFill>
            <a:schemeClr val="accent1"/>
          </a:solidFill>
          <a:ln/>
        </p:spPr>
      </p:sp>
      <p:sp>
        <p:nvSpPr>
          <p:cNvPr id="862309545" name="Mapa de características 5"/>
          <p:cNvSpPr/>
          <p:nvPr/>
        </p:nvSpPr>
        <p:spPr bwMode="auto">
          <a:xfrm>
            <a:off x="9370996" y="3017519"/>
            <a:ext cx="368968" cy="822960"/>
          </a:xfrm>
          <a:prstGeom prst="roundRect">
            <a:avLst>
              <a:gd name="adj" fmla="val 12391"/>
            </a:avLst>
          </a:prstGeom>
          <a:solidFill>
            <a:schemeClr val="accent3"/>
          </a:solidFill>
          <a:ln/>
        </p:spPr>
      </p:sp>
      <p:sp>
        <p:nvSpPr>
          <p:cNvPr id="774057688" name="Mapa de características 6"/>
          <p:cNvSpPr/>
          <p:nvPr/>
        </p:nvSpPr>
        <p:spPr bwMode="auto">
          <a:xfrm>
            <a:off x="9850655" y="2697480"/>
            <a:ext cx="368968" cy="1463040"/>
          </a:xfrm>
          <a:prstGeom prst="roundRect">
            <a:avLst>
              <a:gd name="adj" fmla="val 12391"/>
            </a:avLst>
          </a:prstGeom>
          <a:solidFill>
            <a:schemeClr val="accent2"/>
          </a:solidFill>
          <a:ln/>
        </p:spPr>
      </p:sp>
      <p:sp>
        <p:nvSpPr>
          <p:cNvPr id="415335971" name="Mapa de características 7"/>
          <p:cNvSpPr/>
          <p:nvPr/>
        </p:nvSpPr>
        <p:spPr bwMode="auto">
          <a:xfrm>
            <a:off x="10330314" y="2331720"/>
            <a:ext cx="368968" cy="2194560"/>
          </a:xfrm>
          <a:prstGeom prst="roundRect">
            <a:avLst>
              <a:gd name="adj" fmla="val 12391"/>
            </a:avLst>
          </a:prstGeom>
          <a:solidFill>
            <a:schemeClr val="accent2"/>
          </a:solidFill>
          <a:ln/>
        </p:spPr>
      </p:sp>
      <p:sp>
        <p:nvSpPr>
          <p:cNvPr id="952520238" name="Mapa de características 8"/>
          <p:cNvSpPr/>
          <p:nvPr/>
        </p:nvSpPr>
        <p:spPr bwMode="auto">
          <a:xfrm>
            <a:off x="10809973" y="1965960"/>
            <a:ext cx="368968" cy="2926080"/>
          </a:xfrm>
          <a:prstGeom prst="roundRect">
            <a:avLst>
              <a:gd name="adj" fmla="val 12391"/>
            </a:avLst>
          </a:prstGeom>
          <a:solidFill>
            <a:schemeClr val="accent2"/>
          </a:solidFill>
          <a:ln/>
        </p:spPr>
      </p:sp>
      <p:sp>
        <p:nvSpPr>
          <p:cNvPr id="1386681910" name="Mapa de características 9"/>
          <p:cNvSpPr/>
          <p:nvPr/>
        </p:nvSpPr>
        <p:spPr bwMode="auto">
          <a:xfrm>
            <a:off x="11289632" y="1600200"/>
            <a:ext cx="368968" cy="3657600"/>
          </a:xfrm>
          <a:prstGeom prst="roundRect">
            <a:avLst>
              <a:gd name="adj" fmla="val 12391"/>
            </a:avLst>
          </a:prstGeom>
          <a:solidFill>
            <a:schemeClr val="accent2"/>
          </a:solidFill>
          <a:ln/>
        </p:spPr>
      </p:sp>
      <p:sp>
        <p:nvSpPr>
          <p:cNvPr id="54158569" name="Skip connection 1"/>
          <p:cNvSpPr/>
          <p:nvPr/>
        </p:nvSpPr>
        <p:spPr bwMode="auto">
          <a:xfrm>
            <a:off x="7876192" y="1472184"/>
            <a:ext cx="3358575" cy="0"/>
          </a:xfrm>
          <a:prstGeom prst="line">
            <a:avLst/>
          </a:prstGeom>
          <a:noFill/>
          <a:ln w="19050">
            <a:solidFill>
              <a:schemeClr val="accent4"/>
            </a:solidFill>
            <a:prstDash val="dash"/>
          </a:ln>
        </p:spPr>
      </p:sp>
      <p:sp>
        <p:nvSpPr>
          <p:cNvPr id="464860977" name="Skip connection 2"/>
          <p:cNvSpPr/>
          <p:nvPr/>
        </p:nvSpPr>
        <p:spPr bwMode="auto">
          <a:xfrm>
            <a:off x="8355851" y="1837944"/>
            <a:ext cx="2399257" cy="0"/>
          </a:xfrm>
          <a:prstGeom prst="line">
            <a:avLst/>
          </a:prstGeom>
          <a:noFill/>
          <a:ln w="19050">
            <a:solidFill>
              <a:schemeClr val="accent4"/>
            </a:solidFill>
            <a:prstDash val="dash"/>
          </a:ln>
        </p:spPr>
      </p:sp>
      <p:sp>
        <p:nvSpPr>
          <p:cNvPr id="2136363209" name="Skip connection 3"/>
          <p:cNvSpPr/>
          <p:nvPr/>
        </p:nvSpPr>
        <p:spPr bwMode="auto">
          <a:xfrm>
            <a:off x="8835510" y="2203704"/>
            <a:ext cx="1439939" cy="0"/>
          </a:xfrm>
          <a:prstGeom prst="line">
            <a:avLst/>
          </a:prstGeom>
          <a:noFill/>
          <a:ln w="19050">
            <a:solidFill>
              <a:schemeClr val="accent4"/>
            </a:solidFill>
            <a:prstDash val="dash"/>
          </a:ln>
        </p:spPr>
      </p:sp>
      <p:sp>
        <p:nvSpPr>
          <p:cNvPr id="1309944167" name="Skip connection 4"/>
          <p:cNvSpPr/>
          <p:nvPr/>
        </p:nvSpPr>
        <p:spPr bwMode="auto">
          <a:xfrm>
            <a:off x="9315169" y="2569464"/>
            <a:ext cx="480621" cy="0"/>
          </a:xfrm>
          <a:prstGeom prst="line">
            <a:avLst/>
          </a:prstGeom>
          <a:noFill/>
          <a:ln w="19050">
            <a:solidFill>
              <a:schemeClr val="accent4"/>
            </a:solidFill>
            <a:prstDash val="dash"/>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735500319"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Resumen</a:t>
            </a:r>
            <a:endParaRPr lang="en-US" sz="3600"/>
          </a:p>
        </p:txBody>
      </p:sp>
      <p:sp>
        <p:nvSpPr>
          <p:cNvPr id="2062122888"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2 · ABSTRACT</a:t>
            </a:r>
            <a:endParaRPr lang="en-US" sz="1200"/>
          </a:p>
        </p:txBody>
      </p:sp>
      <p:sp>
        <p:nvSpPr>
          <p:cNvPr id="983555813" name="Etiqueta Problema"/>
          <p:cNvSpPr txBox="1"/>
          <p:nvPr/>
        </p:nvSpPr>
        <p:spPr bwMode="auto">
          <a:xfrm>
            <a:off x="548640" y="1719072"/>
            <a:ext cx="1371600" cy="274320"/>
          </a:xfrm>
          <a:prstGeom prst="rect">
            <a:avLst/>
          </a:prstGeom>
          <a:noFill/>
          <a:ln/>
        </p:spPr>
        <p:txBody>
          <a:bodyPr wrap="square" lIns="0" tIns="0" rIns="0" bIns="0" rtlCol="0" anchor="t"/>
          <a:lstStyle/>
          <a:p>
            <a:pPr marL="0" indent="0">
              <a:buNone/>
              <a:defRPr/>
            </a:pPr>
            <a:r>
              <a:rPr lang="en-US" sz="1200" b="1" spc="100">
                <a:solidFill>
                  <a:schemeClr val="accent1"/>
                </a:solidFill>
              </a:rPr>
              <a:t>PROBLEMA</a:t>
            </a:r>
            <a:endParaRPr lang="en-US" sz="1200"/>
          </a:p>
        </p:txBody>
      </p:sp>
      <p:sp>
        <p:nvSpPr>
          <p:cNvPr id="343464775" name="Texto Problema"/>
          <p:cNvSpPr txBox="1"/>
          <p:nvPr/>
        </p:nvSpPr>
        <p:spPr bwMode="auto">
          <a:xfrm>
            <a:off x="1965960" y="1691640"/>
            <a:ext cx="5669280" cy="822960"/>
          </a:xfrm>
          <a:prstGeom prst="rect">
            <a:avLst/>
          </a:prstGeom>
          <a:noFill/>
          <a:ln/>
        </p:spPr>
        <p:txBody>
          <a:bodyPr wrap="square" lIns="0" tIns="0" rIns="0" bIns="0" rtlCol="0" anchor="t"/>
          <a:lstStyle/>
          <a:p>
            <a:pPr marL="0" indent="0">
              <a:buNone/>
              <a:defRPr/>
            </a:pPr>
            <a:r>
              <a:rPr lang="en-US" sz="1500">
                <a:solidFill>
                  <a:schemeClr val="bg1"/>
                </a:solidFill>
              </a:rPr>
              <a:t>Distinguir los píxeles de coche de los del fondo en imágenes de escenas reales.</a:t>
            </a:r>
            <a:endParaRPr lang="en-US" sz="1500"/>
          </a:p>
        </p:txBody>
      </p:sp>
      <p:sp>
        <p:nvSpPr>
          <p:cNvPr id="51914042" name="Etiqueta Objetivo"/>
          <p:cNvSpPr txBox="1"/>
          <p:nvPr/>
        </p:nvSpPr>
        <p:spPr bwMode="auto">
          <a:xfrm>
            <a:off x="548640" y="2624328"/>
            <a:ext cx="1371600" cy="274320"/>
          </a:xfrm>
          <a:prstGeom prst="rect">
            <a:avLst/>
          </a:prstGeom>
          <a:noFill/>
          <a:ln/>
        </p:spPr>
        <p:txBody>
          <a:bodyPr wrap="square" lIns="0" tIns="0" rIns="0" bIns="0" rtlCol="0" anchor="t"/>
          <a:lstStyle/>
          <a:p>
            <a:pPr marL="0" indent="0">
              <a:buNone/>
              <a:defRPr/>
            </a:pPr>
            <a:r>
              <a:rPr lang="en-US" sz="1200" b="1" spc="100">
                <a:solidFill>
                  <a:schemeClr val="accent1"/>
                </a:solidFill>
              </a:rPr>
              <a:t>OBJETIVO</a:t>
            </a:r>
            <a:endParaRPr lang="en-US" sz="1200"/>
          </a:p>
        </p:txBody>
      </p:sp>
      <p:sp>
        <p:nvSpPr>
          <p:cNvPr id="598110444" name="Texto Objetivo"/>
          <p:cNvSpPr txBox="1"/>
          <p:nvPr/>
        </p:nvSpPr>
        <p:spPr bwMode="auto">
          <a:xfrm>
            <a:off x="1965960" y="2596896"/>
            <a:ext cx="5669280" cy="822960"/>
          </a:xfrm>
          <a:prstGeom prst="rect">
            <a:avLst/>
          </a:prstGeom>
          <a:noFill/>
          <a:ln/>
        </p:spPr>
        <p:txBody>
          <a:bodyPr wrap="square" lIns="0" tIns="0" rIns="0" bIns="0" rtlCol="0" anchor="t"/>
          <a:lstStyle/>
          <a:p>
            <a:pPr marL="0" indent="0">
              <a:buNone/>
              <a:defRPr/>
            </a:pPr>
            <a:r>
              <a:rPr lang="en-US" sz="1500">
                <a:solidFill>
                  <a:schemeClr val="bg1"/>
                </a:solidFill>
              </a:rPr>
              <a:t>Implementar y evaluar una U-Net para segmentación binaria y explorar el efecto del aumento de datos.</a:t>
            </a:r>
            <a:endParaRPr lang="en-US" sz="1500"/>
          </a:p>
        </p:txBody>
      </p:sp>
      <p:sp>
        <p:nvSpPr>
          <p:cNvPr id="676947000" name="Etiqueta Método"/>
          <p:cNvSpPr txBox="1"/>
          <p:nvPr/>
        </p:nvSpPr>
        <p:spPr bwMode="auto">
          <a:xfrm>
            <a:off x="548640" y="3529584"/>
            <a:ext cx="1371600" cy="274320"/>
          </a:xfrm>
          <a:prstGeom prst="rect">
            <a:avLst/>
          </a:prstGeom>
          <a:noFill/>
          <a:ln/>
        </p:spPr>
        <p:txBody>
          <a:bodyPr wrap="square" lIns="0" tIns="0" rIns="0" bIns="0" rtlCol="0" anchor="t"/>
          <a:lstStyle/>
          <a:p>
            <a:pPr marL="0" indent="0">
              <a:buNone/>
              <a:defRPr/>
            </a:pPr>
            <a:r>
              <a:rPr lang="en-US" sz="1200" b="1" spc="100">
                <a:solidFill>
                  <a:schemeClr val="accent1"/>
                </a:solidFill>
              </a:rPr>
              <a:t>MÉTODO</a:t>
            </a:r>
            <a:endParaRPr lang="en-US" sz="1200"/>
          </a:p>
        </p:txBody>
      </p:sp>
      <p:sp>
        <p:nvSpPr>
          <p:cNvPr id="522753645" name="Texto Método"/>
          <p:cNvSpPr txBox="1"/>
          <p:nvPr/>
        </p:nvSpPr>
        <p:spPr bwMode="auto">
          <a:xfrm>
            <a:off x="1965960" y="3502152"/>
            <a:ext cx="5669280" cy="822960"/>
          </a:xfrm>
          <a:prstGeom prst="rect">
            <a:avLst/>
          </a:prstGeom>
          <a:noFill/>
          <a:ln/>
        </p:spPr>
        <p:txBody>
          <a:bodyPr wrap="square" lIns="0" tIns="0" rIns="0" bIns="0" rtlCol="0" anchor="t"/>
          <a:lstStyle/>
          <a:p>
            <a:pPr marL="0" indent="0">
              <a:buNone/>
              <a:defRPr/>
            </a:pPr>
            <a:r>
              <a:rPr lang="en-US" sz="1500">
                <a:solidFill>
                  <a:schemeClr val="bg1"/>
                </a:solidFill>
              </a:rPr>
              <a:t>U-Net en PyTorch, entradas de 256×256 px, 500 imágenes con máscara, pérdida BCEWithLogits y optimizador Adam.</a:t>
            </a:r>
            <a:endParaRPr lang="en-US" sz="1500"/>
          </a:p>
        </p:txBody>
      </p:sp>
      <p:sp>
        <p:nvSpPr>
          <p:cNvPr id="273207589" name="Etiqueta Resultados"/>
          <p:cNvSpPr txBox="1"/>
          <p:nvPr/>
        </p:nvSpPr>
        <p:spPr bwMode="auto">
          <a:xfrm>
            <a:off x="548640" y="4434840"/>
            <a:ext cx="1371600" cy="274320"/>
          </a:xfrm>
          <a:prstGeom prst="rect">
            <a:avLst/>
          </a:prstGeom>
          <a:noFill/>
          <a:ln/>
        </p:spPr>
        <p:txBody>
          <a:bodyPr wrap="square" lIns="0" tIns="0" rIns="0" bIns="0" rtlCol="0" anchor="t"/>
          <a:lstStyle/>
          <a:p>
            <a:pPr marL="0" indent="0">
              <a:buNone/>
              <a:defRPr/>
            </a:pPr>
            <a:r>
              <a:rPr lang="en-US" sz="1200" b="1" spc="100">
                <a:solidFill>
                  <a:schemeClr val="accent1"/>
                </a:solidFill>
              </a:rPr>
              <a:t>RESULTADOS</a:t>
            </a:r>
            <a:endParaRPr lang="en-US" sz="1200"/>
          </a:p>
        </p:txBody>
      </p:sp>
      <p:sp>
        <p:nvSpPr>
          <p:cNvPr id="1335583807" name="Texto Resultados"/>
          <p:cNvSpPr txBox="1"/>
          <p:nvPr/>
        </p:nvSpPr>
        <p:spPr bwMode="auto">
          <a:xfrm>
            <a:off x="1965960" y="4407408"/>
            <a:ext cx="5669280" cy="822960"/>
          </a:xfrm>
          <a:prstGeom prst="rect">
            <a:avLst/>
          </a:prstGeom>
          <a:noFill/>
          <a:ln/>
        </p:spPr>
        <p:txBody>
          <a:bodyPr wrap="square" lIns="0" tIns="0" rIns="0" bIns="0" rtlCol="0" anchor="t"/>
          <a:lstStyle/>
          <a:p>
            <a:pPr marL="0" indent="0">
              <a:buNone/>
              <a:defRPr/>
            </a:pPr>
            <a:r>
              <a:rPr lang="en-US" sz="1500">
                <a:solidFill>
                  <a:schemeClr val="bg1"/>
                </a:solidFill>
              </a:rPr>
              <a:t>Modelo original: IoU 0.8380 y Dice 0.9072 en prueba. Con aumento de datos, un ejemplo visual mejoró (IoU 0.665 → 0.719); falta confirmar el promedio.</a:t>
            </a:r>
            <a:endParaRPr lang="en-US" sz="1500"/>
          </a:p>
        </p:txBody>
      </p:sp>
      <p:sp>
        <p:nvSpPr>
          <p:cNvPr id="1910571982" name="Etiqueta Conclusión"/>
          <p:cNvSpPr txBox="1"/>
          <p:nvPr/>
        </p:nvSpPr>
        <p:spPr bwMode="auto">
          <a:xfrm>
            <a:off x="548640" y="5340096"/>
            <a:ext cx="1371600" cy="274320"/>
          </a:xfrm>
          <a:prstGeom prst="rect">
            <a:avLst/>
          </a:prstGeom>
          <a:noFill/>
          <a:ln/>
        </p:spPr>
        <p:txBody>
          <a:bodyPr wrap="square" lIns="0" tIns="0" rIns="0" bIns="0" rtlCol="0" anchor="t"/>
          <a:lstStyle/>
          <a:p>
            <a:pPr marL="0" indent="0">
              <a:buNone/>
              <a:defRPr/>
            </a:pPr>
            <a:r>
              <a:rPr lang="en-US" sz="1200" b="1" spc="100">
                <a:solidFill>
                  <a:schemeClr val="accent1"/>
                </a:solidFill>
              </a:rPr>
              <a:t>CONCLUSIÓN</a:t>
            </a:r>
            <a:endParaRPr lang="en-US" sz="1200"/>
          </a:p>
        </p:txBody>
      </p:sp>
      <p:sp>
        <p:nvSpPr>
          <p:cNvPr id="559852756" name="Texto Conclusión"/>
          <p:cNvSpPr txBox="1"/>
          <p:nvPr/>
        </p:nvSpPr>
        <p:spPr bwMode="auto">
          <a:xfrm>
            <a:off x="1965960" y="5312664"/>
            <a:ext cx="5669280" cy="822960"/>
          </a:xfrm>
          <a:prstGeom prst="rect">
            <a:avLst/>
          </a:prstGeom>
          <a:noFill/>
          <a:ln/>
        </p:spPr>
        <p:txBody>
          <a:bodyPr wrap="square" lIns="0" tIns="0" rIns="0" bIns="0" rtlCol="0" anchor="t"/>
          <a:lstStyle/>
          <a:p>
            <a:pPr marL="0" indent="0">
              <a:buNone/>
              <a:defRPr/>
            </a:pPr>
            <a:r>
              <a:rPr lang="en-US" sz="1500">
                <a:solidFill>
                  <a:schemeClr val="bg1"/>
                </a:solidFill>
              </a:rPr>
              <a:t>La U-Net propia es funcional para la tarea; el beneficio global del aumento de datos sigue pendiente de cuantificar.</a:t>
            </a:r>
            <a:endParaRPr lang="en-US" sz="1500"/>
          </a:p>
        </p:txBody>
      </p:sp>
      <p:sp>
        <p:nvSpPr>
          <p:cNvPr id="1211627272" name="Tarjeta IoU promedio · prueba"/>
          <p:cNvSpPr/>
          <p:nvPr/>
        </p:nvSpPr>
        <p:spPr bwMode="auto">
          <a:xfrm>
            <a:off x="8092440" y="1691640"/>
            <a:ext cx="3547872" cy="1051560"/>
          </a:xfrm>
          <a:prstGeom prst="roundRect">
            <a:avLst>
              <a:gd name="adj" fmla="val 8696"/>
            </a:avLst>
          </a:prstGeom>
          <a:solidFill>
            <a:schemeClr val="tx2"/>
          </a:solidFill>
          <a:ln w="6350">
            <a:solidFill>
              <a:schemeClr val="accent6">
                <a:alpha val="45000"/>
              </a:schemeClr>
            </a:solidFill>
            <a:prstDash val="solid"/>
          </a:ln>
        </p:spPr>
      </p:sp>
      <p:sp>
        <p:nvSpPr>
          <p:cNvPr id="585235135" name="Cifra IoU promedio · prueba"/>
          <p:cNvSpPr txBox="1"/>
          <p:nvPr/>
        </p:nvSpPr>
        <p:spPr bwMode="auto">
          <a:xfrm>
            <a:off x="8321039" y="1783080"/>
            <a:ext cx="3108960" cy="594360"/>
          </a:xfrm>
          <a:prstGeom prst="rect">
            <a:avLst/>
          </a:prstGeom>
          <a:noFill/>
          <a:ln/>
        </p:spPr>
        <p:txBody>
          <a:bodyPr wrap="square" lIns="0" tIns="0" rIns="0" bIns="0" rtlCol="0" anchor="t"/>
          <a:lstStyle/>
          <a:p>
            <a:pPr marL="0" indent="0">
              <a:buNone/>
              <a:defRPr/>
            </a:pPr>
            <a:r>
              <a:rPr lang="en-US" sz="3600" b="1">
                <a:solidFill>
                  <a:schemeClr val="accent1"/>
                </a:solidFill>
                <a:latin typeface="Cambria"/>
                <a:ea typeface="Cambria"/>
                <a:cs typeface="Cambria"/>
              </a:rPr>
              <a:t>0.8380</a:t>
            </a:r>
            <a:endParaRPr lang="en-US" sz="3600"/>
          </a:p>
        </p:txBody>
      </p:sp>
      <p:sp>
        <p:nvSpPr>
          <p:cNvPr id="1251263658" name="Rótulo IoU promedio · prueba"/>
          <p:cNvSpPr txBox="1"/>
          <p:nvPr/>
        </p:nvSpPr>
        <p:spPr bwMode="auto">
          <a:xfrm>
            <a:off x="8321039" y="2386584"/>
            <a:ext cx="3108960" cy="274320"/>
          </a:xfrm>
          <a:prstGeom prst="rect">
            <a:avLst/>
          </a:prstGeom>
          <a:noFill/>
          <a:ln/>
        </p:spPr>
        <p:txBody>
          <a:bodyPr wrap="square" lIns="0" tIns="0" rIns="0" bIns="0" rtlCol="0" anchor="t"/>
          <a:lstStyle/>
          <a:p>
            <a:pPr marL="0" indent="0">
              <a:buNone/>
              <a:defRPr/>
            </a:pPr>
            <a:r>
              <a:rPr lang="en-US" sz="1300">
                <a:solidFill>
                  <a:schemeClr val="bg2"/>
                </a:solidFill>
              </a:rPr>
              <a:t>IoU promedio · prueba</a:t>
            </a:r>
            <a:endParaRPr lang="en-US" sz="1300"/>
          </a:p>
        </p:txBody>
      </p:sp>
      <p:sp>
        <p:nvSpPr>
          <p:cNvPr id="1135102209" name="Tarjeta Dice promedio · prueba"/>
          <p:cNvSpPr/>
          <p:nvPr/>
        </p:nvSpPr>
        <p:spPr bwMode="auto">
          <a:xfrm>
            <a:off x="8092440" y="2862072"/>
            <a:ext cx="3547872" cy="1051560"/>
          </a:xfrm>
          <a:prstGeom prst="roundRect">
            <a:avLst>
              <a:gd name="adj" fmla="val 8696"/>
            </a:avLst>
          </a:prstGeom>
          <a:solidFill>
            <a:schemeClr val="tx2"/>
          </a:solidFill>
          <a:ln w="6350">
            <a:solidFill>
              <a:schemeClr val="accent6">
                <a:alpha val="45000"/>
              </a:schemeClr>
            </a:solidFill>
            <a:prstDash val="solid"/>
          </a:ln>
        </p:spPr>
      </p:sp>
      <p:sp>
        <p:nvSpPr>
          <p:cNvPr id="432939941" name="Cifra Dice promedio · prueba"/>
          <p:cNvSpPr txBox="1"/>
          <p:nvPr/>
        </p:nvSpPr>
        <p:spPr bwMode="auto">
          <a:xfrm>
            <a:off x="8321039" y="2953512"/>
            <a:ext cx="3108960" cy="594360"/>
          </a:xfrm>
          <a:prstGeom prst="rect">
            <a:avLst/>
          </a:prstGeom>
          <a:noFill/>
          <a:ln/>
        </p:spPr>
        <p:txBody>
          <a:bodyPr wrap="square" lIns="0" tIns="0" rIns="0" bIns="0" rtlCol="0" anchor="t"/>
          <a:lstStyle/>
          <a:p>
            <a:pPr marL="0" indent="0">
              <a:buNone/>
              <a:defRPr/>
            </a:pPr>
            <a:r>
              <a:rPr lang="en-US" sz="3600" b="1">
                <a:solidFill>
                  <a:schemeClr val="accent5"/>
                </a:solidFill>
                <a:latin typeface="Cambria"/>
                <a:ea typeface="Cambria"/>
                <a:cs typeface="Cambria"/>
              </a:rPr>
              <a:t>0.9072</a:t>
            </a:r>
            <a:endParaRPr lang="en-US" sz="3600"/>
          </a:p>
        </p:txBody>
      </p:sp>
      <p:sp>
        <p:nvSpPr>
          <p:cNvPr id="1273547362" name="Rótulo Dice promedio · prueba"/>
          <p:cNvSpPr txBox="1"/>
          <p:nvPr/>
        </p:nvSpPr>
        <p:spPr bwMode="auto">
          <a:xfrm>
            <a:off x="8321039" y="3557016"/>
            <a:ext cx="3108960" cy="274320"/>
          </a:xfrm>
          <a:prstGeom prst="rect">
            <a:avLst/>
          </a:prstGeom>
          <a:noFill/>
          <a:ln/>
        </p:spPr>
        <p:txBody>
          <a:bodyPr wrap="square" lIns="0" tIns="0" rIns="0" bIns="0" rtlCol="0" anchor="t"/>
          <a:lstStyle/>
          <a:p>
            <a:pPr marL="0" indent="0">
              <a:buNone/>
              <a:defRPr/>
            </a:pPr>
            <a:r>
              <a:rPr lang="en-US" sz="1300">
                <a:solidFill>
                  <a:schemeClr val="bg2"/>
                </a:solidFill>
              </a:rPr>
              <a:t>Dice promedio · prueba</a:t>
            </a:r>
            <a:endParaRPr lang="en-US" sz="1300"/>
          </a:p>
        </p:txBody>
      </p:sp>
      <p:sp>
        <p:nvSpPr>
          <p:cNvPr id="230257186" name="Tarjeta imágenes con máscara binaria"/>
          <p:cNvSpPr/>
          <p:nvPr/>
        </p:nvSpPr>
        <p:spPr bwMode="auto">
          <a:xfrm>
            <a:off x="8092440" y="4032504"/>
            <a:ext cx="3547872" cy="1051560"/>
          </a:xfrm>
          <a:prstGeom prst="roundRect">
            <a:avLst>
              <a:gd name="adj" fmla="val 8696"/>
            </a:avLst>
          </a:prstGeom>
          <a:solidFill>
            <a:schemeClr val="tx2"/>
          </a:solidFill>
          <a:ln w="6350">
            <a:solidFill>
              <a:schemeClr val="accent6">
                <a:alpha val="45000"/>
              </a:schemeClr>
            </a:solidFill>
            <a:prstDash val="solid"/>
          </a:ln>
        </p:spPr>
      </p:sp>
      <p:sp>
        <p:nvSpPr>
          <p:cNvPr id="1466274532" name="Cifra imágenes con máscara binaria"/>
          <p:cNvSpPr txBox="1"/>
          <p:nvPr/>
        </p:nvSpPr>
        <p:spPr bwMode="auto">
          <a:xfrm>
            <a:off x="8321039" y="4123944"/>
            <a:ext cx="3108960" cy="594360"/>
          </a:xfrm>
          <a:prstGeom prst="rect">
            <a:avLst/>
          </a:prstGeom>
          <a:noFill/>
          <a:ln/>
        </p:spPr>
        <p:txBody>
          <a:bodyPr wrap="square" lIns="0" tIns="0" rIns="0" bIns="0" rtlCol="0" anchor="t"/>
          <a:lstStyle/>
          <a:p>
            <a:pPr marL="0" indent="0">
              <a:buNone/>
              <a:defRPr/>
            </a:pPr>
            <a:r>
              <a:rPr lang="en-US" sz="3600" b="1">
                <a:solidFill>
                  <a:schemeClr val="accent4"/>
                </a:solidFill>
                <a:latin typeface="Cambria"/>
                <a:ea typeface="Cambria"/>
                <a:cs typeface="Cambria"/>
              </a:rPr>
              <a:t>500</a:t>
            </a:r>
            <a:endParaRPr lang="en-US" sz="3600"/>
          </a:p>
        </p:txBody>
      </p:sp>
      <p:sp>
        <p:nvSpPr>
          <p:cNvPr id="1395860581" name="Rótulo imágenes con máscara binaria"/>
          <p:cNvSpPr txBox="1"/>
          <p:nvPr/>
        </p:nvSpPr>
        <p:spPr bwMode="auto">
          <a:xfrm>
            <a:off x="8321039" y="4727448"/>
            <a:ext cx="3108960" cy="274320"/>
          </a:xfrm>
          <a:prstGeom prst="rect">
            <a:avLst/>
          </a:prstGeom>
          <a:noFill/>
          <a:ln/>
        </p:spPr>
        <p:txBody>
          <a:bodyPr wrap="square" lIns="0" tIns="0" rIns="0" bIns="0" rtlCol="0" anchor="t"/>
          <a:lstStyle/>
          <a:p>
            <a:pPr marL="0" indent="0">
              <a:buNone/>
              <a:defRPr/>
            </a:pPr>
            <a:r>
              <a:rPr lang="en-US" sz="1300">
                <a:solidFill>
                  <a:schemeClr val="bg2"/>
                </a:solidFill>
              </a:rPr>
              <a:t>imágenes con máscara binaria</a:t>
            </a:r>
            <a:endParaRPr lang="en-US" sz="1300"/>
          </a:p>
        </p:txBody>
      </p:sp>
      <p:sp>
        <p:nvSpPr>
          <p:cNvPr id="1216041518" name="Tarjeta parámetros entrenables"/>
          <p:cNvSpPr/>
          <p:nvPr/>
        </p:nvSpPr>
        <p:spPr bwMode="auto">
          <a:xfrm>
            <a:off x="8092440" y="5202936"/>
            <a:ext cx="3547872" cy="1051560"/>
          </a:xfrm>
          <a:prstGeom prst="roundRect">
            <a:avLst>
              <a:gd name="adj" fmla="val 8696"/>
            </a:avLst>
          </a:prstGeom>
          <a:solidFill>
            <a:schemeClr val="tx2"/>
          </a:solidFill>
          <a:ln w="6350">
            <a:solidFill>
              <a:schemeClr val="accent6">
                <a:alpha val="45000"/>
              </a:schemeClr>
            </a:solidFill>
            <a:prstDash val="solid"/>
          </a:ln>
        </p:spPr>
      </p:sp>
      <p:sp>
        <p:nvSpPr>
          <p:cNvPr id="701632430" name="Cifra parámetros entrenables"/>
          <p:cNvSpPr txBox="1"/>
          <p:nvPr/>
        </p:nvSpPr>
        <p:spPr bwMode="auto">
          <a:xfrm>
            <a:off x="8321039" y="5294376"/>
            <a:ext cx="3108960" cy="594360"/>
          </a:xfrm>
          <a:prstGeom prst="rect">
            <a:avLst/>
          </a:prstGeom>
          <a:noFill/>
          <a:ln/>
        </p:spPr>
        <p:txBody>
          <a:bodyPr wrap="square" lIns="0" tIns="0" rIns="0" bIns="0" rtlCol="0" anchor="t"/>
          <a:lstStyle/>
          <a:p>
            <a:pPr marL="0" indent="0">
              <a:buNone/>
              <a:defRPr/>
            </a:pPr>
            <a:r>
              <a:rPr lang="en-US" sz="3600" b="1">
                <a:solidFill>
                  <a:schemeClr val="accent3"/>
                </a:solidFill>
                <a:latin typeface="Cambria"/>
                <a:ea typeface="Cambria"/>
                <a:cs typeface="Cambria"/>
              </a:rPr>
              <a:t>1.94 M</a:t>
            </a:r>
            <a:endParaRPr lang="en-US" sz="3600"/>
          </a:p>
        </p:txBody>
      </p:sp>
      <p:sp>
        <p:nvSpPr>
          <p:cNvPr id="1023271195" name="Rótulo parámetros entrenables"/>
          <p:cNvSpPr txBox="1"/>
          <p:nvPr/>
        </p:nvSpPr>
        <p:spPr bwMode="auto">
          <a:xfrm>
            <a:off x="8321039" y="5897880"/>
            <a:ext cx="3108960" cy="274320"/>
          </a:xfrm>
          <a:prstGeom prst="rect">
            <a:avLst/>
          </a:prstGeom>
          <a:noFill/>
          <a:ln/>
        </p:spPr>
        <p:txBody>
          <a:bodyPr wrap="square" lIns="0" tIns="0" rIns="0" bIns="0" rtlCol="0" anchor="t"/>
          <a:lstStyle/>
          <a:p>
            <a:pPr marL="0" indent="0">
              <a:buNone/>
              <a:defRPr/>
            </a:pPr>
            <a:r>
              <a:rPr lang="en-US" sz="1300">
                <a:solidFill>
                  <a:schemeClr val="bg2"/>
                </a:solidFill>
              </a:rPr>
              <a:t>parámetros entrenables</a:t>
            </a:r>
            <a:endParaRPr lang="en-US" sz="1300"/>
          </a:p>
        </p:txBody>
      </p:sp>
      <p:sp>
        <p:nvSpPr>
          <p:cNvPr id="2054160066"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371654152"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Segmentación semántica</a:t>
            </a:r>
            <a:endParaRPr lang="en-US" sz="3600"/>
          </a:p>
        </p:txBody>
      </p:sp>
      <p:sp>
        <p:nvSpPr>
          <p:cNvPr id="1288748468"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3.1 · INTRODUCCIÓN · CONTEXTO</a:t>
            </a:r>
            <a:endParaRPr lang="en-US" sz="1200"/>
          </a:p>
        </p:txBody>
      </p:sp>
      <p:sp>
        <p:nvSpPr>
          <p:cNvPr id="387248392" name="Tarjeta imagen tipos de segmentación"/>
          <p:cNvSpPr/>
          <p:nvPr/>
        </p:nvSpPr>
        <p:spPr bwMode="auto">
          <a:xfrm>
            <a:off x="548640" y="1645920"/>
            <a:ext cx="6309360" cy="3429000"/>
          </a:xfrm>
          <a:prstGeom prst="roundRect">
            <a:avLst>
              <a:gd name="adj" fmla="val 2667"/>
            </a:avLst>
          </a:prstGeom>
          <a:solidFill>
            <a:schemeClr val="bg1"/>
          </a:solidFill>
          <a:ln w="6350">
            <a:solidFill>
              <a:schemeClr val="accent6">
                <a:alpha val="45000"/>
              </a:schemeClr>
            </a:solidFill>
            <a:prstDash val="solid"/>
          </a:ln>
        </p:spPr>
      </p:sp>
      <p:pic>
        <p:nvPicPr>
          <p:cNvPr id="476062249" name="Image 0" descr="Tipos de segmentación: semántica, de instancia y panóptica"/>
          <p:cNvPicPr>
            <a:picLocks noChangeAspect="1"/>
          </p:cNvPicPr>
          <p:nvPr/>
        </p:nvPicPr>
        <p:blipFill rotWithShape="1">
          <a:blip r:embed="rId3"/>
          <a:stretch/>
        </p:blipFill>
        <p:spPr bwMode="auto">
          <a:xfrm>
            <a:off x="685800" y="1783080"/>
            <a:ext cx="6035039" cy="3149812"/>
          </a:xfrm>
          <a:prstGeom prst="rect">
            <a:avLst/>
          </a:prstGeom>
        </p:spPr>
      </p:pic>
      <p:sp>
        <p:nvSpPr>
          <p:cNvPr id="1156597772" name="Pie de figura"/>
          <p:cNvSpPr txBox="1"/>
          <p:nvPr/>
        </p:nvSpPr>
        <p:spPr bwMode="auto">
          <a:xfrm>
            <a:off x="548640" y="5212080"/>
            <a:ext cx="6309360" cy="274320"/>
          </a:xfrm>
          <a:prstGeom prst="rect">
            <a:avLst/>
          </a:prstGeom>
          <a:noFill/>
          <a:ln/>
        </p:spPr>
        <p:txBody>
          <a:bodyPr wrap="square" lIns="0" tIns="0" rIns="0" bIns="0" rtlCol="0" anchor="t"/>
          <a:lstStyle/>
          <a:p>
            <a:pPr marL="0" indent="0">
              <a:buNone/>
              <a:defRPr/>
            </a:pPr>
            <a:r>
              <a:rPr lang="en-US" sz="1200">
                <a:solidFill>
                  <a:schemeClr val="bg2"/>
                </a:solidFill>
              </a:rPr>
              <a:t>Tipos de segmentación: semántica, de instancia y panóptica</a:t>
            </a:r>
            <a:endParaRPr lang="en-US" sz="1200"/>
          </a:p>
        </p:txBody>
      </p:sp>
      <p:sp>
        <p:nvSpPr>
          <p:cNvPr id="957104724" name="Subtítulo 1"/>
          <p:cNvSpPr txBox="1"/>
          <p:nvPr/>
        </p:nvSpPr>
        <p:spPr bwMode="auto">
          <a:xfrm>
            <a:off x="7223760" y="1645920"/>
            <a:ext cx="4416552" cy="320040"/>
          </a:xfrm>
          <a:prstGeom prst="rect">
            <a:avLst/>
          </a:prstGeom>
          <a:noFill/>
          <a:ln/>
        </p:spPr>
        <p:txBody>
          <a:bodyPr wrap="square" lIns="0" tIns="0" rIns="0" bIns="0" rtlCol="0" anchor="t"/>
          <a:lstStyle/>
          <a:p>
            <a:pPr marL="0" indent="0">
              <a:buNone/>
              <a:defRPr/>
            </a:pPr>
            <a:r>
              <a:rPr lang="en-US" sz="1800" b="1">
                <a:solidFill>
                  <a:schemeClr val="bg1"/>
                </a:solidFill>
                <a:latin typeface="Cambria"/>
                <a:ea typeface="Cambria"/>
                <a:cs typeface="Cambria"/>
              </a:rPr>
              <a:t>Qué asigna cada enfoque</a:t>
            </a:r>
            <a:endParaRPr lang="en-US" sz="1800"/>
          </a:p>
        </p:txBody>
      </p:sp>
      <p:sp>
        <p:nvSpPr>
          <p:cNvPr id="1646893140" name="Texto 1"/>
          <p:cNvSpPr txBox="1"/>
          <p:nvPr/>
        </p:nvSpPr>
        <p:spPr bwMode="auto">
          <a:xfrm>
            <a:off x="7223760" y="2057400"/>
            <a:ext cx="4416552" cy="685800"/>
          </a:xfrm>
          <a:prstGeom prst="rect">
            <a:avLst/>
          </a:prstGeom>
          <a:noFill/>
          <a:ln/>
        </p:spPr>
        <p:txBody>
          <a:bodyPr wrap="square" lIns="0" tIns="0" rIns="0" bIns="0" rtlCol="0" anchor="t"/>
          <a:lstStyle/>
          <a:p>
            <a:pPr marL="0" indent="0">
              <a:buNone/>
              <a:defRPr/>
            </a:pPr>
            <a:r>
              <a:rPr lang="en-US" sz="1500">
                <a:solidFill>
                  <a:schemeClr val="bg1"/>
                </a:solidFill>
              </a:rPr>
              <a:t>La segmentación semántica asigna una categoría a cada píxel de la imagen.</a:t>
            </a:r>
            <a:endParaRPr lang="en-US" sz="1500"/>
          </a:p>
        </p:txBody>
      </p:sp>
      <p:sp>
        <p:nvSpPr>
          <p:cNvPr id="307059361" name="Etiqueta fondo"/>
          <p:cNvSpPr/>
          <p:nvPr/>
        </p:nvSpPr>
        <p:spPr bwMode="auto">
          <a:xfrm>
            <a:off x="7223760" y="2834640"/>
            <a:ext cx="2103120" cy="274320"/>
          </a:xfrm>
          <a:prstGeom prst="roundRect">
            <a:avLst>
              <a:gd name="adj" fmla="val 50000"/>
            </a:avLst>
          </a:prstGeom>
          <a:solidFill>
            <a:schemeClr val="accent5">
              <a:alpha val="20000"/>
            </a:schemeClr>
          </a:solidFill>
          <a:ln/>
        </p:spPr>
      </p:sp>
      <p:sp>
        <p:nvSpPr>
          <p:cNvPr id="866513899" name="Texto etiqueta fondo"/>
          <p:cNvSpPr txBox="1"/>
          <p:nvPr/>
        </p:nvSpPr>
        <p:spPr bwMode="auto">
          <a:xfrm>
            <a:off x="7223760" y="2834640"/>
            <a:ext cx="2103120" cy="274320"/>
          </a:xfrm>
          <a:prstGeom prst="rect">
            <a:avLst/>
          </a:prstGeom>
          <a:noFill/>
          <a:ln/>
        </p:spPr>
        <p:txBody>
          <a:bodyPr wrap="square" lIns="0" tIns="0" rIns="0" bIns="0" rtlCol="0" anchor="ctr"/>
          <a:lstStyle/>
          <a:p>
            <a:pPr marL="0" indent="0" algn="ctr">
              <a:buNone/>
              <a:defRPr/>
            </a:pPr>
            <a:r>
              <a:rPr lang="en-US" sz="1100" b="1">
                <a:solidFill>
                  <a:schemeClr val="accent5"/>
                </a:solidFill>
              </a:rPr>
              <a:t>Clase 0 · Fondo</a:t>
            </a:r>
            <a:endParaRPr lang="en-US" sz="1100"/>
          </a:p>
        </p:txBody>
      </p:sp>
      <p:sp>
        <p:nvSpPr>
          <p:cNvPr id="1557502348" name="Etiqueta coche"/>
          <p:cNvSpPr/>
          <p:nvPr/>
        </p:nvSpPr>
        <p:spPr bwMode="auto">
          <a:xfrm>
            <a:off x="9509760" y="2834640"/>
            <a:ext cx="2103120" cy="274320"/>
          </a:xfrm>
          <a:prstGeom prst="roundRect">
            <a:avLst>
              <a:gd name="adj" fmla="val 50000"/>
            </a:avLst>
          </a:prstGeom>
          <a:solidFill>
            <a:schemeClr val="accent1">
              <a:alpha val="20000"/>
            </a:schemeClr>
          </a:solidFill>
          <a:ln/>
        </p:spPr>
      </p:sp>
      <p:sp>
        <p:nvSpPr>
          <p:cNvPr id="1697098397" name="Texto etiqueta coche"/>
          <p:cNvSpPr txBox="1"/>
          <p:nvPr/>
        </p:nvSpPr>
        <p:spPr bwMode="auto">
          <a:xfrm>
            <a:off x="9509760" y="2834640"/>
            <a:ext cx="2103120" cy="274320"/>
          </a:xfrm>
          <a:prstGeom prst="rect">
            <a:avLst/>
          </a:prstGeom>
          <a:noFill/>
          <a:ln/>
        </p:spPr>
        <p:txBody>
          <a:bodyPr wrap="square" lIns="0" tIns="0" rIns="0" bIns="0" rtlCol="0" anchor="ctr"/>
          <a:lstStyle/>
          <a:p>
            <a:pPr marL="0" indent="0" algn="ctr">
              <a:buNone/>
              <a:defRPr/>
            </a:pPr>
            <a:r>
              <a:rPr lang="en-US" sz="1100" b="1">
                <a:solidFill>
                  <a:schemeClr val="accent1"/>
                </a:solidFill>
              </a:rPr>
              <a:t>Clase 1 · Coche</a:t>
            </a:r>
            <a:endParaRPr lang="en-US" sz="1100"/>
          </a:p>
        </p:txBody>
      </p:sp>
      <p:sp>
        <p:nvSpPr>
          <p:cNvPr id="430458778" name="Texto 2"/>
          <p:cNvSpPr txBox="1"/>
          <p:nvPr/>
        </p:nvSpPr>
        <p:spPr bwMode="auto">
          <a:xfrm>
            <a:off x="7223760" y="3383280"/>
            <a:ext cx="4416552" cy="731520"/>
          </a:xfrm>
          <a:prstGeom prst="rect">
            <a:avLst/>
          </a:prstGeom>
          <a:noFill/>
          <a:ln/>
        </p:spPr>
        <p:txBody>
          <a:bodyPr wrap="square" lIns="0" tIns="0" rIns="0" bIns="0" rtlCol="0" anchor="t"/>
          <a:lstStyle/>
          <a:p>
            <a:pPr marL="0" indent="0">
              <a:buNone/>
              <a:defRPr/>
            </a:pPr>
            <a:r>
              <a:rPr lang="en-US" sz="1500">
                <a:solidFill>
                  <a:schemeClr val="bg1"/>
                </a:solidFill>
              </a:rPr>
              <a:t>Una detección dibuja una caja; la segmentación delimita la silueta de cada coche.</a:t>
            </a:r>
            <a:endParaRPr lang="en-US" sz="1500"/>
          </a:p>
        </p:txBody>
      </p:sp>
      <p:sp>
        <p:nvSpPr>
          <p:cNvPr id="1087609627" name="Tarjeta alcance"/>
          <p:cNvSpPr/>
          <p:nvPr/>
        </p:nvSpPr>
        <p:spPr bwMode="auto">
          <a:xfrm>
            <a:off x="7223760" y="4343400"/>
            <a:ext cx="4416552" cy="1463040"/>
          </a:xfrm>
          <a:prstGeom prst="roundRect">
            <a:avLst>
              <a:gd name="adj" fmla="val 6250"/>
            </a:avLst>
          </a:prstGeom>
          <a:solidFill>
            <a:schemeClr val="tx2"/>
          </a:solidFill>
          <a:ln w="6350">
            <a:solidFill>
              <a:schemeClr val="accent6">
                <a:alpha val="45000"/>
              </a:schemeClr>
            </a:solidFill>
            <a:prstDash val="solid"/>
          </a:ln>
        </p:spPr>
      </p:sp>
      <p:sp>
        <p:nvSpPr>
          <p:cNvPr id="691917143" name="Texto alcance"/>
          <p:cNvSpPr txBox="1"/>
          <p:nvPr/>
        </p:nvSpPr>
        <p:spPr bwMode="auto">
          <a:xfrm>
            <a:off x="7452360" y="4526280"/>
            <a:ext cx="3977640" cy="1188720"/>
          </a:xfrm>
          <a:prstGeom prst="rect">
            <a:avLst/>
          </a:prstGeom>
          <a:noFill/>
          <a:ln/>
        </p:spPr>
        <p:txBody>
          <a:bodyPr wrap="square" lIns="0" tIns="0" rIns="0" bIns="0" rtlCol="0" anchor="t"/>
          <a:lstStyle/>
          <a:p>
            <a:pPr marL="0" indent="0">
              <a:spcAft>
                <a:spcPts val="400"/>
              </a:spcAft>
              <a:buNone/>
              <a:defRPr/>
            </a:pPr>
            <a:r>
              <a:rPr lang="en-US" sz="1200" b="1" spc="100">
                <a:solidFill>
                  <a:schemeClr val="accent1"/>
                </a:solidFill>
              </a:rPr>
              <a:t>ESTE PROYECTO</a:t>
            </a:r>
            <a:endParaRPr lang="en-US" sz="1400"/>
          </a:p>
          <a:p>
            <a:pPr marL="0" indent="0">
              <a:spcAft>
                <a:spcPts val="400"/>
              </a:spcAft>
              <a:buNone/>
              <a:defRPr/>
            </a:pPr>
            <a:r>
              <a:rPr lang="en-US" sz="1400">
                <a:solidFill>
                  <a:schemeClr val="bg1"/>
                </a:solidFill>
              </a:rPr>
              <a:t>Segmentación semántica binaria. No separa instancias: dos coches que se tocan forman una sola región.</a:t>
            </a:r>
            <a:endParaRPr lang="en-US" sz="1400"/>
          </a:p>
        </p:txBody>
      </p:sp>
      <p:sp>
        <p:nvSpPr>
          <p:cNvPr id="749581150"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259150352"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¿Por qué U-Net?</a:t>
            </a:r>
            <a:endParaRPr lang="en-US" sz="3600"/>
          </a:p>
        </p:txBody>
      </p:sp>
      <p:sp>
        <p:nvSpPr>
          <p:cNvPr id="871981759"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3.2 · INTRODUCCIÓN · ARQUITECTURA</a:t>
            </a:r>
            <a:endParaRPr lang="en-US" sz="1200"/>
          </a:p>
        </p:txBody>
      </p:sp>
      <p:pic>
        <p:nvPicPr>
          <p:cNvPr id="1964360865" name="Image 0" descr="Diagrama de la estructura de una red U-Net"/>
          <p:cNvPicPr>
            <a:picLocks noChangeAspect="1"/>
          </p:cNvPicPr>
          <p:nvPr/>
        </p:nvPicPr>
        <p:blipFill rotWithShape="1">
          <a:blip r:embed="rId3"/>
          <a:stretch/>
        </p:blipFill>
        <p:spPr bwMode="auto">
          <a:xfrm>
            <a:off x="548640" y="1645920"/>
            <a:ext cx="6035039" cy="3371154"/>
          </a:xfrm>
          <a:prstGeom prst="rect">
            <a:avLst/>
          </a:prstGeom>
        </p:spPr>
      </p:pic>
      <p:sp>
        <p:nvSpPr>
          <p:cNvPr id="779568083" name="Pie de figura"/>
          <p:cNvSpPr txBox="1"/>
          <p:nvPr/>
        </p:nvSpPr>
        <p:spPr bwMode="auto">
          <a:xfrm>
            <a:off x="548640" y="5120640"/>
            <a:ext cx="6035039" cy="274320"/>
          </a:xfrm>
          <a:prstGeom prst="rect">
            <a:avLst/>
          </a:prstGeom>
          <a:noFill/>
          <a:ln/>
        </p:spPr>
        <p:txBody>
          <a:bodyPr wrap="square" lIns="0" tIns="0" rIns="0" bIns="0" rtlCol="0" anchor="t"/>
          <a:lstStyle/>
          <a:p>
            <a:pPr marL="0" indent="0">
              <a:buNone/>
              <a:defRPr/>
            </a:pPr>
            <a:r>
              <a:rPr lang="en-US" sz="1200">
                <a:solidFill>
                  <a:schemeClr val="bg2"/>
                </a:solidFill>
              </a:rPr>
              <a:t>Ronneberger, Fischer y Brox (2015) [1]</a:t>
            </a:r>
            <a:endParaRPr lang="en-US" sz="1200"/>
          </a:p>
        </p:txBody>
      </p:sp>
      <p:sp>
        <p:nvSpPr>
          <p:cNvPr id="342264191" name="Círculo Encoder"/>
          <p:cNvSpPr/>
          <p:nvPr/>
        </p:nvSpPr>
        <p:spPr bwMode="auto">
          <a:xfrm>
            <a:off x="6949440" y="1645920"/>
            <a:ext cx="640080" cy="640080"/>
          </a:xfrm>
          <a:prstGeom prst="ellipse">
            <a:avLst/>
          </a:prstGeom>
          <a:solidFill>
            <a:schemeClr val="accent1">
              <a:alpha val="20000"/>
            </a:schemeClr>
          </a:solidFill>
          <a:ln/>
        </p:spPr>
      </p:sp>
      <p:pic>
        <p:nvPicPr>
          <p:cNvPr id="728698144" name="Image 1" descr="Icono Encoder"/>
          <p:cNvPicPr>
            <a:picLocks noChangeAspect="1"/>
          </p:cNvPicPr>
          <p:nvPr/>
        </p:nvPicPr>
        <p:blipFill rotWithShape="1">
          <a:blip r:embed="rId4"/>
          <a:stretch/>
        </p:blipFill>
        <p:spPr bwMode="auto">
          <a:xfrm>
            <a:off x="7090258" y="1786738"/>
            <a:ext cx="358445" cy="358445"/>
          </a:xfrm>
          <a:prstGeom prst="rect">
            <a:avLst/>
          </a:prstGeom>
        </p:spPr>
      </p:pic>
      <p:sp>
        <p:nvSpPr>
          <p:cNvPr id="1691884203" name="Título Encoder"/>
          <p:cNvSpPr txBox="1"/>
          <p:nvPr/>
        </p:nvSpPr>
        <p:spPr bwMode="auto">
          <a:xfrm>
            <a:off x="7772400" y="1627632"/>
            <a:ext cx="3840480" cy="320040"/>
          </a:xfrm>
          <a:prstGeom prst="rect">
            <a:avLst/>
          </a:prstGeom>
          <a:noFill/>
          <a:ln/>
        </p:spPr>
        <p:txBody>
          <a:bodyPr wrap="square" lIns="0" tIns="0" rIns="0" bIns="0" rtlCol="0" anchor="t"/>
          <a:lstStyle/>
          <a:p>
            <a:pPr marL="0" indent="0">
              <a:buNone/>
              <a:defRPr/>
            </a:pPr>
            <a:r>
              <a:rPr lang="en-US" sz="1700" b="1">
                <a:solidFill>
                  <a:schemeClr val="bg1"/>
                </a:solidFill>
              </a:rPr>
              <a:t>Encoder</a:t>
            </a:r>
            <a:endParaRPr lang="en-US" sz="1700"/>
          </a:p>
        </p:txBody>
      </p:sp>
      <p:sp>
        <p:nvSpPr>
          <p:cNvPr id="1785780122" name="Texto Encoder"/>
          <p:cNvSpPr txBox="1"/>
          <p:nvPr/>
        </p:nvSpPr>
        <p:spPr bwMode="auto">
          <a:xfrm>
            <a:off x="7772400" y="1975104"/>
            <a:ext cx="3840480" cy="685800"/>
          </a:xfrm>
          <a:prstGeom prst="rect">
            <a:avLst/>
          </a:prstGeom>
          <a:noFill/>
          <a:ln/>
        </p:spPr>
        <p:txBody>
          <a:bodyPr wrap="square" lIns="0" tIns="0" rIns="0" bIns="0" rtlCol="0" anchor="t"/>
          <a:lstStyle/>
          <a:p>
            <a:pPr marL="0" indent="0">
              <a:buNone/>
              <a:defRPr/>
            </a:pPr>
            <a:r>
              <a:rPr lang="en-US" sz="1400">
                <a:solidFill>
                  <a:schemeClr val="bg2"/>
                </a:solidFill>
              </a:rPr>
              <a:t>Reduce la resolución y aprende características de la imagen.</a:t>
            </a:r>
            <a:endParaRPr lang="en-US" sz="1400"/>
          </a:p>
        </p:txBody>
      </p:sp>
      <p:sp>
        <p:nvSpPr>
          <p:cNvPr id="419891169" name="Círculo Decoder"/>
          <p:cNvSpPr/>
          <p:nvPr/>
        </p:nvSpPr>
        <p:spPr bwMode="auto">
          <a:xfrm>
            <a:off x="6949440" y="2788920"/>
            <a:ext cx="640080" cy="640080"/>
          </a:xfrm>
          <a:prstGeom prst="ellipse">
            <a:avLst/>
          </a:prstGeom>
          <a:solidFill>
            <a:schemeClr val="accent2">
              <a:alpha val="20000"/>
            </a:schemeClr>
          </a:solidFill>
          <a:ln/>
        </p:spPr>
      </p:sp>
      <p:pic>
        <p:nvPicPr>
          <p:cNvPr id="1657148782" name="Image 2" descr="Icono Decoder"/>
          <p:cNvPicPr>
            <a:picLocks noChangeAspect="1"/>
          </p:cNvPicPr>
          <p:nvPr/>
        </p:nvPicPr>
        <p:blipFill rotWithShape="1">
          <a:blip r:embed="rId5"/>
          <a:stretch/>
        </p:blipFill>
        <p:spPr bwMode="auto">
          <a:xfrm>
            <a:off x="7090258" y="2929738"/>
            <a:ext cx="358445" cy="358445"/>
          </a:xfrm>
          <a:prstGeom prst="rect">
            <a:avLst/>
          </a:prstGeom>
        </p:spPr>
      </p:pic>
      <p:sp>
        <p:nvSpPr>
          <p:cNvPr id="2113932681" name="Título Decoder"/>
          <p:cNvSpPr txBox="1"/>
          <p:nvPr/>
        </p:nvSpPr>
        <p:spPr bwMode="auto">
          <a:xfrm>
            <a:off x="7772400" y="2770632"/>
            <a:ext cx="3840480" cy="320040"/>
          </a:xfrm>
          <a:prstGeom prst="rect">
            <a:avLst/>
          </a:prstGeom>
          <a:noFill/>
          <a:ln/>
        </p:spPr>
        <p:txBody>
          <a:bodyPr wrap="square" lIns="0" tIns="0" rIns="0" bIns="0" rtlCol="0" anchor="t"/>
          <a:lstStyle/>
          <a:p>
            <a:pPr marL="0" indent="0">
              <a:buNone/>
              <a:defRPr/>
            </a:pPr>
            <a:r>
              <a:rPr lang="en-US" sz="1700" b="1">
                <a:solidFill>
                  <a:schemeClr val="bg1"/>
                </a:solidFill>
              </a:rPr>
              <a:t>Decoder</a:t>
            </a:r>
            <a:endParaRPr lang="en-US" sz="1700"/>
          </a:p>
        </p:txBody>
      </p:sp>
      <p:sp>
        <p:nvSpPr>
          <p:cNvPr id="1469080447" name="Texto Decoder"/>
          <p:cNvSpPr txBox="1"/>
          <p:nvPr/>
        </p:nvSpPr>
        <p:spPr bwMode="auto">
          <a:xfrm>
            <a:off x="7772400" y="3118104"/>
            <a:ext cx="3840480" cy="685800"/>
          </a:xfrm>
          <a:prstGeom prst="rect">
            <a:avLst/>
          </a:prstGeom>
          <a:noFill/>
          <a:ln/>
        </p:spPr>
        <p:txBody>
          <a:bodyPr wrap="square" lIns="0" tIns="0" rIns="0" bIns="0" rtlCol="0" anchor="t"/>
          <a:lstStyle/>
          <a:p>
            <a:pPr marL="0" indent="0">
              <a:buNone/>
              <a:defRPr/>
            </a:pPr>
            <a:r>
              <a:rPr lang="en-US" sz="1400">
                <a:solidFill>
                  <a:schemeClr val="bg2"/>
                </a:solidFill>
              </a:rPr>
              <a:t>Aumenta la resolución y reconstruye la predicción espacial.</a:t>
            </a:r>
            <a:endParaRPr lang="en-US" sz="1400"/>
          </a:p>
        </p:txBody>
      </p:sp>
      <p:sp>
        <p:nvSpPr>
          <p:cNvPr id="1439061569" name="Círculo Skip connections"/>
          <p:cNvSpPr/>
          <p:nvPr/>
        </p:nvSpPr>
        <p:spPr bwMode="auto">
          <a:xfrm>
            <a:off x="6949440" y="3931920"/>
            <a:ext cx="640080" cy="640080"/>
          </a:xfrm>
          <a:prstGeom prst="ellipse">
            <a:avLst/>
          </a:prstGeom>
          <a:solidFill>
            <a:schemeClr val="accent4">
              <a:alpha val="20000"/>
            </a:schemeClr>
          </a:solidFill>
          <a:ln/>
        </p:spPr>
      </p:sp>
      <p:pic>
        <p:nvPicPr>
          <p:cNvPr id="463566546" name="Image 3" descr="Icono Skip connections"/>
          <p:cNvPicPr>
            <a:picLocks noChangeAspect="1"/>
          </p:cNvPicPr>
          <p:nvPr/>
        </p:nvPicPr>
        <p:blipFill rotWithShape="1">
          <a:blip r:embed="rId6"/>
          <a:stretch/>
        </p:blipFill>
        <p:spPr bwMode="auto">
          <a:xfrm>
            <a:off x="7090258" y="4072738"/>
            <a:ext cx="358445" cy="358445"/>
          </a:xfrm>
          <a:prstGeom prst="rect">
            <a:avLst/>
          </a:prstGeom>
        </p:spPr>
      </p:pic>
      <p:sp>
        <p:nvSpPr>
          <p:cNvPr id="1619940527" name="Título Skip connections"/>
          <p:cNvSpPr txBox="1"/>
          <p:nvPr/>
        </p:nvSpPr>
        <p:spPr bwMode="auto">
          <a:xfrm>
            <a:off x="7772400" y="3913632"/>
            <a:ext cx="3840480" cy="320040"/>
          </a:xfrm>
          <a:prstGeom prst="rect">
            <a:avLst/>
          </a:prstGeom>
          <a:noFill/>
          <a:ln/>
        </p:spPr>
        <p:txBody>
          <a:bodyPr wrap="square" lIns="0" tIns="0" rIns="0" bIns="0" rtlCol="0" anchor="t"/>
          <a:lstStyle/>
          <a:p>
            <a:pPr marL="0" indent="0">
              <a:buNone/>
              <a:defRPr/>
            </a:pPr>
            <a:r>
              <a:rPr lang="en-US" sz="1700" b="1">
                <a:solidFill>
                  <a:schemeClr val="bg1"/>
                </a:solidFill>
              </a:rPr>
              <a:t>Skip connections</a:t>
            </a:r>
            <a:endParaRPr lang="en-US" sz="1700"/>
          </a:p>
        </p:txBody>
      </p:sp>
      <p:sp>
        <p:nvSpPr>
          <p:cNvPr id="368000932" name="Texto Skip connections"/>
          <p:cNvSpPr txBox="1"/>
          <p:nvPr/>
        </p:nvSpPr>
        <p:spPr bwMode="auto">
          <a:xfrm>
            <a:off x="7772400" y="4261104"/>
            <a:ext cx="3840480" cy="685800"/>
          </a:xfrm>
          <a:prstGeom prst="rect">
            <a:avLst/>
          </a:prstGeom>
          <a:noFill/>
          <a:ln/>
        </p:spPr>
        <p:txBody>
          <a:bodyPr wrap="square" lIns="0" tIns="0" rIns="0" bIns="0" rtlCol="0" anchor="t"/>
          <a:lstStyle/>
          <a:p>
            <a:pPr marL="0" indent="0">
              <a:buNone/>
              <a:defRPr/>
            </a:pPr>
            <a:r>
              <a:rPr lang="en-US" sz="1400">
                <a:solidFill>
                  <a:schemeClr val="bg2"/>
                </a:solidFill>
              </a:rPr>
              <a:t>Unen niveles equivalentes para recuperar el detalle de los contornos.</a:t>
            </a:r>
            <a:endParaRPr lang="en-US" sz="1400"/>
          </a:p>
        </p:txBody>
      </p:sp>
      <p:sp>
        <p:nvSpPr>
          <p:cNvPr id="1756273459" name="Tarjeta justificación"/>
          <p:cNvSpPr/>
          <p:nvPr/>
        </p:nvSpPr>
        <p:spPr bwMode="auto">
          <a:xfrm>
            <a:off x="548640" y="5532120"/>
            <a:ext cx="11091672" cy="731520"/>
          </a:xfrm>
          <a:prstGeom prst="roundRect">
            <a:avLst>
              <a:gd name="adj" fmla="val 12500"/>
            </a:avLst>
          </a:prstGeom>
          <a:solidFill>
            <a:schemeClr val="tx2"/>
          </a:solidFill>
          <a:ln w="6350">
            <a:solidFill>
              <a:schemeClr val="accent6">
                <a:alpha val="45000"/>
              </a:schemeClr>
            </a:solidFill>
            <a:prstDash val="solid"/>
          </a:ln>
        </p:spPr>
      </p:sp>
      <p:sp>
        <p:nvSpPr>
          <p:cNvPr id="1769745638" name="Texto justificación"/>
          <p:cNvSpPr txBox="1"/>
          <p:nvPr/>
        </p:nvSpPr>
        <p:spPr bwMode="auto">
          <a:xfrm>
            <a:off x="777240" y="5532120"/>
            <a:ext cx="10652760" cy="731520"/>
          </a:xfrm>
          <a:prstGeom prst="rect">
            <a:avLst/>
          </a:prstGeom>
          <a:noFill/>
          <a:ln/>
        </p:spPr>
        <p:txBody>
          <a:bodyPr wrap="square" lIns="0" tIns="0" rIns="0" bIns="0" rtlCol="0" anchor="ctr"/>
          <a:lstStyle/>
          <a:p>
            <a:pPr marL="0" indent="0">
              <a:buNone/>
              <a:defRPr/>
            </a:pPr>
            <a:r>
              <a:rPr lang="en-US" sz="1400">
                <a:solidFill>
                  <a:schemeClr val="bg1"/>
                </a:solidFill>
              </a:rPr>
              <a:t>Los coches tienen formas variables, aparecen parcialmente ocultos y a distintas distancias y ángulos: una máscara por píxel representa su silueta mejor que una caja.</a:t>
            </a:r>
            <a:endParaRPr lang="en-US" sz="1400"/>
          </a:p>
        </p:txBody>
      </p:sp>
      <p:sp>
        <p:nvSpPr>
          <p:cNvPr id="809015555"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2074476415"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Objetivos y contribución</a:t>
            </a:r>
            <a:endParaRPr lang="en-US" sz="3600"/>
          </a:p>
        </p:txBody>
      </p:sp>
      <p:sp>
        <p:nvSpPr>
          <p:cNvPr id="181493967"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3.3 · INTRODUCCIÓN · OBJETIVOS</a:t>
            </a:r>
            <a:endParaRPr lang="en-US" sz="1200"/>
          </a:p>
        </p:txBody>
      </p:sp>
      <p:sp>
        <p:nvSpPr>
          <p:cNvPr id="465810492" name="Tarjeta objetivo general"/>
          <p:cNvSpPr/>
          <p:nvPr/>
        </p:nvSpPr>
        <p:spPr bwMode="auto">
          <a:xfrm>
            <a:off x="548640" y="1645920"/>
            <a:ext cx="4480560" cy="1965960"/>
          </a:xfrm>
          <a:prstGeom prst="roundRect">
            <a:avLst>
              <a:gd name="adj" fmla="val 4651"/>
            </a:avLst>
          </a:prstGeom>
          <a:solidFill>
            <a:schemeClr val="tx2"/>
          </a:solidFill>
          <a:ln w="6350">
            <a:solidFill>
              <a:schemeClr val="accent6">
                <a:alpha val="45000"/>
              </a:schemeClr>
            </a:solidFill>
            <a:prstDash val="solid"/>
          </a:ln>
        </p:spPr>
      </p:sp>
      <p:sp>
        <p:nvSpPr>
          <p:cNvPr id="171735621" name="Texto objetivo general"/>
          <p:cNvSpPr txBox="1"/>
          <p:nvPr/>
        </p:nvSpPr>
        <p:spPr bwMode="auto">
          <a:xfrm>
            <a:off x="777240" y="1828800"/>
            <a:ext cx="4023360" cy="1645920"/>
          </a:xfrm>
          <a:prstGeom prst="rect">
            <a:avLst/>
          </a:prstGeom>
          <a:noFill/>
          <a:ln/>
        </p:spPr>
        <p:txBody>
          <a:bodyPr wrap="square" lIns="0" tIns="0" rIns="0" bIns="0" rtlCol="0" anchor="t"/>
          <a:lstStyle/>
          <a:p>
            <a:pPr marL="0" indent="0">
              <a:spcAft>
                <a:spcPts val="600"/>
              </a:spcAft>
              <a:buNone/>
              <a:defRPr/>
            </a:pPr>
            <a:r>
              <a:rPr lang="en-US" sz="1200" b="1" spc="100">
                <a:solidFill>
                  <a:schemeClr val="accent1"/>
                </a:solidFill>
              </a:rPr>
              <a:t>OBJETIVO GENERAL</a:t>
            </a:r>
            <a:endParaRPr lang="en-US" sz="1400"/>
          </a:p>
          <a:p>
            <a:pPr marL="0" indent="0">
              <a:spcAft>
                <a:spcPts val="600"/>
              </a:spcAft>
              <a:buNone/>
              <a:defRPr/>
            </a:pPr>
            <a:r>
              <a:rPr lang="en-US" sz="1700">
                <a:solidFill>
                  <a:schemeClr val="bg1"/>
                </a:solidFill>
              </a:rPr>
              <a:t>Desarrollar y evaluar una red convolucional U-Net para la segmentación semántica binaria de coches en imágenes de escenas reales.</a:t>
            </a:r>
            <a:endParaRPr lang="en-US" sz="1400"/>
          </a:p>
        </p:txBody>
      </p:sp>
      <p:sp>
        <p:nvSpPr>
          <p:cNvPr id="823911602" name="Tarjeta contribución"/>
          <p:cNvSpPr/>
          <p:nvPr/>
        </p:nvSpPr>
        <p:spPr bwMode="auto">
          <a:xfrm>
            <a:off x="548640" y="3794760"/>
            <a:ext cx="4480560" cy="2468880"/>
          </a:xfrm>
          <a:prstGeom prst="roundRect">
            <a:avLst>
              <a:gd name="adj" fmla="val 3704"/>
            </a:avLst>
          </a:prstGeom>
          <a:solidFill>
            <a:schemeClr val="tx2"/>
          </a:solidFill>
          <a:ln w="6350">
            <a:solidFill>
              <a:schemeClr val="accent6">
                <a:alpha val="45000"/>
              </a:schemeClr>
            </a:solidFill>
            <a:prstDash val="solid"/>
          </a:ln>
        </p:spPr>
      </p:sp>
      <p:sp>
        <p:nvSpPr>
          <p:cNvPr id="2012011743" name="Texto contribución"/>
          <p:cNvSpPr txBox="1"/>
          <p:nvPr/>
        </p:nvSpPr>
        <p:spPr bwMode="auto">
          <a:xfrm>
            <a:off x="777240" y="3977640"/>
            <a:ext cx="4023360" cy="2148840"/>
          </a:xfrm>
          <a:prstGeom prst="rect">
            <a:avLst/>
          </a:prstGeom>
          <a:noFill/>
          <a:ln/>
        </p:spPr>
        <p:txBody>
          <a:bodyPr wrap="square" lIns="0" tIns="0" rIns="0" bIns="0" rtlCol="0" anchor="t"/>
          <a:lstStyle/>
          <a:p>
            <a:pPr marL="0" indent="0">
              <a:spcAft>
                <a:spcPts val="600"/>
              </a:spcAft>
              <a:buNone/>
              <a:defRPr/>
            </a:pPr>
            <a:r>
              <a:rPr lang="en-US" sz="1200" b="1" spc="100">
                <a:solidFill>
                  <a:schemeClr val="accent4"/>
                </a:solidFill>
              </a:rPr>
              <a:t>CONTRIBUCIÓN</a:t>
            </a:r>
            <a:endParaRPr lang="en-US" sz="1400"/>
          </a:p>
          <a:p>
            <a:pPr marL="0" indent="0">
              <a:spcAft>
                <a:spcPts val="600"/>
              </a:spcAft>
              <a:buNone/>
              <a:defRPr/>
            </a:pPr>
            <a:r>
              <a:rPr lang="en-US" sz="1600">
                <a:solidFill>
                  <a:schemeClr val="bg1"/>
                </a:solidFill>
              </a:rPr>
              <a:t>U-Net ya existe en la literatura. La aportación está en su implementación, la adaptación al conjunto de coches, la evaluación experimental y el análisis visual de errores.</a:t>
            </a:r>
            <a:endParaRPr lang="en-US" sz="1400"/>
          </a:p>
        </p:txBody>
      </p:sp>
      <p:sp>
        <p:nvSpPr>
          <p:cNvPr id="716611170" name="Rótulo específicos"/>
          <p:cNvSpPr txBox="1"/>
          <p:nvPr/>
        </p:nvSpPr>
        <p:spPr bwMode="auto">
          <a:xfrm>
            <a:off x="5440680" y="1645920"/>
            <a:ext cx="6199632" cy="274320"/>
          </a:xfrm>
          <a:prstGeom prst="rect">
            <a:avLst/>
          </a:prstGeom>
          <a:noFill/>
          <a:ln/>
        </p:spPr>
        <p:txBody>
          <a:bodyPr wrap="square" lIns="0" tIns="0" rIns="0" bIns="0" rtlCol="0" anchor="t"/>
          <a:lstStyle/>
          <a:p>
            <a:pPr marL="0" indent="0">
              <a:buNone/>
              <a:defRPr/>
            </a:pPr>
            <a:r>
              <a:rPr lang="en-US" sz="1200" b="1" spc="100">
                <a:solidFill>
                  <a:schemeClr val="accent1"/>
                </a:solidFill>
              </a:rPr>
              <a:t>OBJETIVOS ESPECÍFICOS</a:t>
            </a:r>
            <a:endParaRPr lang="en-US" sz="1200"/>
          </a:p>
        </p:txBody>
      </p:sp>
      <p:sp>
        <p:nvSpPr>
          <p:cNvPr id="721206138" name="Círculo objetivo 1"/>
          <p:cNvSpPr/>
          <p:nvPr/>
        </p:nvSpPr>
        <p:spPr bwMode="auto">
          <a:xfrm>
            <a:off x="5440680" y="2057400"/>
            <a:ext cx="502920" cy="502920"/>
          </a:xfrm>
          <a:prstGeom prst="ellipse">
            <a:avLst/>
          </a:prstGeom>
          <a:solidFill>
            <a:schemeClr val="accent1">
              <a:alpha val="20000"/>
            </a:schemeClr>
          </a:solidFill>
          <a:ln/>
        </p:spPr>
      </p:sp>
      <p:sp>
        <p:nvSpPr>
          <p:cNvPr id="1791553409" name="Número objetivo 1"/>
          <p:cNvSpPr txBox="1"/>
          <p:nvPr/>
        </p:nvSpPr>
        <p:spPr bwMode="auto">
          <a:xfrm>
            <a:off x="5440680" y="2057400"/>
            <a:ext cx="502920" cy="502920"/>
          </a:xfrm>
          <a:prstGeom prst="rect">
            <a:avLst/>
          </a:prstGeom>
          <a:noFill/>
          <a:ln/>
        </p:spPr>
        <p:txBody>
          <a:bodyPr wrap="square" lIns="0" tIns="0" rIns="0" bIns="0" rtlCol="0" anchor="ctr"/>
          <a:lstStyle/>
          <a:p>
            <a:pPr marL="0" indent="0" algn="ctr">
              <a:buNone/>
              <a:defRPr/>
            </a:pPr>
            <a:r>
              <a:rPr lang="en-US" sz="1800" b="1">
                <a:solidFill>
                  <a:schemeClr val="accent1"/>
                </a:solidFill>
                <a:latin typeface="Cambria"/>
                <a:ea typeface="Cambria"/>
                <a:cs typeface="Cambria"/>
              </a:rPr>
              <a:t>1</a:t>
            </a:r>
            <a:endParaRPr lang="en-US" sz="1800"/>
          </a:p>
        </p:txBody>
      </p:sp>
      <p:sp>
        <p:nvSpPr>
          <p:cNvPr id="1840054711" name="Objetivo 1"/>
          <p:cNvSpPr txBox="1"/>
          <p:nvPr/>
        </p:nvSpPr>
        <p:spPr bwMode="auto">
          <a:xfrm>
            <a:off x="6172200" y="2011680"/>
            <a:ext cx="5440680" cy="594360"/>
          </a:xfrm>
          <a:prstGeom prst="rect">
            <a:avLst/>
          </a:prstGeom>
          <a:noFill/>
          <a:ln/>
        </p:spPr>
        <p:txBody>
          <a:bodyPr wrap="square" lIns="0" tIns="0" rIns="0" bIns="0" rtlCol="0" anchor="ctr"/>
          <a:lstStyle/>
          <a:p>
            <a:pPr marL="0" indent="0">
              <a:buNone/>
              <a:defRPr/>
            </a:pPr>
            <a:r>
              <a:rPr lang="en-US" sz="1500">
                <a:solidFill>
                  <a:schemeClr val="bg1"/>
                </a:solidFill>
              </a:rPr>
              <a:t>Construir un conjunto de datos con imágenes y máscaras binarias alineadas.</a:t>
            </a:r>
            <a:endParaRPr lang="en-US" sz="1500"/>
          </a:p>
        </p:txBody>
      </p:sp>
      <p:sp>
        <p:nvSpPr>
          <p:cNvPr id="12333142" name="Círculo objetivo 2"/>
          <p:cNvSpPr/>
          <p:nvPr/>
        </p:nvSpPr>
        <p:spPr bwMode="auto">
          <a:xfrm>
            <a:off x="5440680" y="2898648"/>
            <a:ext cx="502920" cy="502920"/>
          </a:xfrm>
          <a:prstGeom prst="ellipse">
            <a:avLst/>
          </a:prstGeom>
          <a:solidFill>
            <a:schemeClr val="accent1">
              <a:alpha val="20000"/>
            </a:schemeClr>
          </a:solidFill>
          <a:ln/>
        </p:spPr>
      </p:sp>
      <p:sp>
        <p:nvSpPr>
          <p:cNvPr id="564397355" name="Número objetivo 2"/>
          <p:cNvSpPr txBox="1"/>
          <p:nvPr/>
        </p:nvSpPr>
        <p:spPr bwMode="auto">
          <a:xfrm>
            <a:off x="5440680" y="2898648"/>
            <a:ext cx="502920" cy="502920"/>
          </a:xfrm>
          <a:prstGeom prst="rect">
            <a:avLst/>
          </a:prstGeom>
          <a:noFill/>
          <a:ln/>
        </p:spPr>
        <p:txBody>
          <a:bodyPr wrap="square" lIns="0" tIns="0" rIns="0" bIns="0" rtlCol="0" anchor="ctr"/>
          <a:lstStyle/>
          <a:p>
            <a:pPr marL="0" indent="0" algn="ctr">
              <a:buNone/>
              <a:defRPr/>
            </a:pPr>
            <a:r>
              <a:rPr lang="en-US" sz="1800" b="1">
                <a:solidFill>
                  <a:schemeClr val="accent1"/>
                </a:solidFill>
                <a:latin typeface="Cambria"/>
                <a:ea typeface="Cambria"/>
                <a:cs typeface="Cambria"/>
              </a:rPr>
              <a:t>2</a:t>
            </a:r>
            <a:endParaRPr lang="en-US" sz="1800"/>
          </a:p>
        </p:txBody>
      </p:sp>
      <p:sp>
        <p:nvSpPr>
          <p:cNvPr id="1463727393" name="Objetivo 2"/>
          <p:cNvSpPr txBox="1"/>
          <p:nvPr/>
        </p:nvSpPr>
        <p:spPr bwMode="auto">
          <a:xfrm>
            <a:off x="6172200" y="2852928"/>
            <a:ext cx="5440680" cy="594360"/>
          </a:xfrm>
          <a:prstGeom prst="rect">
            <a:avLst/>
          </a:prstGeom>
          <a:noFill/>
          <a:ln/>
        </p:spPr>
        <p:txBody>
          <a:bodyPr wrap="square" lIns="0" tIns="0" rIns="0" bIns="0" rtlCol="0" anchor="ctr"/>
          <a:lstStyle/>
          <a:p>
            <a:pPr marL="0" indent="0">
              <a:buNone/>
              <a:defRPr/>
            </a:pPr>
            <a:r>
              <a:rPr lang="en-US" sz="1500">
                <a:solidFill>
                  <a:schemeClr val="bg1"/>
                </a:solidFill>
              </a:rPr>
              <a:t>Implementar la arquitectura U-Net en PyTorch.</a:t>
            </a:r>
            <a:endParaRPr lang="en-US" sz="1500"/>
          </a:p>
        </p:txBody>
      </p:sp>
      <p:sp>
        <p:nvSpPr>
          <p:cNvPr id="1081058754" name="Círculo objetivo 3"/>
          <p:cNvSpPr/>
          <p:nvPr/>
        </p:nvSpPr>
        <p:spPr bwMode="auto">
          <a:xfrm>
            <a:off x="5440680" y="3739896"/>
            <a:ext cx="502920" cy="502920"/>
          </a:xfrm>
          <a:prstGeom prst="ellipse">
            <a:avLst/>
          </a:prstGeom>
          <a:solidFill>
            <a:schemeClr val="accent1">
              <a:alpha val="20000"/>
            </a:schemeClr>
          </a:solidFill>
          <a:ln/>
        </p:spPr>
      </p:sp>
      <p:sp>
        <p:nvSpPr>
          <p:cNvPr id="1120529962" name="Número objetivo 3"/>
          <p:cNvSpPr txBox="1"/>
          <p:nvPr/>
        </p:nvSpPr>
        <p:spPr bwMode="auto">
          <a:xfrm>
            <a:off x="5440680" y="3739896"/>
            <a:ext cx="502920" cy="502920"/>
          </a:xfrm>
          <a:prstGeom prst="rect">
            <a:avLst/>
          </a:prstGeom>
          <a:noFill/>
          <a:ln/>
        </p:spPr>
        <p:txBody>
          <a:bodyPr wrap="square" lIns="0" tIns="0" rIns="0" bIns="0" rtlCol="0" anchor="ctr"/>
          <a:lstStyle/>
          <a:p>
            <a:pPr marL="0" indent="0" algn="ctr">
              <a:buNone/>
              <a:defRPr/>
            </a:pPr>
            <a:r>
              <a:rPr lang="en-US" sz="1800" b="1">
                <a:solidFill>
                  <a:schemeClr val="accent1"/>
                </a:solidFill>
                <a:latin typeface="Cambria"/>
                <a:ea typeface="Cambria"/>
                <a:cs typeface="Cambria"/>
              </a:rPr>
              <a:t>3</a:t>
            </a:r>
            <a:endParaRPr lang="en-US" sz="1800"/>
          </a:p>
        </p:txBody>
      </p:sp>
      <p:sp>
        <p:nvSpPr>
          <p:cNvPr id="1333271329" name="Objetivo 3"/>
          <p:cNvSpPr txBox="1"/>
          <p:nvPr/>
        </p:nvSpPr>
        <p:spPr bwMode="auto">
          <a:xfrm>
            <a:off x="6172200" y="3694176"/>
            <a:ext cx="5440680" cy="594360"/>
          </a:xfrm>
          <a:prstGeom prst="rect">
            <a:avLst/>
          </a:prstGeom>
          <a:noFill/>
          <a:ln/>
        </p:spPr>
        <p:txBody>
          <a:bodyPr wrap="square" lIns="0" tIns="0" rIns="0" bIns="0" rtlCol="0" anchor="ctr"/>
          <a:lstStyle/>
          <a:p>
            <a:pPr marL="0" indent="0">
              <a:buNone/>
              <a:defRPr/>
            </a:pPr>
            <a:r>
              <a:rPr lang="en-US" sz="1500">
                <a:solidFill>
                  <a:schemeClr val="bg1"/>
                </a:solidFill>
              </a:rPr>
              <a:t>Entrenar con aprendizaje supervisado y evaluar las predicciones.</a:t>
            </a:r>
            <a:endParaRPr lang="en-US" sz="1500"/>
          </a:p>
        </p:txBody>
      </p:sp>
      <p:sp>
        <p:nvSpPr>
          <p:cNvPr id="199244526" name="Círculo objetivo 4"/>
          <p:cNvSpPr/>
          <p:nvPr/>
        </p:nvSpPr>
        <p:spPr bwMode="auto">
          <a:xfrm>
            <a:off x="5440680" y="4581144"/>
            <a:ext cx="502920" cy="502920"/>
          </a:xfrm>
          <a:prstGeom prst="ellipse">
            <a:avLst/>
          </a:prstGeom>
          <a:solidFill>
            <a:schemeClr val="accent1">
              <a:alpha val="20000"/>
            </a:schemeClr>
          </a:solidFill>
          <a:ln/>
        </p:spPr>
      </p:sp>
      <p:sp>
        <p:nvSpPr>
          <p:cNvPr id="773049610" name="Número objetivo 4"/>
          <p:cNvSpPr txBox="1"/>
          <p:nvPr/>
        </p:nvSpPr>
        <p:spPr bwMode="auto">
          <a:xfrm>
            <a:off x="5440680" y="4581144"/>
            <a:ext cx="502920" cy="502920"/>
          </a:xfrm>
          <a:prstGeom prst="rect">
            <a:avLst/>
          </a:prstGeom>
          <a:noFill/>
          <a:ln/>
        </p:spPr>
        <p:txBody>
          <a:bodyPr wrap="square" lIns="0" tIns="0" rIns="0" bIns="0" rtlCol="0" anchor="ctr"/>
          <a:lstStyle/>
          <a:p>
            <a:pPr marL="0" indent="0" algn="ctr">
              <a:buNone/>
              <a:defRPr/>
            </a:pPr>
            <a:r>
              <a:rPr lang="en-US" sz="1800" b="1">
                <a:solidFill>
                  <a:schemeClr val="accent1"/>
                </a:solidFill>
                <a:latin typeface="Cambria"/>
                <a:ea typeface="Cambria"/>
                <a:cs typeface="Cambria"/>
              </a:rPr>
              <a:t>4</a:t>
            </a:r>
            <a:endParaRPr lang="en-US" sz="1800"/>
          </a:p>
        </p:txBody>
      </p:sp>
      <p:sp>
        <p:nvSpPr>
          <p:cNvPr id="1096556328" name="Objetivo 4"/>
          <p:cNvSpPr txBox="1"/>
          <p:nvPr/>
        </p:nvSpPr>
        <p:spPr bwMode="auto">
          <a:xfrm>
            <a:off x="6172200" y="4535424"/>
            <a:ext cx="5440680" cy="594360"/>
          </a:xfrm>
          <a:prstGeom prst="rect">
            <a:avLst/>
          </a:prstGeom>
          <a:noFill/>
          <a:ln/>
        </p:spPr>
        <p:txBody>
          <a:bodyPr wrap="square" lIns="0" tIns="0" rIns="0" bIns="0" rtlCol="0" anchor="ctr"/>
          <a:lstStyle/>
          <a:p>
            <a:pPr marL="0" indent="0">
              <a:buNone/>
              <a:defRPr/>
            </a:pPr>
            <a:r>
              <a:rPr lang="en-US" sz="1500">
                <a:solidFill>
                  <a:schemeClr val="bg1"/>
                </a:solidFill>
              </a:rPr>
              <a:t>Medir el rendimiento con IoU, Dice, precisión y recall.</a:t>
            </a:r>
            <a:endParaRPr lang="en-US" sz="1500"/>
          </a:p>
        </p:txBody>
      </p:sp>
      <p:sp>
        <p:nvSpPr>
          <p:cNvPr id="650110704" name="Círculo objetivo 5"/>
          <p:cNvSpPr/>
          <p:nvPr/>
        </p:nvSpPr>
        <p:spPr bwMode="auto">
          <a:xfrm>
            <a:off x="5440680" y="5422392"/>
            <a:ext cx="502920" cy="502920"/>
          </a:xfrm>
          <a:prstGeom prst="ellipse">
            <a:avLst/>
          </a:prstGeom>
          <a:solidFill>
            <a:schemeClr val="accent1">
              <a:alpha val="20000"/>
            </a:schemeClr>
          </a:solidFill>
          <a:ln/>
        </p:spPr>
      </p:sp>
      <p:sp>
        <p:nvSpPr>
          <p:cNvPr id="1757617463" name="Número objetivo 5"/>
          <p:cNvSpPr txBox="1"/>
          <p:nvPr/>
        </p:nvSpPr>
        <p:spPr bwMode="auto">
          <a:xfrm>
            <a:off x="5440680" y="5422392"/>
            <a:ext cx="502920" cy="502920"/>
          </a:xfrm>
          <a:prstGeom prst="rect">
            <a:avLst/>
          </a:prstGeom>
          <a:noFill/>
          <a:ln/>
        </p:spPr>
        <p:txBody>
          <a:bodyPr wrap="square" lIns="0" tIns="0" rIns="0" bIns="0" rtlCol="0" anchor="ctr"/>
          <a:lstStyle/>
          <a:p>
            <a:pPr marL="0" indent="0" algn="ctr">
              <a:buNone/>
              <a:defRPr/>
            </a:pPr>
            <a:r>
              <a:rPr lang="en-US" sz="1800" b="1">
                <a:solidFill>
                  <a:schemeClr val="accent1"/>
                </a:solidFill>
                <a:latin typeface="Cambria"/>
                <a:ea typeface="Cambria"/>
                <a:cs typeface="Cambria"/>
              </a:rPr>
              <a:t>5</a:t>
            </a:r>
            <a:endParaRPr lang="en-US" sz="1800"/>
          </a:p>
        </p:txBody>
      </p:sp>
      <p:sp>
        <p:nvSpPr>
          <p:cNvPr id="1478095271" name="Objetivo 5"/>
          <p:cNvSpPr txBox="1"/>
          <p:nvPr/>
        </p:nvSpPr>
        <p:spPr bwMode="auto">
          <a:xfrm>
            <a:off x="6172200" y="5376672"/>
            <a:ext cx="5440680" cy="594360"/>
          </a:xfrm>
          <a:prstGeom prst="rect">
            <a:avLst/>
          </a:prstGeom>
          <a:noFill/>
          <a:ln/>
        </p:spPr>
        <p:txBody>
          <a:bodyPr wrap="square" lIns="0" tIns="0" rIns="0" bIns="0" rtlCol="0" anchor="ctr"/>
          <a:lstStyle/>
          <a:p>
            <a:pPr marL="0" indent="0">
              <a:buNone/>
              <a:defRPr/>
            </a:pPr>
            <a:r>
              <a:rPr lang="en-US" sz="1500">
                <a:solidFill>
                  <a:schemeClr val="bg1"/>
                </a:solidFill>
              </a:rPr>
              <a:t>Examinar visualmente los errores e investigar el uso de data augmentation.</a:t>
            </a:r>
            <a:endParaRPr lang="en-US" sz="1500"/>
          </a:p>
        </p:txBody>
      </p:sp>
      <p:sp>
        <p:nvSpPr>
          <p:cNvPr id="1192556327"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1572546261"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Conjunto de datos</a:t>
            </a:r>
            <a:endParaRPr lang="en-US" sz="3600"/>
          </a:p>
        </p:txBody>
      </p:sp>
      <p:sp>
        <p:nvSpPr>
          <p:cNvPr id="461206007"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4.1 · MATERIALES Y MÉTODOS · DATOS</a:t>
            </a:r>
            <a:endParaRPr lang="en-US" sz="1200"/>
          </a:p>
        </p:txBody>
      </p:sp>
      <p:sp>
        <p:nvSpPr>
          <p:cNvPr id="576402506" name="Tarjeta datos"/>
          <p:cNvSpPr/>
          <p:nvPr/>
        </p:nvSpPr>
        <p:spPr bwMode="auto">
          <a:xfrm>
            <a:off x="548640" y="1645920"/>
            <a:ext cx="6035039" cy="4617720"/>
          </a:xfrm>
          <a:prstGeom prst="roundRect">
            <a:avLst>
              <a:gd name="adj" fmla="val 1980"/>
            </a:avLst>
          </a:prstGeom>
          <a:solidFill>
            <a:schemeClr val="tx2"/>
          </a:solidFill>
          <a:ln w="6350">
            <a:solidFill>
              <a:schemeClr val="accent6">
                <a:alpha val="45000"/>
              </a:schemeClr>
            </a:solidFill>
            <a:prstDash val="solid"/>
          </a:ln>
        </p:spPr>
      </p:sp>
      <p:sp>
        <p:nvSpPr>
          <p:cNvPr id="1120464808" name="Dato Total"/>
          <p:cNvSpPr txBox="1"/>
          <p:nvPr/>
        </p:nvSpPr>
        <p:spPr bwMode="auto">
          <a:xfrm>
            <a:off x="822960" y="1828800"/>
            <a:ext cx="1554480" cy="457200"/>
          </a:xfrm>
          <a:prstGeom prst="rect">
            <a:avLst/>
          </a:prstGeom>
          <a:noFill/>
          <a:ln/>
        </p:spPr>
        <p:txBody>
          <a:bodyPr wrap="square" lIns="0" tIns="0" rIns="0" bIns="0" rtlCol="0" anchor="ctr"/>
          <a:lstStyle/>
          <a:p>
            <a:pPr marL="0" indent="0">
              <a:buNone/>
              <a:defRPr/>
            </a:pPr>
            <a:r>
              <a:rPr lang="en-US" sz="1400">
                <a:solidFill>
                  <a:schemeClr val="bg2"/>
                </a:solidFill>
              </a:rPr>
              <a:t>Total</a:t>
            </a:r>
            <a:endParaRPr lang="en-US" sz="1400"/>
          </a:p>
        </p:txBody>
      </p:sp>
      <p:sp>
        <p:nvSpPr>
          <p:cNvPr id="2050038655" name="Valor Total"/>
          <p:cNvSpPr txBox="1"/>
          <p:nvPr/>
        </p:nvSpPr>
        <p:spPr bwMode="auto">
          <a:xfrm>
            <a:off x="2423160" y="1828800"/>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500 parejas imagen–máscara</a:t>
            </a:r>
            <a:endParaRPr lang="en-US" sz="1600"/>
          </a:p>
        </p:txBody>
      </p:sp>
      <p:sp>
        <p:nvSpPr>
          <p:cNvPr id="880857256" name="Dato Imágenes"/>
          <p:cNvSpPr txBox="1"/>
          <p:nvPr/>
        </p:nvSpPr>
        <p:spPr bwMode="auto">
          <a:xfrm>
            <a:off x="822960" y="2441448"/>
            <a:ext cx="1554480" cy="457200"/>
          </a:xfrm>
          <a:prstGeom prst="rect">
            <a:avLst/>
          </a:prstGeom>
          <a:noFill/>
          <a:ln/>
        </p:spPr>
        <p:txBody>
          <a:bodyPr wrap="square" lIns="0" tIns="0" rIns="0" bIns="0" rtlCol="0" anchor="ctr"/>
          <a:lstStyle/>
          <a:p>
            <a:pPr marL="0" indent="0">
              <a:buNone/>
              <a:defRPr/>
            </a:pPr>
            <a:r>
              <a:rPr lang="en-US" sz="1400">
                <a:solidFill>
                  <a:schemeClr val="bg2"/>
                </a:solidFill>
              </a:rPr>
              <a:t>Imágenes</a:t>
            </a:r>
            <a:endParaRPr lang="en-US" sz="1400"/>
          </a:p>
        </p:txBody>
      </p:sp>
      <p:sp>
        <p:nvSpPr>
          <p:cNvPr id="99323001" name="Valor Imágenes"/>
          <p:cNvSpPr txBox="1"/>
          <p:nvPr/>
        </p:nvSpPr>
        <p:spPr bwMode="auto">
          <a:xfrm>
            <a:off x="2423160" y="2441448"/>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JPG / JPEG, convertidas a RGB</a:t>
            </a:r>
            <a:endParaRPr lang="en-US" sz="1600"/>
          </a:p>
        </p:txBody>
      </p:sp>
      <p:sp>
        <p:nvSpPr>
          <p:cNvPr id="472198827" name="Dato Máscaras"/>
          <p:cNvSpPr txBox="1"/>
          <p:nvPr/>
        </p:nvSpPr>
        <p:spPr bwMode="auto">
          <a:xfrm>
            <a:off x="822960" y="3054096"/>
            <a:ext cx="1554480" cy="457200"/>
          </a:xfrm>
          <a:prstGeom prst="rect">
            <a:avLst/>
          </a:prstGeom>
          <a:noFill/>
          <a:ln/>
        </p:spPr>
        <p:txBody>
          <a:bodyPr wrap="square" lIns="0" tIns="0" rIns="0" bIns="0" rtlCol="0" anchor="ctr"/>
          <a:lstStyle/>
          <a:p>
            <a:pPr marL="0" indent="0">
              <a:buNone/>
              <a:defRPr/>
            </a:pPr>
            <a:r>
              <a:rPr lang="en-US" sz="1400">
                <a:solidFill>
                  <a:schemeClr val="bg2"/>
                </a:solidFill>
              </a:rPr>
              <a:t>Máscaras</a:t>
            </a:r>
            <a:endParaRPr lang="en-US" sz="1400"/>
          </a:p>
        </p:txBody>
      </p:sp>
      <p:sp>
        <p:nvSpPr>
          <p:cNvPr id="537213694" name="Valor Máscaras"/>
          <p:cNvSpPr txBox="1"/>
          <p:nvPr/>
        </p:nvSpPr>
        <p:spPr bwMode="auto">
          <a:xfrm>
            <a:off x="2423160" y="3054096"/>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PNG binarias: 1 = coche, 0 = fondo</a:t>
            </a:r>
            <a:endParaRPr lang="en-US" sz="1600"/>
          </a:p>
        </p:txBody>
      </p:sp>
      <p:sp>
        <p:nvSpPr>
          <p:cNvPr id="1730298879" name="Dato Anotación"/>
          <p:cNvSpPr txBox="1"/>
          <p:nvPr/>
        </p:nvSpPr>
        <p:spPr bwMode="auto">
          <a:xfrm>
            <a:off x="822960" y="3666744"/>
            <a:ext cx="1554480" cy="457200"/>
          </a:xfrm>
          <a:prstGeom prst="rect">
            <a:avLst/>
          </a:prstGeom>
          <a:noFill/>
          <a:ln/>
        </p:spPr>
        <p:txBody>
          <a:bodyPr wrap="square" lIns="0" tIns="0" rIns="0" bIns="0" rtlCol="0" anchor="ctr"/>
          <a:lstStyle/>
          <a:p>
            <a:pPr marL="0" indent="0">
              <a:buNone/>
              <a:defRPr/>
            </a:pPr>
            <a:r>
              <a:rPr lang="en-US" sz="1400">
                <a:solidFill>
                  <a:schemeClr val="bg2"/>
                </a:solidFill>
              </a:rPr>
              <a:t>Anotación</a:t>
            </a:r>
            <a:endParaRPr lang="en-US" sz="1400"/>
          </a:p>
        </p:txBody>
      </p:sp>
      <p:sp>
        <p:nvSpPr>
          <p:cNvPr id="67532892" name="Valor Anotación"/>
          <p:cNvSpPr txBox="1"/>
          <p:nvPr/>
        </p:nvSpPr>
        <p:spPr bwMode="auto">
          <a:xfrm>
            <a:off x="2423160" y="3666744"/>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LabelMe → máscaras binarias [4]</a:t>
            </a:r>
            <a:endParaRPr lang="en-US" sz="1600"/>
          </a:p>
        </p:txBody>
      </p:sp>
      <p:sp>
        <p:nvSpPr>
          <p:cNvPr id="24694732" name="Dato Entrada"/>
          <p:cNvSpPr txBox="1"/>
          <p:nvPr/>
        </p:nvSpPr>
        <p:spPr bwMode="auto">
          <a:xfrm>
            <a:off x="822960" y="4279392"/>
            <a:ext cx="1554480" cy="457200"/>
          </a:xfrm>
          <a:prstGeom prst="rect">
            <a:avLst/>
          </a:prstGeom>
          <a:noFill/>
          <a:ln/>
        </p:spPr>
        <p:txBody>
          <a:bodyPr wrap="square" lIns="0" tIns="0" rIns="0" bIns="0" rtlCol="0" anchor="ctr"/>
          <a:lstStyle/>
          <a:p>
            <a:pPr marL="0" indent="0">
              <a:buNone/>
              <a:defRPr/>
            </a:pPr>
            <a:r>
              <a:rPr lang="en-US" sz="1400">
                <a:solidFill>
                  <a:schemeClr val="bg2"/>
                </a:solidFill>
              </a:rPr>
              <a:t>Entrada</a:t>
            </a:r>
            <a:endParaRPr lang="en-US" sz="1400"/>
          </a:p>
        </p:txBody>
      </p:sp>
      <p:sp>
        <p:nvSpPr>
          <p:cNvPr id="128990306" name="Valor Entrada"/>
          <p:cNvSpPr txBox="1"/>
          <p:nvPr/>
        </p:nvSpPr>
        <p:spPr bwMode="auto">
          <a:xfrm>
            <a:off x="2423160" y="4279392"/>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256 × 256 píxeles</a:t>
            </a:r>
            <a:endParaRPr lang="en-US" sz="1600"/>
          </a:p>
        </p:txBody>
      </p:sp>
      <p:sp>
        <p:nvSpPr>
          <p:cNvPr id="1885129178" name="Dato Clases"/>
          <p:cNvSpPr txBox="1"/>
          <p:nvPr/>
        </p:nvSpPr>
        <p:spPr bwMode="auto">
          <a:xfrm>
            <a:off x="822960" y="4892039"/>
            <a:ext cx="1554480" cy="457200"/>
          </a:xfrm>
          <a:prstGeom prst="rect">
            <a:avLst/>
          </a:prstGeom>
          <a:noFill/>
          <a:ln/>
        </p:spPr>
        <p:txBody>
          <a:bodyPr wrap="square" lIns="0" tIns="0" rIns="0" bIns="0" rtlCol="0" anchor="ctr"/>
          <a:lstStyle/>
          <a:p>
            <a:pPr marL="0" indent="0">
              <a:buNone/>
              <a:defRPr/>
            </a:pPr>
            <a:r>
              <a:rPr lang="en-US" sz="1400">
                <a:solidFill>
                  <a:schemeClr val="bg2"/>
                </a:solidFill>
              </a:rPr>
              <a:t>Clases</a:t>
            </a:r>
            <a:endParaRPr lang="en-US" sz="1400"/>
          </a:p>
        </p:txBody>
      </p:sp>
      <p:sp>
        <p:nvSpPr>
          <p:cNvPr id="1732102464" name="Valor Clases"/>
          <p:cNvSpPr txBox="1"/>
          <p:nvPr/>
        </p:nvSpPr>
        <p:spPr bwMode="auto">
          <a:xfrm>
            <a:off x="2423160" y="4892039"/>
            <a:ext cx="4023360" cy="457200"/>
          </a:xfrm>
          <a:prstGeom prst="rect">
            <a:avLst/>
          </a:prstGeom>
          <a:noFill/>
          <a:ln/>
        </p:spPr>
        <p:txBody>
          <a:bodyPr wrap="square" lIns="0" tIns="0" rIns="0" bIns="0" rtlCol="0" anchor="ctr"/>
          <a:lstStyle/>
          <a:p>
            <a:pPr marL="0" indent="0">
              <a:buNone/>
              <a:defRPr/>
            </a:pPr>
            <a:r>
              <a:rPr lang="en-US" sz="1600" b="1">
                <a:solidFill>
                  <a:schemeClr val="bg1"/>
                </a:solidFill>
              </a:rPr>
              <a:t>Coche y fondo</a:t>
            </a:r>
            <a:endParaRPr lang="en-US" sz="1600"/>
          </a:p>
        </p:txBody>
      </p:sp>
      <p:sp>
        <p:nvSpPr>
          <p:cNvPr id="136586317" name="Dato Origen"/>
          <p:cNvSpPr txBox="1"/>
          <p:nvPr/>
        </p:nvSpPr>
        <p:spPr bwMode="auto">
          <a:xfrm>
            <a:off x="822960" y="5504687"/>
            <a:ext cx="1554480" cy="457200"/>
          </a:xfrm>
          <a:prstGeom prst="rect">
            <a:avLst/>
          </a:prstGeom>
          <a:noFill/>
          <a:ln/>
        </p:spPr>
        <p:txBody>
          <a:bodyPr wrap="square" lIns="0" tIns="0" rIns="0" bIns="0" rtlCol="0" anchor="ctr"/>
          <a:lstStyle/>
          <a:p>
            <a:pPr marL="0" indent="0">
              <a:buNone/>
              <a:defRPr/>
            </a:pPr>
            <a:r>
              <a:rPr lang="en-US" sz="1400">
                <a:solidFill>
                  <a:schemeClr val="bg2"/>
                </a:solidFill>
              </a:rPr>
              <a:t>Origen</a:t>
            </a:r>
            <a:endParaRPr lang="en-US" sz="1400"/>
          </a:p>
        </p:txBody>
      </p:sp>
      <p:sp>
        <p:nvSpPr>
          <p:cNvPr id="1220426034" name="Valor Origen"/>
          <p:cNvSpPr txBox="1"/>
          <p:nvPr/>
        </p:nvSpPr>
        <p:spPr bwMode="auto">
          <a:xfrm>
            <a:off x="2423160" y="5504687"/>
            <a:ext cx="4023360" cy="457200"/>
          </a:xfrm>
          <a:prstGeom prst="rect">
            <a:avLst/>
          </a:prstGeom>
          <a:noFill/>
          <a:ln/>
        </p:spPr>
        <p:txBody>
          <a:bodyPr wrap="square" lIns="0" tIns="0" rIns="0" bIns="0" rtlCol="0" anchor="ctr"/>
          <a:lstStyle/>
          <a:p>
            <a:pPr marL="0" indent="0">
              <a:buNone/>
              <a:defRPr/>
            </a:pPr>
            <a:r>
              <a:rPr lang="en-US" sz="1600">
                <a:solidFill>
                  <a:schemeClr val="accent4"/>
                </a:solidFill>
              </a:rPr>
              <a:t>Pendiente: fuente y licencia</a:t>
            </a:r>
            <a:endParaRPr lang="en-US" sz="1600"/>
          </a:p>
        </p:txBody>
      </p:sp>
      <p:graphicFrame>
        <p:nvGraphicFramePr>
          <p:cNvPr id="1474079037" name="Chart 0" descr=""/>
          <p:cNvGraphicFramePr>
            <a:graphicFrameLocks xmlns:a="http://schemas.openxmlformats.org/drawingml/2006/main"/>
          </p:cNvGraphicFramePr>
          <p:nvPr/>
        </p:nvGraphicFramePr>
        <p:xfrm rot="0">
          <a:off x="6858000" y="1645920"/>
          <a:ext cx="4782312"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2129963738" name="Tarjeta división"/>
          <p:cNvSpPr/>
          <p:nvPr/>
        </p:nvSpPr>
        <p:spPr bwMode="auto">
          <a:xfrm>
            <a:off x="6858000" y="5394960"/>
            <a:ext cx="4782312" cy="868680"/>
          </a:xfrm>
          <a:prstGeom prst="roundRect">
            <a:avLst>
              <a:gd name="adj" fmla="val 10526"/>
            </a:avLst>
          </a:prstGeom>
          <a:solidFill>
            <a:schemeClr val="tx2"/>
          </a:solidFill>
          <a:ln w="6350">
            <a:solidFill>
              <a:schemeClr val="accent6">
                <a:alpha val="45000"/>
              </a:schemeClr>
            </a:solidFill>
            <a:prstDash val="solid"/>
          </a:ln>
        </p:spPr>
      </p:sp>
      <p:sp>
        <p:nvSpPr>
          <p:cNvPr id="1600766215" name="Texto división"/>
          <p:cNvSpPr txBox="1"/>
          <p:nvPr/>
        </p:nvSpPr>
        <p:spPr bwMode="auto">
          <a:xfrm>
            <a:off x="7040880" y="5394960"/>
            <a:ext cx="4434840" cy="868680"/>
          </a:xfrm>
          <a:prstGeom prst="rect">
            <a:avLst/>
          </a:prstGeom>
          <a:noFill/>
          <a:ln/>
        </p:spPr>
        <p:txBody>
          <a:bodyPr wrap="square" lIns="0" tIns="0" rIns="0" bIns="0" rtlCol="0" anchor="ctr"/>
          <a:lstStyle/>
          <a:p>
            <a:pPr marL="0" indent="0">
              <a:buNone/>
              <a:defRPr/>
            </a:pPr>
            <a:r>
              <a:rPr lang="en-US" sz="1300">
                <a:solidFill>
                  <a:schemeClr val="bg1"/>
                </a:solidFill>
              </a:rPr>
              <a:t>70 % / 15 % / 15 %, aleatoria con semilla 42. Cada imagen viaja con su máscara a carpetas train, val y test.</a:t>
            </a:r>
            <a:endParaRPr lang="en-US" sz="1300"/>
          </a:p>
        </p:txBody>
      </p:sp>
      <p:sp>
        <p:nvSpPr>
          <p:cNvPr id="1663721611"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548176950"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Preprocesamiento</a:t>
            </a:r>
            <a:endParaRPr lang="en-US" sz="3600"/>
          </a:p>
        </p:txBody>
      </p:sp>
      <p:sp>
        <p:nvSpPr>
          <p:cNvPr id="707044722"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4.2 · MATERIALES Y MÉTODOS · PREPROCESAMIENTO</a:t>
            </a:r>
            <a:endParaRPr lang="en-US" sz="1200"/>
          </a:p>
        </p:txBody>
      </p:sp>
      <p:sp>
        <p:nvSpPr>
          <p:cNvPr id="659901178" name="Tarjeta paso 1"/>
          <p:cNvSpPr/>
          <p:nvPr/>
        </p:nvSpPr>
        <p:spPr bwMode="auto">
          <a:xfrm>
            <a:off x="548640" y="1645920"/>
            <a:ext cx="2103120" cy="3246120"/>
          </a:xfrm>
          <a:prstGeom prst="roundRect">
            <a:avLst>
              <a:gd name="adj" fmla="val 4348"/>
            </a:avLst>
          </a:prstGeom>
          <a:solidFill>
            <a:schemeClr val="tx2"/>
          </a:solidFill>
          <a:ln w="6350">
            <a:solidFill>
              <a:schemeClr val="accent6">
                <a:alpha val="45000"/>
              </a:schemeClr>
            </a:solidFill>
            <a:prstDash val="solid"/>
          </a:ln>
        </p:spPr>
      </p:sp>
      <p:sp>
        <p:nvSpPr>
          <p:cNvPr id="1234874883" name="Círculo Conversión a RGB"/>
          <p:cNvSpPr/>
          <p:nvPr/>
        </p:nvSpPr>
        <p:spPr bwMode="auto">
          <a:xfrm>
            <a:off x="731520" y="1828800"/>
            <a:ext cx="594360" cy="594360"/>
          </a:xfrm>
          <a:prstGeom prst="ellipse">
            <a:avLst/>
          </a:prstGeom>
          <a:solidFill>
            <a:schemeClr val="accent1">
              <a:alpha val="20000"/>
            </a:schemeClr>
          </a:solidFill>
          <a:ln/>
        </p:spPr>
      </p:sp>
      <p:pic>
        <p:nvPicPr>
          <p:cNvPr id="1462232650" name="Image 0" descr="Icono Conversión a RGB"/>
          <p:cNvPicPr>
            <a:picLocks noChangeAspect="1"/>
          </p:cNvPicPr>
          <p:nvPr/>
        </p:nvPicPr>
        <p:blipFill rotWithShape="1">
          <a:blip r:embed="rId3"/>
          <a:stretch/>
        </p:blipFill>
        <p:spPr bwMode="auto">
          <a:xfrm>
            <a:off x="862279" y="1959559"/>
            <a:ext cx="332842" cy="332842"/>
          </a:xfrm>
          <a:prstGeom prst="rect">
            <a:avLst/>
          </a:prstGeom>
        </p:spPr>
      </p:pic>
      <p:sp>
        <p:nvSpPr>
          <p:cNvPr id="1401731147" name="Número paso 1"/>
          <p:cNvSpPr txBox="1"/>
          <p:nvPr/>
        </p:nvSpPr>
        <p:spPr bwMode="auto">
          <a:xfrm>
            <a:off x="2103120" y="1828800"/>
            <a:ext cx="365760" cy="365760"/>
          </a:xfrm>
          <a:prstGeom prst="rect">
            <a:avLst/>
          </a:prstGeom>
          <a:noFill/>
          <a:ln/>
        </p:spPr>
        <p:txBody>
          <a:bodyPr wrap="square" lIns="0" tIns="0" rIns="0" bIns="0" rtlCol="0" anchor="t"/>
          <a:lstStyle/>
          <a:p>
            <a:pPr marL="0" indent="0" algn="r">
              <a:buNone/>
              <a:defRPr/>
            </a:pPr>
            <a:r>
              <a:rPr lang="en-US" sz="2000" b="1">
                <a:solidFill>
                  <a:schemeClr val="bg2"/>
                </a:solidFill>
                <a:latin typeface="Cambria"/>
                <a:ea typeface="Cambria"/>
                <a:cs typeface="Cambria"/>
              </a:rPr>
              <a:t>1</a:t>
            </a:r>
            <a:endParaRPr lang="en-US" sz="2000"/>
          </a:p>
        </p:txBody>
      </p:sp>
      <p:sp>
        <p:nvSpPr>
          <p:cNvPr id="1273455988" name="Título paso 1"/>
          <p:cNvSpPr txBox="1"/>
          <p:nvPr/>
        </p:nvSpPr>
        <p:spPr bwMode="auto">
          <a:xfrm>
            <a:off x="731520" y="2606040"/>
            <a:ext cx="1737360" cy="365760"/>
          </a:xfrm>
          <a:prstGeom prst="rect">
            <a:avLst/>
          </a:prstGeom>
          <a:noFill/>
          <a:ln/>
        </p:spPr>
        <p:txBody>
          <a:bodyPr wrap="square" lIns="0" tIns="0" rIns="0" bIns="0" rtlCol="0" anchor="t"/>
          <a:lstStyle/>
          <a:p>
            <a:pPr marL="0" indent="0">
              <a:buNone/>
              <a:defRPr/>
            </a:pPr>
            <a:r>
              <a:rPr lang="en-US" sz="1600" b="1">
                <a:solidFill>
                  <a:schemeClr val="bg1"/>
                </a:solidFill>
              </a:rPr>
              <a:t>Conversión a RGB</a:t>
            </a:r>
            <a:endParaRPr lang="en-US" sz="1600"/>
          </a:p>
        </p:txBody>
      </p:sp>
      <p:sp>
        <p:nvSpPr>
          <p:cNvPr id="840800911" name="Texto paso 1"/>
          <p:cNvSpPr txBox="1"/>
          <p:nvPr/>
        </p:nvSpPr>
        <p:spPr bwMode="auto">
          <a:xfrm>
            <a:off x="731520" y="3063240"/>
            <a:ext cx="1737360" cy="1737360"/>
          </a:xfrm>
          <a:prstGeom prst="rect">
            <a:avLst/>
          </a:prstGeom>
          <a:noFill/>
          <a:ln/>
        </p:spPr>
        <p:txBody>
          <a:bodyPr wrap="square" lIns="0" tIns="0" rIns="0" bIns="0" rtlCol="0" anchor="t"/>
          <a:lstStyle/>
          <a:p>
            <a:pPr marL="0" indent="0">
              <a:buNone/>
              <a:defRPr/>
            </a:pPr>
            <a:r>
              <a:rPr lang="en-US" sz="1400">
                <a:solidFill>
                  <a:schemeClr val="bg2"/>
                </a:solidFill>
              </a:rPr>
              <a:t>Todas las imágenes entran con 3 canales, aunque el archivo original no los tenga.</a:t>
            </a:r>
            <a:endParaRPr lang="en-US" sz="1400"/>
          </a:p>
        </p:txBody>
      </p:sp>
      <p:sp>
        <p:nvSpPr>
          <p:cNvPr id="1499350240" name="Tarjeta paso 2"/>
          <p:cNvSpPr/>
          <p:nvPr/>
        </p:nvSpPr>
        <p:spPr bwMode="auto">
          <a:xfrm>
            <a:off x="2795778" y="1645920"/>
            <a:ext cx="2103120" cy="3246120"/>
          </a:xfrm>
          <a:prstGeom prst="roundRect">
            <a:avLst>
              <a:gd name="adj" fmla="val 4348"/>
            </a:avLst>
          </a:prstGeom>
          <a:solidFill>
            <a:schemeClr val="tx2"/>
          </a:solidFill>
          <a:ln w="6350">
            <a:solidFill>
              <a:schemeClr val="accent6">
                <a:alpha val="45000"/>
              </a:schemeClr>
            </a:solidFill>
            <a:prstDash val="solid"/>
          </a:ln>
        </p:spPr>
      </p:sp>
      <p:sp>
        <p:nvSpPr>
          <p:cNvPr id="1184326719" name="Círculo Padding a 256×256"/>
          <p:cNvSpPr/>
          <p:nvPr/>
        </p:nvSpPr>
        <p:spPr bwMode="auto">
          <a:xfrm>
            <a:off x="2978658" y="1828800"/>
            <a:ext cx="594360" cy="594360"/>
          </a:xfrm>
          <a:prstGeom prst="ellipse">
            <a:avLst/>
          </a:prstGeom>
          <a:solidFill>
            <a:schemeClr val="accent1">
              <a:alpha val="20000"/>
            </a:schemeClr>
          </a:solidFill>
          <a:ln/>
        </p:spPr>
      </p:sp>
      <p:pic>
        <p:nvPicPr>
          <p:cNvPr id="295391446" name="Image 1" descr="Icono Padding a 256×256"/>
          <p:cNvPicPr>
            <a:picLocks noChangeAspect="1"/>
          </p:cNvPicPr>
          <p:nvPr/>
        </p:nvPicPr>
        <p:blipFill rotWithShape="1">
          <a:blip r:embed="rId4"/>
          <a:stretch/>
        </p:blipFill>
        <p:spPr bwMode="auto">
          <a:xfrm>
            <a:off x="3109417" y="1959559"/>
            <a:ext cx="332842" cy="332842"/>
          </a:xfrm>
          <a:prstGeom prst="rect">
            <a:avLst/>
          </a:prstGeom>
        </p:spPr>
      </p:pic>
      <p:sp>
        <p:nvSpPr>
          <p:cNvPr id="1980676920" name="Número paso 2"/>
          <p:cNvSpPr txBox="1"/>
          <p:nvPr/>
        </p:nvSpPr>
        <p:spPr bwMode="auto">
          <a:xfrm>
            <a:off x="4350258" y="1828800"/>
            <a:ext cx="365760" cy="365760"/>
          </a:xfrm>
          <a:prstGeom prst="rect">
            <a:avLst/>
          </a:prstGeom>
          <a:noFill/>
          <a:ln/>
        </p:spPr>
        <p:txBody>
          <a:bodyPr wrap="square" lIns="0" tIns="0" rIns="0" bIns="0" rtlCol="0" anchor="t"/>
          <a:lstStyle/>
          <a:p>
            <a:pPr marL="0" indent="0" algn="r">
              <a:buNone/>
              <a:defRPr/>
            </a:pPr>
            <a:r>
              <a:rPr lang="en-US" sz="2000" b="1">
                <a:solidFill>
                  <a:schemeClr val="bg2"/>
                </a:solidFill>
                <a:latin typeface="Cambria"/>
                <a:ea typeface="Cambria"/>
                <a:cs typeface="Cambria"/>
              </a:rPr>
              <a:t>2</a:t>
            </a:r>
            <a:endParaRPr lang="en-US" sz="2000"/>
          </a:p>
        </p:txBody>
      </p:sp>
      <p:sp>
        <p:nvSpPr>
          <p:cNvPr id="567770586" name="Título paso 2"/>
          <p:cNvSpPr txBox="1"/>
          <p:nvPr/>
        </p:nvSpPr>
        <p:spPr bwMode="auto">
          <a:xfrm>
            <a:off x="2978658" y="2606040"/>
            <a:ext cx="1737360" cy="365760"/>
          </a:xfrm>
          <a:prstGeom prst="rect">
            <a:avLst/>
          </a:prstGeom>
          <a:noFill/>
          <a:ln/>
        </p:spPr>
        <p:txBody>
          <a:bodyPr wrap="square" lIns="0" tIns="0" rIns="0" bIns="0" rtlCol="0" anchor="t"/>
          <a:lstStyle/>
          <a:p>
            <a:pPr marL="0" indent="0">
              <a:buNone/>
              <a:defRPr/>
            </a:pPr>
            <a:r>
              <a:rPr lang="en-US" sz="1600" b="1">
                <a:solidFill>
                  <a:schemeClr val="bg1"/>
                </a:solidFill>
              </a:rPr>
              <a:t>Padding a 256×256</a:t>
            </a:r>
            <a:endParaRPr lang="en-US" sz="1600"/>
          </a:p>
        </p:txBody>
      </p:sp>
      <p:sp>
        <p:nvSpPr>
          <p:cNvPr id="1782577753" name="Texto paso 2"/>
          <p:cNvSpPr txBox="1"/>
          <p:nvPr/>
        </p:nvSpPr>
        <p:spPr bwMode="auto">
          <a:xfrm>
            <a:off x="2978658" y="3063240"/>
            <a:ext cx="1737360" cy="1737360"/>
          </a:xfrm>
          <a:prstGeom prst="rect">
            <a:avLst/>
          </a:prstGeom>
          <a:noFill/>
          <a:ln/>
        </p:spPr>
        <p:txBody>
          <a:bodyPr wrap="square" lIns="0" tIns="0" rIns="0" bIns="0" rtlCol="0" anchor="t"/>
          <a:lstStyle/>
          <a:p>
            <a:pPr marL="0" indent="0">
              <a:buNone/>
              <a:defRPr/>
            </a:pPr>
            <a:r>
              <a:rPr lang="en-US" sz="1400">
                <a:solidFill>
                  <a:schemeClr val="bg2"/>
                </a:solidFill>
              </a:rPr>
              <a:t>Se ajusta a un cuadrado sin deformar los coches. El relleno es negro en la imagen y fondo en la máscara.</a:t>
            </a:r>
            <a:endParaRPr lang="en-US" sz="1400"/>
          </a:p>
        </p:txBody>
      </p:sp>
      <p:sp>
        <p:nvSpPr>
          <p:cNvPr id="1749008956" name="Tarjeta paso 3"/>
          <p:cNvSpPr/>
          <p:nvPr/>
        </p:nvSpPr>
        <p:spPr bwMode="auto">
          <a:xfrm>
            <a:off x="5042916" y="1645920"/>
            <a:ext cx="2103120" cy="3246120"/>
          </a:xfrm>
          <a:prstGeom prst="roundRect">
            <a:avLst>
              <a:gd name="adj" fmla="val 4348"/>
            </a:avLst>
          </a:prstGeom>
          <a:solidFill>
            <a:schemeClr val="tx2"/>
          </a:solidFill>
          <a:ln w="6350">
            <a:solidFill>
              <a:schemeClr val="accent6">
                <a:alpha val="45000"/>
              </a:schemeClr>
            </a:solidFill>
            <a:prstDash val="solid"/>
          </a:ln>
        </p:spPr>
      </p:sp>
      <p:sp>
        <p:nvSpPr>
          <p:cNvPr id="1438427830" name="Círculo Normalización"/>
          <p:cNvSpPr/>
          <p:nvPr/>
        </p:nvSpPr>
        <p:spPr bwMode="auto">
          <a:xfrm>
            <a:off x="5225796" y="1828800"/>
            <a:ext cx="594360" cy="594360"/>
          </a:xfrm>
          <a:prstGeom prst="ellipse">
            <a:avLst/>
          </a:prstGeom>
          <a:solidFill>
            <a:schemeClr val="accent1">
              <a:alpha val="20000"/>
            </a:schemeClr>
          </a:solidFill>
          <a:ln/>
        </p:spPr>
      </p:sp>
      <p:pic>
        <p:nvPicPr>
          <p:cNvPr id="565283968" name="Image 2" descr="Icono Normalización"/>
          <p:cNvPicPr>
            <a:picLocks noChangeAspect="1"/>
          </p:cNvPicPr>
          <p:nvPr/>
        </p:nvPicPr>
        <p:blipFill rotWithShape="1">
          <a:blip r:embed="rId5"/>
          <a:stretch/>
        </p:blipFill>
        <p:spPr bwMode="auto">
          <a:xfrm>
            <a:off x="5356555" y="1959559"/>
            <a:ext cx="332842" cy="332842"/>
          </a:xfrm>
          <a:prstGeom prst="rect">
            <a:avLst/>
          </a:prstGeom>
        </p:spPr>
      </p:pic>
      <p:sp>
        <p:nvSpPr>
          <p:cNvPr id="689144035" name="Número paso 3"/>
          <p:cNvSpPr txBox="1"/>
          <p:nvPr/>
        </p:nvSpPr>
        <p:spPr bwMode="auto">
          <a:xfrm>
            <a:off x="6597396" y="1828800"/>
            <a:ext cx="365760" cy="365760"/>
          </a:xfrm>
          <a:prstGeom prst="rect">
            <a:avLst/>
          </a:prstGeom>
          <a:noFill/>
          <a:ln/>
        </p:spPr>
        <p:txBody>
          <a:bodyPr wrap="square" lIns="0" tIns="0" rIns="0" bIns="0" rtlCol="0" anchor="t"/>
          <a:lstStyle/>
          <a:p>
            <a:pPr marL="0" indent="0" algn="r">
              <a:buNone/>
              <a:defRPr/>
            </a:pPr>
            <a:r>
              <a:rPr lang="en-US" sz="2000" b="1">
                <a:solidFill>
                  <a:schemeClr val="bg2"/>
                </a:solidFill>
                <a:latin typeface="Cambria"/>
                <a:ea typeface="Cambria"/>
                <a:cs typeface="Cambria"/>
              </a:rPr>
              <a:t>3</a:t>
            </a:r>
            <a:endParaRPr lang="en-US" sz="2000"/>
          </a:p>
        </p:txBody>
      </p:sp>
      <p:sp>
        <p:nvSpPr>
          <p:cNvPr id="1403465178" name="Título paso 3"/>
          <p:cNvSpPr txBox="1"/>
          <p:nvPr/>
        </p:nvSpPr>
        <p:spPr bwMode="auto">
          <a:xfrm>
            <a:off x="5225796" y="2606040"/>
            <a:ext cx="1737360" cy="365760"/>
          </a:xfrm>
          <a:prstGeom prst="rect">
            <a:avLst/>
          </a:prstGeom>
          <a:noFill/>
          <a:ln/>
        </p:spPr>
        <p:txBody>
          <a:bodyPr wrap="square" lIns="0" tIns="0" rIns="0" bIns="0" rtlCol="0" anchor="t"/>
          <a:lstStyle/>
          <a:p>
            <a:pPr marL="0" indent="0">
              <a:buNone/>
              <a:defRPr/>
            </a:pPr>
            <a:r>
              <a:rPr lang="en-US" sz="1600" b="1">
                <a:solidFill>
                  <a:schemeClr val="bg1"/>
                </a:solidFill>
              </a:rPr>
              <a:t>Normalización</a:t>
            </a:r>
            <a:endParaRPr lang="en-US" sz="1600"/>
          </a:p>
        </p:txBody>
      </p:sp>
      <p:sp>
        <p:nvSpPr>
          <p:cNvPr id="1875151183" name="Texto paso 3"/>
          <p:cNvSpPr txBox="1"/>
          <p:nvPr/>
        </p:nvSpPr>
        <p:spPr bwMode="auto">
          <a:xfrm>
            <a:off x="5225796" y="3063240"/>
            <a:ext cx="1737360" cy="1737360"/>
          </a:xfrm>
          <a:prstGeom prst="rect">
            <a:avLst/>
          </a:prstGeom>
          <a:noFill/>
          <a:ln/>
        </p:spPr>
        <p:txBody>
          <a:bodyPr wrap="square" lIns="0" tIns="0" rIns="0" bIns="0" rtlCol="0" anchor="t"/>
          <a:lstStyle/>
          <a:p>
            <a:pPr marL="0" indent="0">
              <a:buNone/>
              <a:defRPr/>
            </a:pPr>
            <a:r>
              <a:rPr lang="en-US" sz="1400">
                <a:solidFill>
                  <a:schemeClr val="bg2"/>
                </a:solidFill>
              </a:rPr>
              <a:t>Los valores de píxel pasan de 0–255 a 0–1, dividiendo entre 255.</a:t>
            </a:r>
            <a:endParaRPr lang="en-US" sz="1400"/>
          </a:p>
        </p:txBody>
      </p:sp>
      <p:sp>
        <p:nvSpPr>
          <p:cNvPr id="284473638" name="Tarjeta paso 4"/>
          <p:cNvSpPr/>
          <p:nvPr/>
        </p:nvSpPr>
        <p:spPr bwMode="auto">
          <a:xfrm>
            <a:off x="7290054" y="1645920"/>
            <a:ext cx="2103120" cy="3246120"/>
          </a:xfrm>
          <a:prstGeom prst="roundRect">
            <a:avLst>
              <a:gd name="adj" fmla="val 4348"/>
            </a:avLst>
          </a:prstGeom>
          <a:solidFill>
            <a:schemeClr val="tx2"/>
          </a:solidFill>
          <a:ln w="6350">
            <a:solidFill>
              <a:schemeClr val="accent6">
                <a:alpha val="45000"/>
              </a:schemeClr>
            </a:solidFill>
            <a:prstDash val="solid"/>
          </a:ln>
        </p:spPr>
      </p:sp>
      <p:sp>
        <p:nvSpPr>
          <p:cNvPr id="81731299" name="Círculo Máscara binaria"/>
          <p:cNvSpPr/>
          <p:nvPr/>
        </p:nvSpPr>
        <p:spPr bwMode="auto">
          <a:xfrm>
            <a:off x="7472934" y="1828800"/>
            <a:ext cx="594360" cy="594360"/>
          </a:xfrm>
          <a:prstGeom prst="ellipse">
            <a:avLst/>
          </a:prstGeom>
          <a:solidFill>
            <a:schemeClr val="accent1">
              <a:alpha val="20000"/>
            </a:schemeClr>
          </a:solidFill>
          <a:ln/>
        </p:spPr>
      </p:sp>
      <p:pic>
        <p:nvPicPr>
          <p:cNvPr id="672201520" name="Image 3" descr="Icono Máscara binaria"/>
          <p:cNvPicPr>
            <a:picLocks noChangeAspect="1"/>
          </p:cNvPicPr>
          <p:nvPr/>
        </p:nvPicPr>
        <p:blipFill rotWithShape="1">
          <a:blip r:embed="rId6"/>
          <a:stretch/>
        </p:blipFill>
        <p:spPr bwMode="auto">
          <a:xfrm>
            <a:off x="7603693" y="1959559"/>
            <a:ext cx="332842" cy="332842"/>
          </a:xfrm>
          <a:prstGeom prst="rect">
            <a:avLst/>
          </a:prstGeom>
        </p:spPr>
      </p:pic>
      <p:sp>
        <p:nvSpPr>
          <p:cNvPr id="194459626" name="Número paso 4"/>
          <p:cNvSpPr txBox="1"/>
          <p:nvPr/>
        </p:nvSpPr>
        <p:spPr bwMode="auto">
          <a:xfrm>
            <a:off x="8844534" y="1828800"/>
            <a:ext cx="365760" cy="365760"/>
          </a:xfrm>
          <a:prstGeom prst="rect">
            <a:avLst/>
          </a:prstGeom>
          <a:noFill/>
          <a:ln/>
        </p:spPr>
        <p:txBody>
          <a:bodyPr wrap="square" lIns="0" tIns="0" rIns="0" bIns="0" rtlCol="0" anchor="t"/>
          <a:lstStyle/>
          <a:p>
            <a:pPr marL="0" indent="0" algn="r">
              <a:buNone/>
              <a:defRPr/>
            </a:pPr>
            <a:r>
              <a:rPr lang="en-US" sz="2000" b="1">
                <a:solidFill>
                  <a:schemeClr val="bg2"/>
                </a:solidFill>
                <a:latin typeface="Cambria"/>
                <a:ea typeface="Cambria"/>
                <a:cs typeface="Cambria"/>
              </a:rPr>
              <a:t>4</a:t>
            </a:r>
            <a:endParaRPr lang="en-US" sz="2000"/>
          </a:p>
        </p:txBody>
      </p:sp>
      <p:sp>
        <p:nvSpPr>
          <p:cNvPr id="144174163" name="Título paso 4"/>
          <p:cNvSpPr txBox="1"/>
          <p:nvPr/>
        </p:nvSpPr>
        <p:spPr bwMode="auto">
          <a:xfrm>
            <a:off x="7472934" y="2606040"/>
            <a:ext cx="1737360" cy="365760"/>
          </a:xfrm>
          <a:prstGeom prst="rect">
            <a:avLst/>
          </a:prstGeom>
          <a:noFill/>
          <a:ln/>
        </p:spPr>
        <p:txBody>
          <a:bodyPr wrap="square" lIns="0" tIns="0" rIns="0" bIns="0" rtlCol="0" anchor="t"/>
          <a:lstStyle/>
          <a:p>
            <a:pPr marL="0" indent="0">
              <a:buNone/>
              <a:defRPr/>
            </a:pPr>
            <a:r>
              <a:rPr lang="en-US" sz="1600" b="1">
                <a:solidFill>
                  <a:schemeClr val="bg1"/>
                </a:solidFill>
              </a:rPr>
              <a:t>Máscara binaria</a:t>
            </a:r>
            <a:endParaRPr lang="en-US" sz="1600"/>
          </a:p>
        </p:txBody>
      </p:sp>
      <p:sp>
        <p:nvSpPr>
          <p:cNvPr id="70737625" name="Texto paso 4"/>
          <p:cNvSpPr txBox="1"/>
          <p:nvPr/>
        </p:nvSpPr>
        <p:spPr bwMode="auto">
          <a:xfrm>
            <a:off x="7472934" y="3063240"/>
            <a:ext cx="1737360" cy="1737360"/>
          </a:xfrm>
          <a:prstGeom prst="rect">
            <a:avLst/>
          </a:prstGeom>
          <a:noFill/>
          <a:ln/>
        </p:spPr>
        <p:txBody>
          <a:bodyPr wrap="square" lIns="0" tIns="0" rIns="0" bIns="0" rtlCol="0" anchor="t"/>
          <a:lstStyle/>
          <a:p>
            <a:pPr marL="0" indent="0">
              <a:buNone/>
              <a:defRPr/>
            </a:pPr>
            <a:r>
              <a:rPr lang="en-US" sz="1400">
                <a:solidFill>
                  <a:schemeClr val="bg2"/>
                </a:solidFill>
              </a:rPr>
              <a:t>Escala de grises con umbral 128: ≥128 es coche (1) y &lt;128 es fondo (0).</a:t>
            </a:r>
            <a:endParaRPr lang="en-US" sz="1400"/>
          </a:p>
        </p:txBody>
      </p:sp>
      <p:sp>
        <p:nvSpPr>
          <p:cNvPr id="1926423485" name="Tarjeta paso 5"/>
          <p:cNvSpPr/>
          <p:nvPr/>
        </p:nvSpPr>
        <p:spPr bwMode="auto">
          <a:xfrm>
            <a:off x="9537192" y="1645920"/>
            <a:ext cx="2103120" cy="3246120"/>
          </a:xfrm>
          <a:prstGeom prst="roundRect">
            <a:avLst>
              <a:gd name="adj" fmla="val 4348"/>
            </a:avLst>
          </a:prstGeom>
          <a:solidFill>
            <a:schemeClr val="tx2"/>
          </a:solidFill>
          <a:ln w="6350">
            <a:solidFill>
              <a:schemeClr val="accent6">
                <a:alpha val="45000"/>
              </a:schemeClr>
            </a:solidFill>
            <a:prstDash val="solid"/>
          </a:ln>
        </p:spPr>
      </p:sp>
      <p:sp>
        <p:nvSpPr>
          <p:cNvPr id="1488172881" name="Círculo Formato tensor"/>
          <p:cNvSpPr/>
          <p:nvPr/>
        </p:nvSpPr>
        <p:spPr bwMode="auto">
          <a:xfrm>
            <a:off x="9720072" y="1828800"/>
            <a:ext cx="594360" cy="594360"/>
          </a:xfrm>
          <a:prstGeom prst="ellipse">
            <a:avLst/>
          </a:prstGeom>
          <a:solidFill>
            <a:schemeClr val="accent1">
              <a:alpha val="20000"/>
            </a:schemeClr>
          </a:solidFill>
          <a:ln/>
        </p:spPr>
      </p:sp>
      <p:pic>
        <p:nvPicPr>
          <p:cNvPr id="1031598699" name="Image 4" descr="Icono Formato tensor"/>
          <p:cNvPicPr>
            <a:picLocks noChangeAspect="1"/>
          </p:cNvPicPr>
          <p:nvPr/>
        </p:nvPicPr>
        <p:blipFill rotWithShape="1">
          <a:blip r:embed="rId7"/>
          <a:stretch/>
        </p:blipFill>
        <p:spPr bwMode="auto">
          <a:xfrm>
            <a:off x="9850831" y="1959559"/>
            <a:ext cx="332842" cy="332842"/>
          </a:xfrm>
          <a:prstGeom prst="rect">
            <a:avLst/>
          </a:prstGeom>
        </p:spPr>
      </p:pic>
      <p:sp>
        <p:nvSpPr>
          <p:cNvPr id="656724287" name="Número paso 5"/>
          <p:cNvSpPr txBox="1"/>
          <p:nvPr/>
        </p:nvSpPr>
        <p:spPr bwMode="auto">
          <a:xfrm>
            <a:off x="11091672" y="1828800"/>
            <a:ext cx="365760" cy="365760"/>
          </a:xfrm>
          <a:prstGeom prst="rect">
            <a:avLst/>
          </a:prstGeom>
          <a:noFill/>
          <a:ln/>
        </p:spPr>
        <p:txBody>
          <a:bodyPr wrap="square" lIns="0" tIns="0" rIns="0" bIns="0" rtlCol="0" anchor="t"/>
          <a:lstStyle/>
          <a:p>
            <a:pPr marL="0" indent="0" algn="r">
              <a:buNone/>
              <a:defRPr/>
            </a:pPr>
            <a:r>
              <a:rPr lang="en-US" sz="2000" b="1">
                <a:solidFill>
                  <a:schemeClr val="bg2"/>
                </a:solidFill>
                <a:latin typeface="Cambria"/>
                <a:ea typeface="Cambria"/>
                <a:cs typeface="Cambria"/>
              </a:rPr>
              <a:t>5</a:t>
            </a:r>
            <a:endParaRPr lang="en-US" sz="2000"/>
          </a:p>
        </p:txBody>
      </p:sp>
      <p:sp>
        <p:nvSpPr>
          <p:cNvPr id="274686341" name="Título paso 5"/>
          <p:cNvSpPr txBox="1"/>
          <p:nvPr/>
        </p:nvSpPr>
        <p:spPr bwMode="auto">
          <a:xfrm>
            <a:off x="9720072" y="2606040"/>
            <a:ext cx="1737360" cy="365760"/>
          </a:xfrm>
          <a:prstGeom prst="rect">
            <a:avLst/>
          </a:prstGeom>
          <a:noFill/>
          <a:ln/>
        </p:spPr>
        <p:txBody>
          <a:bodyPr wrap="square" lIns="0" tIns="0" rIns="0" bIns="0" rtlCol="0" anchor="t"/>
          <a:lstStyle/>
          <a:p>
            <a:pPr marL="0" indent="0">
              <a:buNone/>
              <a:defRPr/>
            </a:pPr>
            <a:r>
              <a:rPr lang="en-US" sz="1600" b="1">
                <a:solidFill>
                  <a:schemeClr val="bg1"/>
                </a:solidFill>
              </a:rPr>
              <a:t>Formato tensor</a:t>
            </a:r>
            <a:endParaRPr lang="en-US" sz="1600"/>
          </a:p>
        </p:txBody>
      </p:sp>
      <p:sp>
        <p:nvSpPr>
          <p:cNvPr id="117851067" name="Texto paso 5"/>
          <p:cNvSpPr txBox="1"/>
          <p:nvPr/>
        </p:nvSpPr>
        <p:spPr bwMode="auto">
          <a:xfrm>
            <a:off x="9720072" y="3063240"/>
            <a:ext cx="1737360" cy="1737360"/>
          </a:xfrm>
          <a:prstGeom prst="rect">
            <a:avLst/>
          </a:prstGeom>
          <a:noFill/>
          <a:ln/>
        </p:spPr>
        <p:txBody>
          <a:bodyPr wrap="square" lIns="0" tIns="0" rIns="0" bIns="0" rtlCol="0" anchor="t"/>
          <a:lstStyle/>
          <a:p>
            <a:pPr marL="0" indent="0">
              <a:buNone/>
              <a:defRPr/>
            </a:pPr>
            <a:r>
              <a:rPr lang="en-US" sz="1400">
                <a:solidFill>
                  <a:schemeClr val="bg2"/>
                </a:solidFill>
              </a:rPr>
              <a:t>[alto, ancho, canales] pasa a [canales, alto, ancho], el orden que usa PyTorch.</a:t>
            </a:r>
            <a:endParaRPr lang="en-US" sz="1400"/>
          </a:p>
        </p:txBody>
      </p:sp>
      <p:sp>
        <p:nvSpPr>
          <p:cNvPr id="686279009" name="Tarjeta interpolación"/>
          <p:cNvSpPr/>
          <p:nvPr/>
        </p:nvSpPr>
        <p:spPr bwMode="auto">
          <a:xfrm>
            <a:off x="548640" y="5074920"/>
            <a:ext cx="5440680" cy="1188720"/>
          </a:xfrm>
          <a:prstGeom prst="roundRect">
            <a:avLst>
              <a:gd name="adj" fmla="val 7692"/>
            </a:avLst>
          </a:prstGeom>
          <a:solidFill>
            <a:schemeClr val="tx2"/>
          </a:solidFill>
          <a:ln w="6350">
            <a:solidFill>
              <a:schemeClr val="accent6">
                <a:alpha val="45000"/>
              </a:schemeClr>
            </a:solidFill>
            <a:prstDash val="solid"/>
          </a:ln>
        </p:spPr>
      </p:sp>
      <p:sp>
        <p:nvSpPr>
          <p:cNvPr id="1825062287" name="Texto interpolación"/>
          <p:cNvSpPr txBox="1"/>
          <p:nvPr/>
        </p:nvSpPr>
        <p:spPr bwMode="auto">
          <a:xfrm>
            <a:off x="777240" y="5212080"/>
            <a:ext cx="5029200" cy="960120"/>
          </a:xfrm>
          <a:prstGeom prst="rect">
            <a:avLst/>
          </a:prstGeom>
          <a:noFill/>
          <a:ln/>
        </p:spPr>
        <p:txBody>
          <a:bodyPr wrap="square" lIns="0" tIns="0" rIns="0" bIns="0" rtlCol="0" anchor="t"/>
          <a:lstStyle/>
          <a:p>
            <a:pPr marL="0" indent="0">
              <a:spcAft>
                <a:spcPts val="300"/>
              </a:spcAft>
              <a:buNone/>
              <a:defRPr/>
            </a:pPr>
            <a:r>
              <a:rPr lang="en-US" sz="1200" b="1" spc="100">
                <a:solidFill>
                  <a:schemeClr val="accent1"/>
                </a:solidFill>
              </a:rPr>
              <a:t>INTERPOLACIÓN</a:t>
            </a:r>
            <a:endParaRPr lang="en-US" sz="1400"/>
          </a:p>
          <a:p>
            <a:pPr marL="0" indent="0">
              <a:spcAft>
                <a:spcPts val="300"/>
              </a:spcAft>
              <a:buNone/>
              <a:defRPr/>
            </a:pPr>
            <a:r>
              <a:rPr lang="en-US" sz="1300">
                <a:solidFill>
                  <a:schemeClr val="bg1"/>
                </a:solidFill>
              </a:rPr>
              <a:t>Bilineal en la imagen y vecino más cercano en la máscara: promediar valores crearía etiquetas que no son ninguna clase.</a:t>
            </a:r>
            <a:endParaRPr lang="en-US" sz="1400"/>
          </a:p>
        </p:txBody>
      </p:sp>
      <p:sp>
        <p:nvSpPr>
          <p:cNvPr id="1185021712" name="Tarjeta implementación"/>
          <p:cNvSpPr/>
          <p:nvPr/>
        </p:nvSpPr>
        <p:spPr bwMode="auto">
          <a:xfrm>
            <a:off x="6199632" y="5074920"/>
            <a:ext cx="5440680" cy="1188720"/>
          </a:xfrm>
          <a:prstGeom prst="roundRect">
            <a:avLst>
              <a:gd name="adj" fmla="val 7692"/>
            </a:avLst>
          </a:prstGeom>
          <a:solidFill>
            <a:schemeClr val="tx2"/>
          </a:solidFill>
          <a:ln w="6350">
            <a:solidFill>
              <a:schemeClr val="accent6">
                <a:alpha val="45000"/>
              </a:schemeClr>
            </a:solidFill>
            <a:prstDash val="solid"/>
          </a:ln>
        </p:spPr>
      </p:sp>
      <p:sp>
        <p:nvSpPr>
          <p:cNvPr id="1262421090" name="Texto implementación"/>
          <p:cNvSpPr txBox="1"/>
          <p:nvPr/>
        </p:nvSpPr>
        <p:spPr bwMode="auto">
          <a:xfrm>
            <a:off x="6428232" y="5212080"/>
            <a:ext cx="5029200" cy="960120"/>
          </a:xfrm>
          <a:prstGeom prst="rect">
            <a:avLst/>
          </a:prstGeom>
          <a:noFill/>
          <a:ln/>
        </p:spPr>
        <p:txBody>
          <a:bodyPr wrap="square" lIns="0" tIns="0" rIns="0" bIns="0" rtlCol="0" anchor="t"/>
          <a:lstStyle/>
          <a:p>
            <a:pPr marL="0" indent="0">
              <a:spcAft>
                <a:spcPts val="300"/>
              </a:spcAft>
              <a:buNone/>
              <a:defRPr/>
            </a:pPr>
            <a:r>
              <a:rPr lang="en-US" sz="1200" b="1" spc="100">
                <a:solidFill>
                  <a:schemeClr val="accent1"/>
                </a:solidFill>
              </a:rPr>
              <a:t>IMPLEMENTACIÓN</a:t>
            </a:r>
            <a:endParaRPr lang="en-US" sz="1400"/>
          </a:p>
          <a:p>
            <a:pPr marL="0" indent="0">
              <a:spcAft>
                <a:spcPts val="300"/>
              </a:spcAft>
              <a:buNone/>
              <a:defRPr/>
            </a:pPr>
            <a:r>
              <a:rPr lang="en-US" sz="1300">
                <a:solidFill>
                  <a:schemeClr val="bg1"/>
                </a:solidFill>
              </a:rPr>
              <a:t>Clase CarDataset con Dataset y DataLoader de PyTorch [8]; verifica que cada imagen tenga su máscara y el mismo tamaño.</a:t>
            </a:r>
            <a:endParaRPr lang="en-US" sz="1400"/>
          </a:p>
        </p:txBody>
      </p:sp>
      <p:sp>
        <p:nvSpPr>
          <p:cNvPr id="960869371"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720571111"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Arquitectura implementada</a:t>
            </a:r>
            <a:endParaRPr lang="en-US" sz="3600"/>
          </a:p>
        </p:txBody>
      </p:sp>
      <p:sp>
        <p:nvSpPr>
          <p:cNvPr id="1820082261"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4.4 · MATERIALES Y MÉTODOS · ARQUITECTURA</a:t>
            </a:r>
            <a:endParaRPr lang="en-US" sz="1200"/>
          </a:p>
        </p:txBody>
      </p:sp>
      <p:pic>
        <p:nvPicPr>
          <p:cNvPr id="1510637097" name="Image 0" descr="Diagrama de la U-Net implementada: encoder, bottleneck, decoder y skip connections con sus canales y resoluciones"/>
          <p:cNvPicPr>
            <a:picLocks noChangeAspect="1"/>
          </p:cNvPicPr>
          <p:nvPr/>
        </p:nvPicPr>
        <p:blipFill rotWithShape="1">
          <a:blip r:embed="rId3"/>
          <a:stretch/>
        </p:blipFill>
        <p:spPr bwMode="auto">
          <a:xfrm>
            <a:off x="548640" y="1645920"/>
            <a:ext cx="5212080" cy="4566392"/>
          </a:xfrm>
          <a:prstGeom prst="rect">
            <a:avLst/>
          </a:prstGeom>
        </p:spPr>
      </p:pic>
      <p:sp>
        <p:nvSpPr>
          <p:cNvPr id="1536392546" name="Punto Encoder"/>
          <p:cNvSpPr/>
          <p:nvPr/>
        </p:nvSpPr>
        <p:spPr bwMode="auto">
          <a:xfrm>
            <a:off x="6172200" y="1709928"/>
            <a:ext cx="182880" cy="182880"/>
          </a:xfrm>
          <a:prstGeom prst="ellipse">
            <a:avLst/>
          </a:prstGeom>
          <a:solidFill>
            <a:schemeClr val="accent1"/>
          </a:solidFill>
          <a:ln/>
        </p:spPr>
      </p:sp>
      <p:sp>
        <p:nvSpPr>
          <p:cNvPr id="50997679" name="Texto Encoder"/>
          <p:cNvSpPr txBox="1"/>
          <p:nvPr/>
        </p:nvSpPr>
        <p:spPr bwMode="auto">
          <a:xfrm>
            <a:off x="6492240" y="1645920"/>
            <a:ext cx="5148072" cy="658368"/>
          </a:xfrm>
          <a:prstGeom prst="rect">
            <a:avLst/>
          </a:prstGeom>
          <a:noFill/>
          <a:ln/>
        </p:spPr>
        <p:txBody>
          <a:bodyPr wrap="square" lIns="0" tIns="0" rIns="0" bIns="0" rtlCol="0" anchor="t"/>
          <a:lstStyle/>
          <a:p>
            <a:pPr marL="0" indent="0">
              <a:buNone/>
              <a:defRPr/>
            </a:pPr>
            <a:r>
              <a:rPr lang="en-US" sz="1500" b="1">
                <a:solidFill>
                  <a:schemeClr val="bg1"/>
                </a:solidFill>
              </a:rPr>
              <a:t>Encoder  </a:t>
            </a:r>
            <a:r>
              <a:rPr lang="en-US" sz="1300">
                <a:solidFill>
                  <a:schemeClr val="bg2"/>
                </a:solidFill>
              </a:rPr>
              <a:t>4 bloques con 16, 32, 64 y 128 canales. MaxPool 2×2 reduce a la mitad el alto y el ancho.</a:t>
            </a:r>
            <a:endParaRPr lang="en-US" sz="1400"/>
          </a:p>
        </p:txBody>
      </p:sp>
      <p:sp>
        <p:nvSpPr>
          <p:cNvPr id="343704551" name="Punto Bottleneck"/>
          <p:cNvSpPr/>
          <p:nvPr/>
        </p:nvSpPr>
        <p:spPr bwMode="auto">
          <a:xfrm>
            <a:off x="6172200" y="2423160"/>
            <a:ext cx="182880" cy="182880"/>
          </a:xfrm>
          <a:prstGeom prst="ellipse">
            <a:avLst/>
          </a:prstGeom>
          <a:solidFill>
            <a:schemeClr val="accent3"/>
          </a:solidFill>
          <a:ln/>
        </p:spPr>
      </p:sp>
      <p:sp>
        <p:nvSpPr>
          <p:cNvPr id="124258663" name="Texto Bottleneck"/>
          <p:cNvSpPr txBox="1"/>
          <p:nvPr/>
        </p:nvSpPr>
        <p:spPr bwMode="auto">
          <a:xfrm>
            <a:off x="6492240" y="2359152"/>
            <a:ext cx="5148072" cy="658368"/>
          </a:xfrm>
          <a:prstGeom prst="rect">
            <a:avLst/>
          </a:prstGeom>
          <a:noFill/>
          <a:ln/>
        </p:spPr>
        <p:txBody>
          <a:bodyPr wrap="square" lIns="0" tIns="0" rIns="0" bIns="0" rtlCol="0" anchor="t"/>
          <a:lstStyle/>
          <a:p>
            <a:pPr marL="0" indent="0">
              <a:buNone/>
              <a:defRPr/>
            </a:pPr>
            <a:r>
              <a:rPr lang="en-US" sz="1500" b="1">
                <a:solidFill>
                  <a:schemeClr val="bg1"/>
                </a:solidFill>
              </a:rPr>
              <a:t>Bottleneck  </a:t>
            </a:r>
            <a:r>
              <a:rPr lang="en-US" sz="1300">
                <a:solidFill>
                  <a:schemeClr val="bg2"/>
                </a:solidFill>
              </a:rPr>
              <a:t>128 → 256 canales a 16×16: la representación más abstracta.</a:t>
            </a:r>
            <a:endParaRPr lang="en-US" sz="1400"/>
          </a:p>
        </p:txBody>
      </p:sp>
      <p:sp>
        <p:nvSpPr>
          <p:cNvPr id="1689341041" name="Punto Decoder"/>
          <p:cNvSpPr/>
          <p:nvPr/>
        </p:nvSpPr>
        <p:spPr bwMode="auto">
          <a:xfrm>
            <a:off x="6172200" y="3136392"/>
            <a:ext cx="182880" cy="182880"/>
          </a:xfrm>
          <a:prstGeom prst="ellipse">
            <a:avLst/>
          </a:prstGeom>
          <a:solidFill>
            <a:schemeClr val="accent2"/>
          </a:solidFill>
          <a:ln/>
        </p:spPr>
      </p:sp>
      <p:sp>
        <p:nvSpPr>
          <p:cNvPr id="646252168" name="Texto Decoder"/>
          <p:cNvSpPr txBox="1"/>
          <p:nvPr/>
        </p:nvSpPr>
        <p:spPr bwMode="auto">
          <a:xfrm>
            <a:off x="6492240" y="3072384"/>
            <a:ext cx="5148072" cy="658368"/>
          </a:xfrm>
          <a:prstGeom prst="rect">
            <a:avLst/>
          </a:prstGeom>
          <a:noFill/>
          <a:ln/>
        </p:spPr>
        <p:txBody>
          <a:bodyPr wrap="square" lIns="0" tIns="0" rIns="0" bIns="0" rtlCol="0" anchor="t"/>
          <a:lstStyle/>
          <a:p>
            <a:pPr marL="0" indent="0">
              <a:buNone/>
              <a:defRPr/>
            </a:pPr>
            <a:r>
              <a:rPr lang="en-US" sz="1500" b="1">
                <a:solidFill>
                  <a:schemeClr val="bg1"/>
                </a:solidFill>
              </a:rPr>
              <a:t>Decoder  </a:t>
            </a:r>
            <a:r>
              <a:rPr lang="en-US" sz="1300">
                <a:solidFill>
                  <a:schemeClr val="bg2"/>
                </a:solidFill>
              </a:rPr>
              <a:t>4 bloques con ConvTranspose 2×2 [6]. Duplican la resolución y concatenan la skip del encoder.</a:t>
            </a:r>
            <a:endParaRPr lang="en-US" sz="1400"/>
          </a:p>
        </p:txBody>
      </p:sp>
      <p:sp>
        <p:nvSpPr>
          <p:cNvPr id="2040350442" name="Punto Skip connections"/>
          <p:cNvSpPr/>
          <p:nvPr/>
        </p:nvSpPr>
        <p:spPr bwMode="auto">
          <a:xfrm>
            <a:off x="6172200" y="3849624"/>
            <a:ext cx="182880" cy="182880"/>
          </a:xfrm>
          <a:prstGeom prst="ellipse">
            <a:avLst/>
          </a:prstGeom>
          <a:solidFill>
            <a:schemeClr val="accent4"/>
          </a:solidFill>
          <a:ln/>
        </p:spPr>
      </p:sp>
      <p:sp>
        <p:nvSpPr>
          <p:cNvPr id="2014735270" name="Texto Skip connections"/>
          <p:cNvSpPr txBox="1"/>
          <p:nvPr/>
        </p:nvSpPr>
        <p:spPr bwMode="auto">
          <a:xfrm>
            <a:off x="6492240" y="3785616"/>
            <a:ext cx="5148072" cy="658368"/>
          </a:xfrm>
          <a:prstGeom prst="rect">
            <a:avLst/>
          </a:prstGeom>
          <a:noFill/>
          <a:ln/>
        </p:spPr>
        <p:txBody>
          <a:bodyPr wrap="square" lIns="0" tIns="0" rIns="0" bIns="0" rtlCol="0" anchor="t"/>
          <a:lstStyle/>
          <a:p>
            <a:pPr marL="0" indent="0">
              <a:buNone/>
              <a:defRPr/>
            </a:pPr>
            <a:r>
              <a:rPr lang="en-US" sz="1500" b="1">
                <a:solidFill>
                  <a:schemeClr val="bg1"/>
                </a:solidFill>
              </a:rPr>
              <a:t>Skip connections  </a:t>
            </a:r>
            <a:r>
              <a:rPr lang="en-US" sz="1300">
                <a:solidFill>
                  <a:schemeClr val="bg2"/>
                </a:solidFill>
              </a:rPr>
              <a:t>torch.cat por canales: unen contexto profundo y detalle espacial.</a:t>
            </a:r>
            <a:endParaRPr lang="en-US" sz="1400"/>
          </a:p>
        </p:txBody>
      </p:sp>
      <p:sp>
        <p:nvSpPr>
          <p:cNvPr id="1621131186" name="Punto Salida"/>
          <p:cNvSpPr/>
          <p:nvPr/>
        </p:nvSpPr>
        <p:spPr bwMode="auto">
          <a:xfrm>
            <a:off x="6172200" y="4562856"/>
            <a:ext cx="182880" cy="182880"/>
          </a:xfrm>
          <a:prstGeom prst="ellipse">
            <a:avLst/>
          </a:prstGeom>
          <a:solidFill>
            <a:schemeClr val="accent5"/>
          </a:solidFill>
          <a:ln/>
        </p:spPr>
      </p:sp>
      <p:sp>
        <p:nvSpPr>
          <p:cNvPr id="1772733735" name="Texto Salida"/>
          <p:cNvSpPr txBox="1"/>
          <p:nvPr/>
        </p:nvSpPr>
        <p:spPr bwMode="auto">
          <a:xfrm>
            <a:off x="6492240" y="4498848"/>
            <a:ext cx="5148072" cy="658368"/>
          </a:xfrm>
          <a:prstGeom prst="rect">
            <a:avLst/>
          </a:prstGeom>
          <a:noFill/>
          <a:ln/>
        </p:spPr>
        <p:txBody>
          <a:bodyPr wrap="square" lIns="0" tIns="0" rIns="0" bIns="0" rtlCol="0" anchor="t"/>
          <a:lstStyle/>
          <a:p>
            <a:pPr marL="0" indent="0">
              <a:buNone/>
              <a:defRPr/>
            </a:pPr>
            <a:r>
              <a:rPr lang="en-US" sz="1500" b="1">
                <a:solidFill>
                  <a:schemeClr val="bg1"/>
                </a:solidFill>
              </a:rPr>
              <a:t>Salida  </a:t>
            </a:r>
            <a:r>
              <a:rPr lang="en-US" sz="1300">
                <a:solidFill>
                  <a:schemeClr val="bg2"/>
                </a:solidFill>
              </a:rPr>
              <a:t>Conv 1×1 de 16 a 1 canal: un logit por píxel.</a:t>
            </a:r>
            <a:endParaRPr lang="en-US" sz="1400"/>
          </a:p>
        </p:txBody>
      </p:sp>
      <p:sp>
        <p:nvSpPr>
          <p:cNvPr id="2036277141" name="Tarjeta parámetros"/>
          <p:cNvSpPr/>
          <p:nvPr/>
        </p:nvSpPr>
        <p:spPr bwMode="auto">
          <a:xfrm>
            <a:off x="6172200" y="5349240"/>
            <a:ext cx="1737360" cy="914400"/>
          </a:xfrm>
          <a:prstGeom prst="roundRect">
            <a:avLst>
              <a:gd name="adj" fmla="val 10000"/>
            </a:avLst>
          </a:prstGeom>
          <a:solidFill>
            <a:schemeClr val="tx2"/>
          </a:solidFill>
          <a:ln w="6350">
            <a:solidFill>
              <a:schemeClr val="accent6">
                <a:alpha val="45000"/>
              </a:schemeClr>
            </a:solidFill>
            <a:prstDash val="solid"/>
          </a:ln>
        </p:spPr>
      </p:sp>
      <p:sp>
        <p:nvSpPr>
          <p:cNvPr id="523534210" name="Cifra parámetros"/>
          <p:cNvSpPr txBox="1"/>
          <p:nvPr/>
        </p:nvSpPr>
        <p:spPr bwMode="auto">
          <a:xfrm>
            <a:off x="6263640" y="5440680"/>
            <a:ext cx="1554480" cy="411480"/>
          </a:xfrm>
          <a:prstGeom prst="rect">
            <a:avLst/>
          </a:prstGeom>
          <a:noFill/>
          <a:ln/>
        </p:spPr>
        <p:txBody>
          <a:bodyPr wrap="square" lIns="0" tIns="0" rIns="0" bIns="0" rtlCol="0" anchor="ctr"/>
          <a:lstStyle/>
          <a:p>
            <a:pPr marL="0" indent="0" algn="ctr">
              <a:buNone/>
              <a:defRPr/>
            </a:pPr>
            <a:r>
              <a:rPr lang="en-US" sz="2000" b="1">
                <a:solidFill>
                  <a:schemeClr val="accent1"/>
                </a:solidFill>
                <a:latin typeface="Cambria"/>
                <a:ea typeface="Cambria"/>
                <a:cs typeface="Cambria"/>
              </a:rPr>
              <a:t>1 944 049</a:t>
            </a:r>
            <a:endParaRPr lang="en-US" sz="2000"/>
          </a:p>
        </p:txBody>
      </p:sp>
      <p:sp>
        <p:nvSpPr>
          <p:cNvPr id="295684391" name="Rótulo parámetros"/>
          <p:cNvSpPr txBox="1"/>
          <p:nvPr/>
        </p:nvSpPr>
        <p:spPr bwMode="auto">
          <a:xfrm>
            <a:off x="6263640" y="5897880"/>
            <a:ext cx="1554480" cy="274320"/>
          </a:xfrm>
          <a:prstGeom prst="rect">
            <a:avLst/>
          </a:prstGeom>
          <a:noFill/>
          <a:ln/>
        </p:spPr>
        <p:txBody>
          <a:bodyPr wrap="square" lIns="0" tIns="0" rIns="0" bIns="0" rtlCol="0" anchor="t"/>
          <a:lstStyle/>
          <a:p>
            <a:pPr marL="0" indent="0" algn="ctr">
              <a:buNone/>
              <a:defRPr/>
            </a:pPr>
            <a:r>
              <a:rPr lang="en-US" sz="1200">
                <a:solidFill>
                  <a:schemeClr val="bg2"/>
                </a:solidFill>
              </a:rPr>
              <a:t>parámetros</a:t>
            </a:r>
            <a:endParaRPr lang="en-US" sz="1200"/>
          </a:p>
        </p:txBody>
      </p:sp>
      <p:sp>
        <p:nvSpPr>
          <p:cNvPr id="2117531715" name="Tarjeta resolución (px)"/>
          <p:cNvSpPr/>
          <p:nvPr/>
        </p:nvSpPr>
        <p:spPr bwMode="auto">
          <a:xfrm>
            <a:off x="8046720" y="5349240"/>
            <a:ext cx="1737360" cy="914400"/>
          </a:xfrm>
          <a:prstGeom prst="roundRect">
            <a:avLst>
              <a:gd name="adj" fmla="val 10000"/>
            </a:avLst>
          </a:prstGeom>
          <a:solidFill>
            <a:schemeClr val="tx2"/>
          </a:solidFill>
          <a:ln w="6350">
            <a:solidFill>
              <a:schemeClr val="accent6">
                <a:alpha val="45000"/>
              </a:schemeClr>
            </a:solidFill>
            <a:prstDash val="solid"/>
          </a:ln>
        </p:spPr>
      </p:sp>
      <p:sp>
        <p:nvSpPr>
          <p:cNvPr id="1786110028" name="Cifra resolución (px)"/>
          <p:cNvSpPr txBox="1"/>
          <p:nvPr/>
        </p:nvSpPr>
        <p:spPr bwMode="auto">
          <a:xfrm>
            <a:off x="8138160" y="5440680"/>
            <a:ext cx="1554480" cy="411480"/>
          </a:xfrm>
          <a:prstGeom prst="rect">
            <a:avLst/>
          </a:prstGeom>
          <a:noFill/>
          <a:ln/>
        </p:spPr>
        <p:txBody>
          <a:bodyPr wrap="square" lIns="0" tIns="0" rIns="0" bIns="0" rtlCol="0" anchor="ctr"/>
          <a:lstStyle/>
          <a:p>
            <a:pPr marL="0" indent="0" algn="ctr">
              <a:buNone/>
              <a:defRPr/>
            </a:pPr>
            <a:r>
              <a:rPr lang="en-US" sz="1600" b="1">
                <a:solidFill>
                  <a:schemeClr val="accent1"/>
                </a:solidFill>
                <a:latin typeface="Calibri"/>
                <a:ea typeface="Calibri"/>
                <a:cs typeface="Calibri"/>
              </a:rPr>
              <a:t>256 → 16 → 256</a:t>
            </a:r>
            <a:endParaRPr lang="en-US" sz="1600"/>
          </a:p>
        </p:txBody>
      </p:sp>
      <p:sp>
        <p:nvSpPr>
          <p:cNvPr id="1357119115" name="Rótulo resolución (px)"/>
          <p:cNvSpPr txBox="1"/>
          <p:nvPr/>
        </p:nvSpPr>
        <p:spPr bwMode="auto">
          <a:xfrm>
            <a:off x="8138160" y="5897880"/>
            <a:ext cx="1554480" cy="274320"/>
          </a:xfrm>
          <a:prstGeom prst="rect">
            <a:avLst/>
          </a:prstGeom>
          <a:noFill/>
          <a:ln/>
        </p:spPr>
        <p:txBody>
          <a:bodyPr wrap="square" lIns="0" tIns="0" rIns="0" bIns="0" rtlCol="0" anchor="t"/>
          <a:lstStyle/>
          <a:p>
            <a:pPr marL="0" indent="0" algn="ctr">
              <a:buNone/>
              <a:defRPr/>
            </a:pPr>
            <a:r>
              <a:rPr lang="en-US" sz="1200">
                <a:solidFill>
                  <a:schemeClr val="bg2"/>
                </a:solidFill>
              </a:rPr>
              <a:t>resolución (px)</a:t>
            </a:r>
            <a:endParaRPr lang="en-US" sz="1200"/>
          </a:p>
        </p:txBody>
      </p:sp>
      <p:sp>
        <p:nvSpPr>
          <p:cNvPr id="1312693072" name="Tarjeta salida (logits)"/>
          <p:cNvSpPr/>
          <p:nvPr/>
        </p:nvSpPr>
        <p:spPr bwMode="auto">
          <a:xfrm>
            <a:off x="9921240" y="5349240"/>
            <a:ext cx="1737360" cy="914400"/>
          </a:xfrm>
          <a:prstGeom prst="roundRect">
            <a:avLst>
              <a:gd name="adj" fmla="val 10000"/>
            </a:avLst>
          </a:prstGeom>
          <a:solidFill>
            <a:schemeClr val="tx2"/>
          </a:solidFill>
          <a:ln w="6350">
            <a:solidFill>
              <a:schemeClr val="accent6">
                <a:alpha val="45000"/>
              </a:schemeClr>
            </a:solidFill>
            <a:prstDash val="solid"/>
          </a:ln>
        </p:spPr>
      </p:sp>
      <p:sp>
        <p:nvSpPr>
          <p:cNvPr id="1218567205" name="Cifra salida (logits)"/>
          <p:cNvSpPr txBox="1"/>
          <p:nvPr/>
        </p:nvSpPr>
        <p:spPr bwMode="auto">
          <a:xfrm>
            <a:off x="10012680" y="5440680"/>
            <a:ext cx="1554480" cy="411480"/>
          </a:xfrm>
          <a:prstGeom prst="rect">
            <a:avLst/>
          </a:prstGeom>
          <a:noFill/>
          <a:ln/>
        </p:spPr>
        <p:txBody>
          <a:bodyPr wrap="square" lIns="0" tIns="0" rIns="0" bIns="0" rtlCol="0" anchor="ctr"/>
          <a:lstStyle/>
          <a:p>
            <a:pPr marL="0" indent="0" algn="ctr">
              <a:buNone/>
              <a:defRPr/>
            </a:pPr>
            <a:r>
              <a:rPr lang="en-US" sz="2000" b="1">
                <a:solidFill>
                  <a:schemeClr val="accent1"/>
                </a:solidFill>
                <a:latin typeface="Cambria"/>
                <a:ea typeface="Cambria"/>
                <a:cs typeface="Cambria"/>
              </a:rPr>
              <a:t>1×256×256</a:t>
            </a:r>
            <a:endParaRPr lang="en-US" sz="2000"/>
          </a:p>
        </p:txBody>
      </p:sp>
      <p:sp>
        <p:nvSpPr>
          <p:cNvPr id="242345169" name="Rótulo salida (logits)"/>
          <p:cNvSpPr txBox="1"/>
          <p:nvPr/>
        </p:nvSpPr>
        <p:spPr bwMode="auto">
          <a:xfrm>
            <a:off x="10012680" y="5897880"/>
            <a:ext cx="1554480" cy="274320"/>
          </a:xfrm>
          <a:prstGeom prst="rect">
            <a:avLst/>
          </a:prstGeom>
          <a:noFill/>
          <a:ln/>
        </p:spPr>
        <p:txBody>
          <a:bodyPr wrap="square" lIns="0" tIns="0" rIns="0" bIns="0" rtlCol="0" anchor="t"/>
          <a:lstStyle/>
          <a:p>
            <a:pPr marL="0" indent="0" algn="ctr">
              <a:buNone/>
              <a:defRPr/>
            </a:pPr>
            <a:r>
              <a:rPr lang="en-US" sz="1200">
                <a:solidFill>
                  <a:schemeClr val="bg2"/>
                </a:solidFill>
              </a:rPr>
              <a:t>salida (logits)</a:t>
            </a:r>
            <a:endParaRPr lang="en-US" sz="1200"/>
          </a:p>
        </p:txBody>
      </p:sp>
      <p:sp>
        <p:nvSpPr>
          <p:cNvPr id="1013302012"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spTree>
      <p:nvGrpSpPr>
        <p:cNvPr id="1" name=""/>
        <p:cNvGrpSpPr/>
        <p:nvPr/>
      </p:nvGrpSpPr>
      <p:grpSpPr bwMode="auto">
        <a:xfrm>
          <a:off x="0" y="0"/>
          <a:ext cx="0" cy="0"/>
          <a:chOff x="0" y="0"/>
          <a:chExt cx="0" cy="0"/>
        </a:xfrm>
      </p:grpSpPr>
      <p:sp>
        <p:nvSpPr>
          <p:cNvPr id="1949389644"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Cómo se implementó</a:t>
            </a:r>
            <a:endParaRPr lang="en-US" sz="3600"/>
          </a:p>
        </p:txBody>
      </p:sp>
      <p:sp>
        <p:nvSpPr>
          <p:cNvPr id="667475117"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4.4 · MATERIALES Y MÉTODOS · IMPLEMENTACIÓN EN CÓDIGO</a:t>
            </a:r>
            <a:endParaRPr lang="en-US" sz="1200"/>
          </a:p>
        </p:txBody>
      </p:sp>
      <p:sp>
        <p:nvSpPr>
          <p:cNvPr id="806112291" name="Tarjeta CNNBlock · CNNBlocks"/>
          <p:cNvSpPr/>
          <p:nvPr/>
        </p:nvSpPr>
        <p:spPr bwMode="auto">
          <a:xfrm>
            <a:off x="548640" y="1645920"/>
            <a:ext cx="3566160" cy="3611880"/>
          </a:xfrm>
          <a:prstGeom prst="roundRect">
            <a:avLst>
              <a:gd name="adj" fmla="val 2564"/>
            </a:avLst>
          </a:prstGeom>
          <a:solidFill>
            <a:schemeClr val="tx2"/>
          </a:solidFill>
          <a:ln w="6350">
            <a:solidFill>
              <a:schemeClr val="accent6">
                <a:alpha val="45000"/>
              </a:schemeClr>
            </a:solidFill>
            <a:prstDash val="solid"/>
          </a:ln>
        </p:spPr>
      </p:sp>
      <p:sp>
        <p:nvSpPr>
          <p:cNvPr id="92997055" name="Título CNNBlock · CNNBlocks"/>
          <p:cNvSpPr txBox="1"/>
          <p:nvPr/>
        </p:nvSpPr>
        <p:spPr bwMode="auto">
          <a:xfrm>
            <a:off x="777240" y="1828800"/>
            <a:ext cx="3108960" cy="365760"/>
          </a:xfrm>
          <a:prstGeom prst="rect">
            <a:avLst/>
          </a:prstGeom>
          <a:noFill/>
          <a:ln/>
        </p:spPr>
        <p:txBody>
          <a:bodyPr wrap="square" lIns="0" tIns="0" rIns="0" bIns="0" rtlCol="0" anchor="t"/>
          <a:lstStyle/>
          <a:p>
            <a:pPr marL="0" indent="0">
              <a:buNone/>
              <a:defRPr/>
            </a:pPr>
            <a:r>
              <a:rPr lang="en-US" sz="1700" b="1">
                <a:solidFill>
                  <a:schemeClr val="accent1"/>
                </a:solidFill>
              </a:rPr>
              <a:t>CNNBlock · CNNBlocks</a:t>
            </a:r>
            <a:endParaRPr lang="en-US" sz="1700"/>
          </a:p>
        </p:txBody>
      </p:sp>
      <p:sp>
        <p:nvSpPr>
          <p:cNvPr id="689838169" name="Fondo código CNNBlock · CNNBlocks"/>
          <p:cNvSpPr/>
          <p:nvPr/>
        </p:nvSpPr>
        <p:spPr bwMode="auto">
          <a:xfrm>
            <a:off x="777240" y="2331720"/>
            <a:ext cx="3108960" cy="1097280"/>
          </a:xfrm>
          <a:prstGeom prst="roundRect">
            <a:avLst>
              <a:gd name="adj" fmla="val 5000"/>
            </a:avLst>
          </a:prstGeom>
          <a:solidFill>
            <a:schemeClr val="tx1"/>
          </a:solidFill>
          <a:ln/>
        </p:spPr>
      </p:sp>
      <p:sp>
        <p:nvSpPr>
          <p:cNvPr id="714345972" name="Código CNNBlock · CNNBlocks"/>
          <p:cNvSpPr txBox="1"/>
          <p:nvPr/>
        </p:nvSpPr>
        <p:spPr bwMode="auto">
          <a:xfrm>
            <a:off x="914400" y="2331720"/>
            <a:ext cx="2834640" cy="1097280"/>
          </a:xfrm>
          <a:prstGeom prst="rect">
            <a:avLst/>
          </a:prstGeom>
          <a:noFill/>
          <a:ln/>
        </p:spPr>
        <p:txBody>
          <a:bodyPr wrap="square" lIns="0" tIns="0" rIns="0" bIns="0" rtlCol="0" anchor="ctr"/>
          <a:lstStyle/>
          <a:p>
            <a:pPr marL="0" indent="0">
              <a:buNone/>
              <a:defRPr/>
            </a:pPr>
            <a:r>
              <a:rPr lang="en-US" sz="1100">
                <a:solidFill>
                  <a:schemeClr val="bg1"/>
                </a:solidFill>
                <a:latin typeface="Courier New"/>
                <a:ea typeface="Courier New"/>
                <a:cs typeface="Courier New"/>
              </a:rPr>
              <a:t>nn.Conv2d(in, out, 3, padding=1)</a:t>
            </a:r>
            <a:endParaRPr lang="en-US" sz="1100"/>
          </a:p>
          <a:p>
            <a:pPr marL="0" indent="0">
              <a:buNone/>
              <a:defRPr/>
            </a:pPr>
            <a:r>
              <a:rPr lang="en-US" sz="1100">
                <a:solidFill>
                  <a:schemeClr val="bg1"/>
                </a:solidFill>
                <a:latin typeface="Courier New"/>
                <a:ea typeface="Courier New"/>
                <a:cs typeface="Courier New"/>
              </a:rPr>
              <a:t>nn.BatchNorm2d(out)</a:t>
            </a:r>
            <a:endParaRPr lang="en-US" sz="1100"/>
          </a:p>
          <a:p>
            <a:pPr marL="0" indent="0">
              <a:buNone/>
              <a:defRPr/>
            </a:pPr>
            <a:r>
              <a:rPr lang="en-US" sz="1100">
                <a:solidFill>
                  <a:schemeClr val="bg1"/>
                </a:solidFill>
                <a:latin typeface="Courier New"/>
                <a:ea typeface="Courier New"/>
                <a:cs typeface="Courier New"/>
              </a:rPr>
              <a:t>nn.ReLU(inplace=True)</a:t>
            </a:r>
            <a:endParaRPr lang="en-US" sz="1100"/>
          </a:p>
        </p:txBody>
      </p:sp>
      <p:sp>
        <p:nvSpPr>
          <p:cNvPr id="604049814" name="Texto CNNBlock · CNNBlocks"/>
          <p:cNvSpPr txBox="1"/>
          <p:nvPr/>
        </p:nvSpPr>
        <p:spPr bwMode="auto">
          <a:xfrm>
            <a:off x="777240" y="3611880"/>
            <a:ext cx="3108960" cy="1554480"/>
          </a:xfrm>
          <a:prstGeom prst="rect">
            <a:avLst/>
          </a:prstGeom>
          <a:noFill/>
          <a:ln/>
        </p:spPr>
        <p:txBody>
          <a:bodyPr wrap="square" lIns="0" tIns="0" rIns="0" bIns="0" rtlCol="0" anchor="t"/>
          <a:lstStyle/>
          <a:p>
            <a:pPr marL="0" indent="0">
              <a:buNone/>
              <a:defRPr/>
            </a:pPr>
            <a:r>
              <a:rPr lang="en-US" sz="1400">
                <a:solidFill>
                  <a:schemeClr val="bg2"/>
                </a:solidFill>
              </a:rPr>
              <a:t>Conv 3×3 con padding=1 conserva el tamaño; BatchNorm estabiliza las activaciones; ReLU añade no linealidad. CNNBlocks repite el bloque dos veces.</a:t>
            </a:r>
            <a:endParaRPr lang="en-US" sz="1400"/>
          </a:p>
        </p:txBody>
      </p:sp>
      <p:sp>
        <p:nvSpPr>
          <p:cNvPr id="716535128" name="Tarjeta EncoderBlock"/>
          <p:cNvSpPr/>
          <p:nvPr/>
        </p:nvSpPr>
        <p:spPr bwMode="auto">
          <a:xfrm>
            <a:off x="4311396" y="1645920"/>
            <a:ext cx="3566160" cy="3611880"/>
          </a:xfrm>
          <a:prstGeom prst="roundRect">
            <a:avLst>
              <a:gd name="adj" fmla="val 2564"/>
            </a:avLst>
          </a:prstGeom>
          <a:solidFill>
            <a:schemeClr val="tx2"/>
          </a:solidFill>
          <a:ln w="6350">
            <a:solidFill>
              <a:schemeClr val="accent6">
                <a:alpha val="45000"/>
              </a:schemeClr>
            </a:solidFill>
            <a:prstDash val="solid"/>
          </a:ln>
        </p:spPr>
      </p:sp>
      <p:sp>
        <p:nvSpPr>
          <p:cNvPr id="696229192" name="Título EncoderBlock"/>
          <p:cNvSpPr txBox="1"/>
          <p:nvPr/>
        </p:nvSpPr>
        <p:spPr bwMode="auto">
          <a:xfrm>
            <a:off x="4539996" y="1828800"/>
            <a:ext cx="3108960" cy="365760"/>
          </a:xfrm>
          <a:prstGeom prst="rect">
            <a:avLst/>
          </a:prstGeom>
          <a:noFill/>
          <a:ln/>
        </p:spPr>
        <p:txBody>
          <a:bodyPr wrap="square" lIns="0" tIns="0" rIns="0" bIns="0" rtlCol="0" anchor="t"/>
          <a:lstStyle/>
          <a:p>
            <a:pPr marL="0" indent="0">
              <a:buNone/>
              <a:defRPr/>
            </a:pPr>
            <a:r>
              <a:rPr lang="en-US" sz="1700" b="1">
                <a:solidFill>
                  <a:schemeClr val="accent5"/>
                </a:solidFill>
              </a:rPr>
              <a:t>EncoderBlock</a:t>
            </a:r>
            <a:endParaRPr lang="en-US" sz="1700"/>
          </a:p>
        </p:txBody>
      </p:sp>
      <p:sp>
        <p:nvSpPr>
          <p:cNvPr id="198295550" name="Fondo código EncoderBlock"/>
          <p:cNvSpPr/>
          <p:nvPr/>
        </p:nvSpPr>
        <p:spPr bwMode="auto">
          <a:xfrm>
            <a:off x="4539996" y="2331720"/>
            <a:ext cx="3108960" cy="1097280"/>
          </a:xfrm>
          <a:prstGeom prst="roundRect">
            <a:avLst>
              <a:gd name="adj" fmla="val 5000"/>
            </a:avLst>
          </a:prstGeom>
          <a:solidFill>
            <a:schemeClr val="tx1"/>
          </a:solidFill>
          <a:ln/>
        </p:spPr>
      </p:sp>
      <p:sp>
        <p:nvSpPr>
          <p:cNvPr id="1907739297" name="Código EncoderBlock"/>
          <p:cNvSpPr txBox="1"/>
          <p:nvPr/>
        </p:nvSpPr>
        <p:spPr bwMode="auto">
          <a:xfrm>
            <a:off x="4677156" y="2331720"/>
            <a:ext cx="2834640" cy="1097280"/>
          </a:xfrm>
          <a:prstGeom prst="rect">
            <a:avLst/>
          </a:prstGeom>
          <a:noFill/>
          <a:ln/>
        </p:spPr>
        <p:txBody>
          <a:bodyPr wrap="square" lIns="0" tIns="0" rIns="0" bIns="0" rtlCol="0" anchor="ctr"/>
          <a:lstStyle/>
          <a:p>
            <a:pPr marL="0" indent="0">
              <a:buNone/>
              <a:defRPr/>
            </a:pPr>
            <a:r>
              <a:rPr lang="en-US" sz="1100">
                <a:solidFill>
                  <a:schemeClr val="bg1"/>
                </a:solidFill>
                <a:latin typeface="Courier New"/>
                <a:ea typeface="Courier New"/>
                <a:cs typeface="Courier New"/>
              </a:rPr>
              <a:t>features = self.conv(x)</a:t>
            </a:r>
            <a:endParaRPr lang="en-US" sz="1100"/>
          </a:p>
          <a:p>
            <a:pPr marL="0" indent="0">
              <a:buNone/>
              <a:defRPr/>
            </a:pPr>
            <a:r>
              <a:rPr lang="en-US" sz="1100">
                <a:solidFill>
                  <a:schemeClr val="bg1"/>
                </a:solidFill>
                <a:latin typeface="Courier New"/>
                <a:ea typeface="Courier New"/>
                <a:cs typeface="Courier New"/>
              </a:rPr>
              <a:t>down = self.pool(features)</a:t>
            </a:r>
            <a:endParaRPr lang="en-US" sz="1100"/>
          </a:p>
          <a:p>
            <a:pPr marL="0" indent="0">
              <a:buNone/>
              <a:defRPr/>
            </a:pPr>
            <a:r>
              <a:rPr lang="en-US" sz="1100">
                <a:solidFill>
                  <a:schemeClr val="bg1"/>
                </a:solidFill>
                <a:latin typeface="Courier New"/>
                <a:ea typeface="Courier New"/>
                <a:cs typeface="Courier New"/>
              </a:rPr>
              <a:t>return features, down</a:t>
            </a:r>
            <a:endParaRPr lang="en-US" sz="1100"/>
          </a:p>
        </p:txBody>
      </p:sp>
      <p:sp>
        <p:nvSpPr>
          <p:cNvPr id="1698446124" name="Texto EncoderBlock"/>
          <p:cNvSpPr txBox="1"/>
          <p:nvPr/>
        </p:nvSpPr>
        <p:spPr bwMode="auto">
          <a:xfrm>
            <a:off x="4539996" y="3611880"/>
            <a:ext cx="3108960" cy="1554480"/>
          </a:xfrm>
          <a:prstGeom prst="rect">
            <a:avLst/>
          </a:prstGeom>
          <a:noFill/>
          <a:ln/>
        </p:spPr>
        <p:txBody>
          <a:bodyPr wrap="square" lIns="0" tIns="0" rIns="0" bIns="0" rtlCol="0" anchor="t"/>
          <a:lstStyle/>
          <a:p>
            <a:pPr marL="0" indent="0">
              <a:buNone/>
              <a:defRPr/>
            </a:pPr>
            <a:r>
              <a:rPr lang="en-US" sz="1400">
                <a:solidFill>
                  <a:schemeClr val="bg2"/>
                </a:solidFill>
              </a:rPr>
              <a:t>Devuelve dos tensores: features, antes del pooling, para la skip connection; y down, para el siguiente nivel.</a:t>
            </a:r>
            <a:endParaRPr lang="en-US" sz="1400"/>
          </a:p>
        </p:txBody>
      </p:sp>
      <p:sp>
        <p:nvSpPr>
          <p:cNvPr id="169421167" name="Tarjeta DecoderBlock"/>
          <p:cNvSpPr/>
          <p:nvPr/>
        </p:nvSpPr>
        <p:spPr bwMode="auto">
          <a:xfrm>
            <a:off x="8074152" y="1645920"/>
            <a:ext cx="3566160" cy="3611880"/>
          </a:xfrm>
          <a:prstGeom prst="roundRect">
            <a:avLst>
              <a:gd name="adj" fmla="val 2564"/>
            </a:avLst>
          </a:prstGeom>
          <a:solidFill>
            <a:schemeClr val="tx2"/>
          </a:solidFill>
          <a:ln w="6350">
            <a:solidFill>
              <a:schemeClr val="accent6">
                <a:alpha val="45000"/>
              </a:schemeClr>
            </a:solidFill>
            <a:prstDash val="solid"/>
          </a:ln>
        </p:spPr>
      </p:sp>
      <p:sp>
        <p:nvSpPr>
          <p:cNvPr id="327033585" name="Título DecoderBlock"/>
          <p:cNvSpPr txBox="1"/>
          <p:nvPr/>
        </p:nvSpPr>
        <p:spPr bwMode="auto">
          <a:xfrm>
            <a:off x="8302752" y="1828800"/>
            <a:ext cx="3108960" cy="365760"/>
          </a:xfrm>
          <a:prstGeom prst="rect">
            <a:avLst/>
          </a:prstGeom>
          <a:noFill/>
          <a:ln/>
        </p:spPr>
        <p:txBody>
          <a:bodyPr wrap="square" lIns="0" tIns="0" rIns="0" bIns="0" rtlCol="0" anchor="t"/>
          <a:lstStyle/>
          <a:p>
            <a:pPr marL="0" indent="0">
              <a:buNone/>
              <a:defRPr/>
            </a:pPr>
            <a:r>
              <a:rPr lang="en-US" sz="1700" b="1">
                <a:solidFill>
                  <a:schemeClr val="accent2"/>
                </a:solidFill>
              </a:rPr>
              <a:t>DecoderBlock</a:t>
            </a:r>
            <a:endParaRPr lang="en-US" sz="1700"/>
          </a:p>
        </p:txBody>
      </p:sp>
      <p:sp>
        <p:nvSpPr>
          <p:cNvPr id="884495044" name="Fondo código DecoderBlock"/>
          <p:cNvSpPr/>
          <p:nvPr/>
        </p:nvSpPr>
        <p:spPr bwMode="auto">
          <a:xfrm>
            <a:off x="8302752" y="2331720"/>
            <a:ext cx="3108960" cy="1097280"/>
          </a:xfrm>
          <a:prstGeom prst="roundRect">
            <a:avLst>
              <a:gd name="adj" fmla="val 5000"/>
            </a:avLst>
          </a:prstGeom>
          <a:solidFill>
            <a:schemeClr val="tx1"/>
          </a:solidFill>
          <a:ln/>
        </p:spPr>
      </p:sp>
      <p:sp>
        <p:nvSpPr>
          <p:cNvPr id="1421702895" name="Código DecoderBlock"/>
          <p:cNvSpPr txBox="1"/>
          <p:nvPr/>
        </p:nvSpPr>
        <p:spPr bwMode="auto">
          <a:xfrm>
            <a:off x="8439912" y="2331720"/>
            <a:ext cx="2834640" cy="1097280"/>
          </a:xfrm>
          <a:prstGeom prst="rect">
            <a:avLst/>
          </a:prstGeom>
          <a:noFill/>
          <a:ln/>
        </p:spPr>
        <p:txBody>
          <a:bodyPr wrap="square" lIns="0" tIns="0" rIns="0" bIns="0" rtlCol="0" anchor="ctr"/>
          <a:lstStyle/>
          <a:p>
            <a:pPr marL="0" indent="0">
              <a:buNone/>
              <a:defRPr/>
            </a:pPr>
            <a:r>
              <a:rPr lang="en-US" sz="1100">
                <a:solidFill>
                  <a:schemeClr val="bg1"/>
                </a:solidFill>
                <a:latin typeface="Courier New"/>
                <a:ea typeface="Courier New"/>
                <a:cs typeface="Courier New"/>
              </a:rPr>
              <a:t>x = self.upsample(x)</a:t>
            </a:r>
            <a:endParaRPr lang="en-US" sz="1100"/>
          </a:p>
          <a:p>
            <a:pPr marL="0" indent="0">
              <a:buNone/>
              <a:defRPr/>
            </a:pPr>
            <a:r>
              <a:rPr lang="en-US" sz="1100">
                <a:solidFill>
                  <a:schemeClr val="bg1"/>
                </a:solidFill>
                <a:latin typeface="Courier New"/>
                <a:ea typeface="Courier New"/>
                <a:cs typeface="Courier New"/>
              </a:rPr>
              <a:t>x = torch.cat((x, skip), dim=1)</a:t>
            </a:r>
            <a:endParaRPr lang="en-US" sz="1100"/>
          </a:p>
          <a:p>
            <a:pPr marL="0" indent="0">
              <a:buNone/>
              <a:defRPr/>
            </a:pPr>
            <a:r>
              <a:rPr lang="en-US" sz="1100">
                <a:solidFill>
                  <a:schemeClr val="bg1"/>
                </a:solidFill>
                <a:latin typeface="Courier New"/>
                <a:ea typeface="Courier New"/>
                <a:cs typeface="Courier New"/>
              </a:rPr>
              <a:t>x = self.conv(x)</a:t>
            </a:r>
            <a:endParaRPr lang="en-US" sz="1100"/>
          </a:p>
        </p:txBody>
      </p:sp>
      <p:sp>
        <p:nvSpPr>
          <p:cNvPr id="393092519" name="Texto DecoderBlock"/>
          <p:cNvSpPr txBox="1"/>
          <p:nvPr/>
        </p:nvSpPr>
        <p:spPr bwMode="auto">
          <a:xfrm>
            <a:off x="8302752" y="3611880"/>
            <a:ext cx="3108960" cy="1554480"/>
          </a:xfrm>
          <a:prstGeom prst="rect">
            <a:avLst/>
          </a:prstGeom>
          <a:noFill/>
          <a:ln/>
        </p:spPr>
        <p:txBody>
          <a:bodyPr wrap="square" lIns="0" tIns="0" rIns="0" bIns="0" rtlCol="0" anchor="t"/>
          <a:lstStyle/>
          <a:p>
            <a:pPr marL="0" indent="0">
              <a:buNone/>
              <a:defRPr/>
            </a:pPr>
            <a:r>
              <a:rPr lang="en-US" sz="1400">
                <a:solidFill>
                  <a:schemeClr val="bg2"/>
                </a:solidFill>
              </a:rPr>
              <a:t>ConvTranspose2d aprende a subir la resolución. Al concatenar por canales, CNNBlocks recibe out_channels × 2.</a:t>
            </a:r>
            <a:endParaRPr lang="en-US" sz="1400"/>
          </a:p>
        </p:txBody>
      </p:sp>
      <p:sp>
        <p:nvSpPr>
          <p:cNvPr id="1424023929" name="Tarjeta comprobación"/>
          <p:cNvSpPr/>
          <p:nvPr/>
        </p:nvSpPr>
        <p:spPr bwMode="auto">
          <a:xfrm>
            <a:off x="548640" y="5440680"/>
            <a:ext cx="11091672" cy="822960"/>
          </a:xfrm>
          <a:prstGeom prst="roundRect">
            <a:avLst>
              <a:gd name="adj" fmla="val 11111"/>
            </a:avLst>
          </a:prstGeom>
          <a:solidFill>
            <a:schemeClr val="tx2"/>
          </a:solidFill>
          <a:ln w="6350">
            <a:solidFill>
              <a:schemeClr val="accent6">
                <a:alpha val="45000"/>
              </a:schemeClr>
            </a:solidFill>
            <a:prstDash val="solid"/>
          </a:ln>
        </p:spPr>
      </p:sp>
      <p:sp>
        <p:nvSpPr>
          <p:cNvPr id="1597079425" name="Texto comprobación"/>
          <p:cNvSpPr txBox="1"/>
          <p:nvPr/>
        </p:nvSpPr>
        <p:spPr bwMode="auto">
          <a:xfrm>
            <a:off x="777240" y="5440680"/>
            <a:ext cx="10652760" cy="822960"/>
          </a:xfrm>
          <a:prstGeom prst="rect">
            <a:avLst/>
          </a:prstGeom>
          <a:noFill/>
          <a:ln/>
        </p:spPr>
        <p:txBody>
          <a:bodyPr wrap="square" lIns="0" tIns="0" rIns="0" bIns="0" rtlCol="0" anchor="ctr"/>
          <a:lstStyle/>
          <a:p>
            <a:pPr marL="0" indent="0">
              <a:buNone/>
              <a:defRPr/>
            </a:pPr>
            <a:r>
              <a:rPr lang="en-US" sz="1400" b="1">
                <a:solidFill>
                  <a:schemeClr val="accent1"/>
                </a:solidFill>
              </a:rPr>
              <a:t>Comprobación rápida: </a:t>
            </a:r>
            <a:r>
              <a:rPr lang="en-US" sz="1400">
                <a:solidFill>
                  <a:schemeClr val="bg1"/>
                </a:solidFill>
              </a:rPr>
              <a:t>base_channels=16 fija el ancho de toda la red; un lote de 4×3×256×256 produce una salida de 4×1×256×256.</a:t>
            </a:r>
            <a:endParaRPr lang="en-US" sz="1400"/>
          </a:p>
        </p:txBody>
      </p:sp>
      <p:sp>
        <p:nvSpPr>
          <p:cNvPr id="26408260"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2131957768"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Configuración de entrenamiento</a:t>
            </a:r>
            <a:endParaRPr lang="en-US" sz="3600"/>
          </a:p>
        </p:txBody>
      </p:sp>
      <p:sp>
        <p:nvSpPr>
          <p:cNvPr id="808549732"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4.5 · MATERIALES Y MÉTODOS · ENTRENAMIENTO</a:t>
            </a:r>
            <a:endParaRPr lang="en-US" sz="1200"/>
          </a:p>
        </p:txBody>
      </p:sp>
      <p:graphicFrame>
        <p:nvGraphicFramePr>
          <p:cNvPr id="1049582792" name="Table 0"/>
          <p:cNvGraphicFramePr>
            <a:graphicFrameLocks xmlns:a="http://schemas.openxmlformats.org/drawingml/2006/main" noGrp="1"/>
          </p:cNvGraphicFramePr>
          <p:nvPr/>
        </p:nvGraphicFramePr>
        <p:xfrm rot="0">
          <a:off x="548640" y="1645920"/>
          <a:ext cx="7589520" cy="914400"/>
        </p:xfrm>
        <a:graphic>
          <a:graphicData uri="http://schemas.openxmlformats.org/drawingml/2006/table">
            <a:tbl>
              <a:tblPr firstRow="0" firstCol="0" lastRow="0" lastCol="0" bandRow="0" bandCol="0"/>
              <a:tblGrid>
                <a:gridCol w="1554480"/>
                <a:gridCol w="2377440"/>
                <a:gridCol w="3657600"/>
              </a:tblGrid>
              <a:tr h="493776">
                <a:tc>
                  <a:txBody>
                    <a:bodyPr/>
                    <a:p>
                      <a:pPr marL="0" indent="0">
                        <a:buNone/>
                        <a:defRPr/>
                      </a:pPr>
                      <a:r>
                        <a:rPr lang="en-US" sz="1200" b="1">
                          <a:solidFill>
                            <a:srgbClr val="2BB38A"/>
                          </a:solidFill>
                        </a:rPr>
                        <a:t>Parámetro</a:t>
                      </a:r>
                      <a:endParaRPr lang="en-US" sz="1200"/>
                    </a:p>
                  </a:txBody>
                  <a:tcPr marL="91440" marR="91440" marT="36576" marB="36576" anchor="ctr">
                    <a:lnL w="0" algn="ctr">
                      <a:noFill/>
                    </a:lnL>
                    <a:lnR w="0" algn="ctr">
                      <a:noFill/>
                    </a:lnR>
                    <a:lnT w="0" algn="ctr">
                      <a:noFill/>
                    </a:lnT>
                    <a:lnB w="12700" algn="ctr">
                      <a:solidFill>
                        <a:srgbClr val="6B7785"/>
                      </a:solidFill>
                    </a:lnB>
                    <a:solidFill>
                      <a:srgbClr val="1A222B"/>
                    </a:solidFill>
                  </a:tcPr>
                </a:tc>
                <a:tc>
                  <a:txBody>
                    <a:bodyPr/>
                    <a:p>
                      <a:pPr marL="0" indent="0">
                        <a:buNone/>
                        <a:defRPr/>
                      </a:pPr>
                      <a:r>
                        <a:rPr lang="en-US" sz="1200" b="1">
                          <a:solidFill>
                            <a:srgbClr val="2BB38A"/>
                          </a:solidFill>
                        </a:rPr>
                        <a:t>Valor</a:t>
                      </a:r>
                      <a:endParaRPr lang="en-US" sz="1200"/>
                    </a:p>
                  </a:txBody>
                  <a:tcPr marL="91440" marR="91440" marT="36576" marB="36576" anchor="ctr">
                    <a:lnL w="0" algn="ctr">
                      <a:noFill/>
                    </a:lnL>
                    <a:lnR w="0" algn="ctr">
                      <a:noFill/>
                    </a:lnR>
                    <a:lnT w="0" algn="ctr">
                      <a:noFill/>
                    </a:lnT>
                    <a:lnB w="12700" algn="ctr">
                      <a:solidFill>
                        <a:srgbClr val="6B7785"/>
                      </a:solidFill>
                    </a:lnB>
                    <a:solidFill>
                      <a:srgbClr val="1A222B"/>
                    </a:solidFill>
                  </a:tcPr>
                </a:tc>
                <a:tc>
                  <a:txBody>
                    <a:bodyPr/>
                    <a:p>
                      <a:pPr marL="0" indent="0">
                        <a:buNone/>
                        <a:defRPr/>
                      </a:pPr>
                      <a:r>
                        <a:rPr lang="en-US" sz="1200" b="1">
                          <a:solidFill>
                            <a:srgbClr val="2BB38A"/>
                          </a:solidFill>
                        </a:rPr>
                        <a:t>Por qué</a:t>
                      </a:r>
                      <a:endParaRPr lang="en-US" sz="1200"/>
                    </a:p>
                  </a:txBody>
                  <a:tcPr marL="91440" marR="91440" marT="36576" marB="36576" anchor="ctr">
                    <a:lnL w="0" algn="ctr">
                      <a:noFill/>
                    </a:lnL>
                    <a:lnR w="0" algn="ctr">
                      <a:noFill/>
                    </a:lnR>
                    <a:lnT w="0" algn="ctr">
                      <a:noFill/>
                    </a:lnT>
                    <a:lnB w="12700" algn="ctr">
                      <a:solidFill>
                        <a:srgbClr val="6B7785"/>
                      </a:solidFill>
                    </a:lnB>
                    <a:solidFill>
                      <a:srgbClr val="1A222B"/>
                    </a:solidFill>
                  </a:tcPr>
                </a:tc>
              </a:tr>
              <a:tr h="493776">
                <a:tc>
                  <a:txBody>
                    <a:bodyPr/>
                    <a:p>
                      <a:pPr marL="0" indent="0">
                        <a:buNone/>
                        <a:defRPr/>
                      </a:pPr>
                      <a:r>
                        <a:rPr lang="en-US" sz="1200">
                          <a:solidFill>
                            <a:srgbClr val="9AA5B1"/>
                          </a:solidFill>
                        </a:rPr>
                        <a:t>Framework</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PyTorch</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U-Net propia, implementada desde cero</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Entrada</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256 × 256</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Reduce el costo de cómputo; limita el detalle fino</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Lote</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4</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Lotes pequeños, viables en CPU</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Épocas</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10</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Primera ejecución de entrenamiento</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Optimizador</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Adam, lr = 0.001 [3]</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Pasos adaptativos con estimaciones de momentos del gradiente</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Pérdida</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BCEWithLogitsLoss [5]</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Sigmoide + entropía cruzada binaria estable; la red entrega logits</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Dispositivo</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CPU</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Entrenamiento ejecutado sin GPU</a:t>
                      </a:r>
                      <a:endParaRPr lang="en-US" sz="1200"/>
                    </a:p>
                  </a:txBody>
                  <a:tcPr marL="91440" marR="91440" marT="36576" marB="36576" anchor="ctr">
                    <a:lnL w="0" algn="ctr">
                      <a:noFill/>
                    </a:lnL>
                    <a:lnR w="0" algn="ctr">
                      <a:noFill/>
                    </a:lnR>
                    <a:lnT w="0" algn="ctr">
                      <a:noFill/>
                    </a:lnT>
                    <a:lnB w="6350" algn="ctr">
                      <a:solidFill>
                        <a:srgbClr val="2A333D"/>
                      </a:solidFill>
                    </a:lnB>
                  </a:tcPr>
                </a:tc>
              </a:tr>
              <a:tr h="493776">
                <a:tc>
                  <a:txBody>
                    <a:bodyPr/>
                    <a:p>
                      <a:pPr marL="0" indent="0">
                        <a:buNone/>
                        <a:defRPr/>
                      </a:pPr>
                      <a:r>
                        <a:rPr lang="en-US" sz="1200">
                          <a:solidFill>
                            <a:srgbClr val="9AA5B1"/>
                          </a:solidFill>
                        </a:rPr>
                        <a:t>Selección</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b="1">
                          <a:solidFill>
                            <a:srgbClr val="F3F5F7"/>
                          </a:solidFill>
                        </a:rPr>
                        <a:t>Menor pérdida de validación</a:t>
                      </a:r>
                      <a:endParaRPr lang="en-US" sz="1200"/>
                    </a:p>
                  </a:txBody>
                  <a:tcPr marL="91440" marR="91440" marT="36576" marB="36576" anchor="ctr">
                    <a:lnL w="0" algn="ctr">
                      <a:noFill/>
                    </a:lnL>
                    <a:lnR w="0" algn="ctr">
                      <a:noFill/>
                    </a:lnR>
                    <a:lnT w="0" algn="ctr">
                      <a:noFill/>
                    </a:lnT>
                    <a:lnB w="6350" algn="ctr">
                      <a:solidFill>
                        <a:srgbClr val="2A333D"/>
                      </a:solidFill>
                    </a:lnB>
                  </a:tcPr>
                </a:tc>
                <a:tc>
                  <a:txBody>
                    <a:bodyPr/>
                    <a:p>
                      <a:pPr marL="0" indent="0">
                        <a:buNone/>
                        <a:defRPr/>
                      </a:pPr>
                      <a:r>
                        <a:rPr lang="en-US" sz="1200">
                          <a:solidFill>
                            <a:srgbClr val="9AA5B1"/>
                          </a:solidFill>
                        </a:rPr>
                        <a:t>Guarda best_unet.pth cuando la validación mejora</a:t>
                      </a:r>
                      <a:endParaRPr lang="en-US" sz="1200"/>
                    </a:p>
                  </a:txBody>
                  <a:tcPr marL="91440" marR="91440" marT="36576" marB="36576" anchor="ctr">
                    <a:lnL w="0" algn="ctr">
                      <a:noFill/>
                    </a:lnL>
                    <a:lnR w="0" algn="ctr">
                      <a:noFill/>
                    </a:lnR>
                    <a:lnT w="0" algn="ctr">
                      <a:noFill/>
                    </a:lnT>
                    <a:lnB w="6350" algn="ctr">
                      <a:solidFill>
                        <a:srgbClr val="2A333D"/>
                      </a:solidFill>
                    </a:lnB>
                  </a:tcPr>
                </a:tc>
              </a:tr>
            </a:tbl>
          </a:graphicData>
        </a:graphic>
      </p:graphicFrame>
      <p:sp>
        <p:nvSpPr>
          <p:cNvPr id="558897227" name="Tarjeta ciclo de entrenamiento"/>
          <p:cNvSpPr/>
          <p:nvPr/>
        </p:nvSpPr>
        <p:spPr bwMode="auto">
          <a:xfrm>
            <a:off x="8412480" y="1645920"/>
            <a:ext cx="3227832" cy="4617720"/>
          </a:xfrm>
          <a:prstGeom prst="roundRect">
            <a:avLst>
              <a:gd name="adj" fmla="val 2833"/>
            </a:avLst>
          </a:prstGeom>
          <a:solidFill>
            <a:schemeClr val="tx2"/>
          </a:solidFill>
          <a:ln w="6350">
            <a:solidFill>
              <a:schemeClr val="accent6">
                <a:alpha val="45000"/>
              </a:schemeClr>
            </a:solidFill>
            <a:prstDash val="solid"/>
          </a:ln>
        </p:spPr>
      </p:sp>
      <p:sp>
        <p:nvSpPr>
          <p:cNvPr id="219301003" name="Rótulo ciclo"/>
          <p:cNvSpPr txBox="1"/>
          <p:nvPr/>
        </p:nvSpPr>
        <p:spPr bwMode="auto">
          <a:xfrm>
            <a:off x="8641080" y="1828800"/>
            <a:ext cx="2743200" cy="274320"/>
          </a:xfrm>
          <a:prstGeom prst="rect">
            <a:avLst/>
          </a:prstGeom>
          <a:noFill/>
          <a:ln/>
        </p:spPr>
        <p:txBody>
          <a:bodyPr wrap="square" lIns="0" tIns="0" rIns="0" bIns="0" rtlCol="0" anchor="t"/>
          <a:lstStyle/>
          <a:p>
            <a:pPr marL="0" indent="0">
              <a:buNone/>
              <a:defRPr/>
            </a:pPr>
            <a:r>
              <a:rPr lang="en-US" sz="1200" b="1" spc="100">
                <a:solidFill>
                  <a:schemeClr val="accent1"/>
                </a:solidFill>
              </a:rPr>
              <a:t>CICLO POR LOTE</a:t>
            </a:r>
            <a:endParaRPr lang="en-US" sz="1200"/>
          </a:p>
        </p:txBody>
      </p:sp>
      <p:sp>
        <p:nvSpPr>
          <p:cNvPr id="1384539841" name="Círculo ciclo 1"/>
          <p:cNvSpPr/>
          <p:nvPr/>
        </p:nvSpPr>
        <p:spPr bwMode="auto">
          <a:xfrm>
            <a:off x="8641080" y="2240280"/>
            <a:ext cx="384048" cy="384048"/>
          </a:xfrm>
          <a:prstGeom prst="ellipse">
            <a:avLst/>
          </a:prstGeom>
          <a:solidFill>
            <a:schemeClr val="accent1">
              <a:alpha val="20000"/>
            </a:schemeClr>
          </a:solidFill>
          <a:ln/>
        </p:spPr>
      </p:sp>
      <p:sp>
        <p:nvSpPr>
          <p:cNvPr id="1689588349" name="Número ciclo 1"/>
          <p:cNvSpPr txBox="1"/>
          <p:nvPr/>
        </p:nvSpPr>
        <p:spPr bwMode="auto">
          <a:xfrm>
            <a:off x="8641080" y="2240280"/>
            <a:ext cx="384048" cy="384048"/>
          </a:xfrm>
          <a:prstGeom prst="rect">
            <a:avLst/>
          </a:prstGeom>
          <a:noFill/>
          <a:ln/>
        </p:spPr>
        <p:txBody>
          <a:bodyPr wrap="square" lIns="0" tIns="0" rIns="0" bIns="0" rtlCol="0" anchor="ctr"/>
          <a:lstStyle/>
          <a:p>
            <a:pPr marL="0" indent="0" algn="ctr">
              <a:buNone/>
              <a:defRPr/>
            </a:pPr>
            <a:r>
              <a:rPr lang="en-US" sz="1400" b="1">
                <a:solidFill>
                  <a:schemeClr val="accent1"/>
                </a:solidFill>
              </a:rPr>
              <a:t>1</a:t>
            </a:r>
            <a:endParaRPr lang="en-US" sz="1400"/>
          </a:p>
        </p:txBody>
      </p:sp>
      <p:sp>
        <p:nvSpPr>
          <p:cNvPr id="1713509491" name="Paso ciclo 1"/>
          <p:cNvSpPr txBox="1"/>
          <p:nvPr/>
        </p:nvSpPr>
        <p:spPr bwMode="auto">
          <a:xfrm>
            <a:off x="9189720" y="2240280"/>
            <a:ext cx="2286000" cy="384048"/>
          </a:xfrm>
          <a:prstGeom prst="rect">
            <a:avLst/>
          </a:prstGeom>
          <a:noFill/>
          <a:ln/>
        </p:spPr>
        <p:txBody>
          <a:bodyPr wrap="square" lIns="0" tIns="0" rIns="0" bIns="0" rtlCol="0" anchor="ctr"/>
          <a:lstStyle/>
          <a:p>
            <a:pPr marL="0" indent="0">
              <a:buNone/>
              <a:defRPr/>
            </a:pPr>
            <a:r>
              <a:rPr lang="en-US" sz="1400">
                <a:solidFill>
                  <a:schemeClr val="bg1"/>
                </a:solidFill>
              </a:rPr>
              <a:t>Calcular predicciones</a:t>
            </a:r>
            <a:endParaRPr lang="en-US" sz="1400"/>
          </a:p>
        </p:txBody>
      </p:sp>
      <p:sp>
        <p:nvSpPr>
          <p:cNvPr id="1628381798" name="Círculo ciclo 2"/>
          <p:cNvSpPr/>
          <p:nvPr/>
        </p:nvSpPr>
        <p:spPr bwMode="auto">
          <a:xfrm>
            <a:off x="8641080" y="2807208"/>
            <a:ext cx="384048" cy="384048"/>
          </a:xfrm>
          <a:prstGeom prst="ellipse">
            <a:avLst/>
          </a:prstGeom>
          <a:solidFill>
            <a:schemeClr val="accent1">
              <a:alpha val="20000"/>
            </a:schemeClr>
          </a:solidFill>
          <a:ln/>
        </p:spPr>
      </p:sp>
      <p:sp>
        <p:nvSpPr>
          <p:cNvPr id="1722977803" name="Número ciclo 2"/>
          <p:cNvSpPr txBox="1"/>
          <p:nvPr/>
        </p:nvSpPr>
        <p:spPr bwMode="auto">
          <a:xfrm>
            <a:off x="8641080" y="2807208"/>
            <a:ext cx="384048" cy="384048"/>
          </a:xfrm>
          <a:prstGeom prst="rect">
            <a:avLst/>
          </a:prstGeom>
          <a:noFill/>
          <a:ln/>
        </p:spPr>
        <p:txBody>
          <a:bodyPr wrap="square" lIns="0" tIns="0" rIns="0" bIns="0" rtlCol="0" anchor="ctr"/>
          <a:lstStyle/>
          <a:p>
            <a:pPr marL="0" indent="0" algn="ctr">
              <a:buNone/>
              <a:defRPr/>
            </a:pPr>
            <a:r>
              <a:rPr lang="en-US" sz="1400" b="1">
                <a:solidFill>
                  <a:schemeClr val="accent1"/>
                </a:solidFill>
              </a:rPr>
              <a:t>2</a:t>
            </a:r>
            <a:endParaRPr lang="en-US" sz="1400"/>
          </a:p>
        </p:txBody>
      </p:sp>
      <p:sp>
        <p:nvSpPr>
          <p:cNvPr id="1872548867" name="Paso ciclo 2"/>
          <p:cNvSpPr txBox="1"/>
          <p:nvPr/>
        </p:nvSpPr>
        <p:spPr bwMode="auto">
          <a:xfrm>
            <a:off x="9189720" y="2807208"/>
            <a:ext cx="2286000" cy="384048"/>
          </a:xfrm>
          <a:prstGeom prst="rect">
            <a:avLst/>
          </a:prstGeom>
          <a:noFill/>
          <a:ln/>
        </p:spPr>
        <p:txBody>
          <a:bodyPr wrap="square" lIns="0" tIns="0" rIns="0" bIns="0" rtlCol="0" anchor="ctr"/>
          <a:lstStyle/>
          <a:p>
            <a:pPr marL="0" indent="0">
              <a:buNone/>
              <a:defRPr/>
            </a:pPr>
            <a:r>
              <a:rPr lang="en-US" sz="1400">
                <a:solidFill>
                  <a:schemeClr val="bg1"/>
                </a:solidFill>
              </a:rPr>
              <a:t>Evaluar la pérdida</a:t>
            </a:r>
            <a:endParaRPr lang="en-US" sz="1400"/>
          </a:p>
        </p:txBody>
      </p:sp>
      <p:sp>
        <p:nvSpPr>
          <p:cNvPr id="1882911577" name="Círculo ciclo 3"/>
          <p:cNvSpPr/>
          <p:nvPr/>
        </p:nvSpPr>
        <p:spPr bwMode="auto">
          <a:xfrm>
            <a:off x="8641080" y="3374136"/>
            <a:ext cx="384048" cy="384048"/>
          </a:xfrm>
          <a:prstGeom prst="ellipse">
            <a:avLst/>
          </a:prstGeom>
          <a:solidFill>
            <a:schemeClr val="accent1">
              <a:alpha val="20000"/>
            </a:schemeClr>
          </a:solidFill>
          <a:ln/>
        </p:spPr>
      </p:sp>
      <p:sp>
        <p:nvSpPr>
          <p:cNvPr id="699476192" name="Número ciclo 3"/>
          <p:cNvSpPr txBox="1"/>
          <p:nvPr/>
        </p:nvSpPr>
        <p:spPr bwMode="auto">
          <a:xfrm>
            <a:off x="8641080" y="3374136"/>
            <a:ext cx="384048" cy="384048"/>
          </a:xfrm>
          <a:prstGeom prst="rect">
            <a:avLst/>
          </a:prstGeom>
          <a:noFill/>
          <a:ln/>
        </p:spPr>
        <p:txBody>
          <a:bodyPr wrap="square" lIns="0" tIns="0" rIns="0" bIns="0" rtlCol="0" anchor="ctr"/>
          <a:lstStyle/>
          <a:p>
            <a:pPr marL="0" indent="0" algn="ctr">
              <a:buNone/>
              <a:defRPr/>
            </a:pPr>
            <a:r>
              <a:rPr lang="en-US" sz="1400" b="1">
                <a:solidFill>
                  <a:schemeClr val="accent1"/>
                </a:solidFill>
              </a:rPr>
              <a:t>3</a:t>
            </a:r>
            <a:endParaRPr lang="en-US" sz="1400"/>
          </a:p>
        </p:txBody>
      </p:sp>
      <p:sp>
        <p:nvSpPr>
          <p:cNvPr id="75640929" name="Paso ciclo 3"/>
          <p:cNvSpPr txBox="1"/>
          <p:nvPr/>
        </p:nvSpPr>
        <p:spPr bwMode="auto">
          <a:xfrm>
            <a:off x="9189720" y="3374136"/>
            <a:ext cx="2286000" cy="384048"/>
          </a:xfrm>
          <a:prstGeom prst="rect">
            <a:avLst/>
          </a:prstGeom>
          <a:noFill/>
          <a:ln/>
        </p:spPr>
        <p:txBody>
          <a:bodyPr wrap="square" lIns="0" tIns="0" rIns="0" bIns="0" rtlCol="0" anchor="ctr"/>
          <a:lstStyle/>
          <a:p>
            <a:pPr marL="0" indent="0">
              <a:buNone/>
              <a:defRPr/>
            </a:pPr>
            <a:r>
              <a:rPr lang="en-US" sz="1400">
                <a:solidFill>
                  <a:schemeClr val="bg1"/>
                </a:solidFill>
              </a:rPr>
              <a:t>Retropropagar gradientes</a:t>
            </a:r>
            <a:endParaRPr lang="en-US" sz="1400"/>
          </a:p>
        </p:txBody>
      </p:sp>
      <p:sp>
        <p:nvSpPr>
          <p:cNvPr id="880783634" name="Círculo ciclo 4"/>
          <p:cNvSpPr/>
          <p:nvPr/>
        </p:nvSpPr>
        <p:spPr bwMode="auto">
          <a:xfrm>
            <a:off x="8641080" y="3941064"/>
            <a:ext cx="384048" cy="384048"/>
          </a:xfrm>
          <a:prstGeom prst="ellipse">
            <a:avLst/>
          </a:prstGeom>
          <a:solidFill>
            <a:schemeClr val="accent1">
              <a:alpha val="20000"/>
            </a:schemeClr>
          </a:solidFill>
          <a:ln/>
        </p:spPr>
      </p:sp>
      <p:sp>
        <p:nvSpPr>
          <p:cNvPr id="33964514" name="Número ciclo 4"/>
          <p:cNvSpPr txBox="1"/>
          <p:nvPr/>
        </p:nvSpPr>
        <p:spPr bwMode="auto">
          <a:xfrm>
            <a:off x="8641080" y="3941064"/>
            <a:ext cx="384048" cy="384048"/>
          </a:xfrm>
          <a:prstGeom prst="rect">
            <a:avLst/>
          </a:prstGeom>
          <a:noFill/>
          <a:ln/>
        </p:spPr>
        <p:txBody>
          <a:bodyPr wrap="square" lIns="0" tIns="0" rIns="0" bIns="0" rtlCol="0" anchor="ctr"/>
          <a:lstStyle/>
          <a:p>
            <a:pPr marL="0" indent="0" algn="ctr">
              <a:buNone/>
              <a:defRPr/>
            </a:pPr>
            <a:r>
              <a:rPr lang="en-US" sz="1400" b="1">
                <a:solidFill>
                  <a:schemeClr val="accent1"/>
                </a:solidFill>
              </a:rPr>
              <a:t>4</a:t>
            </a:r>
            <a:endParaRPr lang="en-US" sz="1400"/>
          </a:p>
        </p:txBody>
      </p:sp>
      <p:sp>
        <p:nvSpPr>
          <p:cNvPr id="1059318177" name="Paso ciclo 4"/>
          <p:cNvSpPr txBox="1"/>
          <p:nvPr/>
        </p:nvSpPr>
        <p:spPr bwMode="auto">
          <a:xfrm>
            <a:off x="9189720" y="3941064"/>
            <a:ext cx="2286000" cy="384048"/>
          </a:xfrm>
          <a:prstGeom prst="rect">
            <a:avLst/>
          </a:prstGeom>
          <a:noFill/>
          <a:ln/>
        </p:spPr>
        <p:txBody>
          <a:bodyPr wrap="square" lIns="0" tIns="0" rIns="0" bIns="0" rtlCol="0" anchor="ctr"/>
          <a:lstStyle/>
          <a:p>
            <a:pPr marL="0" indent="0">
              <a:buNone/>
              <a:defRPr/>
            </a:pPr>
            <a:r>
              <a:rPr lang="en-US" sz="1400">
                <a:solidFill>
                  <a:schemeClr val="bg1"/>
                </a:solidFill>
              </a:rPr>
              <a:t>Actualizar parámetros</a:t>
            </a:r>
            <a:endParaRPr lang="en-US" sz="1400"/>
          </a:p>
        </p:txBody>
      </p:sp>
      <p:sp>
        <p:nvSpPr>
          <p:cNvPr id="45529726" name="Texto fin de época"/>
          <p:cNvSpPr txBox="1"/>
          <p:nvPr/>
        </p:nvSpPr>
        <p:spPr bwMode="auto">
          <a:xfrm>
            <a:off x="8641080" y="4617720"/>
            <a:ext cx="2788920" cy="1508759"/>
          </a:xfrm>
          <a:prstGeom prst="rect">
            <a:avLst/>
          </a:prstGeom>
          <a:noFill/>
          <a:ln/>
        </p:spPr>
        <p:txBody>
          <a:bodyPr wrap="square" lIns="0" tIns="0" rIns="0" bIns="0" rtlCol="0" anchor="t"/>
          <a:lstStyle/>
          <a:p>
            <a:pPr marL="0" indent="0">
              <a:spcAft>
                <a:spcPts val="400"/>
              </a:spcAft>
              <a:buNone/>
              <a:defRPr/>
            </a:pPr>
            <a:r>
              <a:rPr lang="en-US" sz="1200" b="1" spc="100">
                <a:solidFill>
                  <a:schemeClr val="accent4"/>
                </a:solidFill>
              </a:rPr>
              <a:t>AL FINAL DE CADA ÉPOCA</a:t>
            </a:r>
            <a:endParaRPr lang="en-US" sz="1400"/>
          </a:p>
          <a:p>
            <a:pPr marL="0" indent="0">
              <a:spcAft>
                <a:spcPts val="400"/>
              </a:spcAft>
              <a:buNone/>
              <a:defRPr/>
            </a:pPr>
            <a:r>
              <a:rPr lang="en-US" sz="1300">
                <a:solidFill>
                  <a:schemeClr val="bg1"/>
                </a:solidFill>
              </a:rPr>
              <a:t>Se calcula la pérdida de validación sin actualizar pesos y se guarda el modelo si es un nuevo mínimo.</a:t>
            </a:r>
            <a:endParaRPr lang="en-US" sz="1400"/>
          </a:p>
        </p:txBody>
      </p:sp>
      <p:sp>
        <p:nvSpPr>
          <p:cNvPr id="236714799"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1622455847"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Aumento de datos</a:t>
            </a:r>
            <a:endParaRPr lang="en-US" sz="3600"/>
          </a:p>
        </p:txBody>
      </p:sp>
      <p:sp>
        <p:nvSpPr>
          <p:cNvPr id="345707964"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4.6 · MATERIALES Y MÉTODOS · AUMENTO DE DATOS</a:t>
            </a:r>
            <a:endParaRPr lang="en-US" sz="1200"/>
          </a:p>
        </p:txBody>
      </p:sp>
      <p:sp>
        <p:nvSpPr>
          <p:cNvPr id="642134415" name="Tarjeta Volteo horizontal"/>
          <p:cNvSpPr/>
          <p:nvPr/>
        </p:nvSpPr>
        <p:spPr bwMode="auto">
          <a:xfrm>
            <a:off x="548640" y="1645920"/>
            <a:ext cx="3246120" cy="2148840"/>
          </a:xfrm>
          <a:prstGeom prst="roundRect">
            <a:avLst>
              <a:gd name="adj" fmla="val 4255"/>
            </a:avLst>
          </a:prstGeom>
          <a:solidFill>
            <a:schemeClr val="tx2"/>
          </a:solidFill>
          <a:ln w="6350">
            <a:solidFill>
              <a:schemeClr val="accent6">
                <a:alpha val="45000"/>
              </a:schemeClr>
            </a:solidFill>
            <a:prstDash val="solid"/>
          </a:ln>
        </p:spPr>
      </p:sp>
      <p:sp>
        <p:nvSpPr>
          <p:cNvPr id="925355641" name="Círculo Volteo horizontal"/>
          <p:cNvSpPr/>
          <p:nvPr/>
        </p:nvSpPr>
        <p:spPr bwMode="auto">
          <a:xfrm>
            <a:off x="731520" y="1828800"/>
            <a:ext cx="548640" cy="548640"/>
          </a:xfrm>
          <a:prstGeom prst="ellipse">
            <a:avLst/>
          </a:prstGeom>
          <a:solidFill>
            <a:schemeClr val="accent1">
              <a:alpha val="20000"/>
            </a:schemeClr>
          </a:solidFill>
          <a:ln/>
        </p:spPr>
      </p:sp>
      <p:pic>
        <p:nvPicPr>
          <p:cNvPr id="558974950" name="Image 0" descr="Icono Volteo horizontal"/>
          <p:cNvPicPr>
            <a:picLocks noChangeAspect="1"/>
          </p:cNvPicPr>
          <p:nvPr/>
        </p:nvPicPr>
        <p:blipFill rotWithShape="1">
          <a:blip r:embed="rId3"/>
          <a:stretch/>
        </p:blipFill>
        <p:spPr bwMode="auto">
          <a:xfrm>
            <a:off x="852221" y="1949501"/>
            <a:ext cx="307238" cy="307238"/>
          </a:xfrm>
          <a:prstGeom prst="rect">
            <a:avLst/>
          </a:prstGeom>
        </p:spPr>
      </p:pic>
      <p:sp>
        <p:nvSpPr>
          <p:cNvPr id="376472996" name="Título Volteo horizontal"/>
          <p:cNvSpPr txBox="1"/>
          <p:nvPr/>
        </p:nvSpPr>
        <p:spPr bwMode="auto">
          <a:xfrm>
            <a:off x="1417320" y="1810512"/>
            <a:ext cx="2240280" cy="320040"/>
          </a:xfrm>
          <a:prstGeom prst="rect">
            <a:avLst/>
          </a:prstGeom>
          <a:noFill/>
          <a:ln/>
        </p:spPr>
        <p:txBody>
          <a:bodyPr wrap="square" lIns="0" tIns="0" rIns="0" bIns="0" rtlCol="0" anchor="t"/>
          <a:lstStyle/>
          <a:p>
            <a:pPr marL="0" indent="0">
              <a:buNone/>
              <a:defRPr/>
            </a:pPr>
            <a:r>
              <a:rPr lang="en-US" sz="1600" b="1">
                <a:solidFill>
                  <a:schemeClr val="bg1"/>
                </a:solidFill>
              </a:rPr>
              <a:t>Volteo horizontal</a:t>
            </a:r>
            <a:endParaRPr lang="en-US" sz="1600"/>
          </a:p>
        </p:txBody>
      </p:sp>
      <p:sp>
        <p:nvSpPr>
          <p:cNvPr id="1373072046" name="Rango Volteo horizontal"/>
          <p:cNvSpPr txBox="1"/>
          <p:nvPr/>
        </p:nvSpPr>
        <p:spPr bwMode="auto">
          <a:xfrm>
            <a:off x="1417320" y="2121408"/>
            <a:ext cx="2240280" cy="274320"/>
          </a:xfrm>
          <a:prstGeom prst="rect">
            <a:avLst/>
          </a:prstGeom>
          <a:noFill/>
          <a:ln/>
        </p:spPr>
        <p:txBody>
          <a:bodyPr wrap="square" lIns="0" tIns="0" rIns="0" bIns="0" rtlCol="0" anchor="t"/>
          <a:lstStyle/>
          <a:p>
            <a:pPr marL="0" indent="0">
              <a:buNone/>
              <a:defRPr/>
            </a:pPr>
            <a:r>
              <a:rPr lang="en-US" sz="1300">
                <a:solidFill>
                  <a:schemeClr val="bg2"/>
                </a:solidFill>
              </a:rPr>
              <a:t>p = 0.5</a:t>
            </a:r>
            <a:endParaRPr lang="en-US" sz="1300"/>
          </a:p>
        </p:txBody>
      </p:sp>
      <p:sp>
        <p:nvSpPr>
          <p:cNvPr id="617875692" name="Etiqueta Volteo horizontal"/>
          <p:cNvSpPr/>
          <p:nvPr/>
        </p:nvSpPr>
        <p:spPr bwMode="auto">
          <a:xfrm>
            <a:off x="731520" y="2560320"/>
            <a:ext cx="1737360" cy="274320"/>
          </a:xfrm>
          <a:prstGeom prst="roundRect">
            <a:avLst>
              <a:gd name="adj" fmla="val 50000"/>
            </a:avLst>
          </a:prstGeom>
          <a:solidFill>
            <a:schemeClr val="accent1">
              <a:alpha val="20000"/>
            </a:schemeClr>
          </a:solidFill>
          <a:ln/>
        </p:spPr>
      </p:sp>
      <p:sp>
        <p:nvSpPr>
          <p:cNvPr id="2052049344" name="Texto etiqueta Volteo horizontal"/>
          <p:cNvSpPr txBox="1"/>
          <p:nvPr/>
        </p:nvSpPr>
        <p:spPr bwMode="auto">
          <a:xfrm>
            <a:off x="731520" y="2560320"/>
            <a:ext cx="1737360" cy="274320"/>
          </a:xfrm>
          <a:prstGeom prst="rect">
            <a:avLst/>
          </a:prstGeom>
          <a:noFill/>
          <a:ln/>
        </p:spPr>
        <p:txBody>
          <a:bodyPr wrap="square" lIns="0" tIns="0" rIns="0" bIns="0" rtlCol="0" anchor="ctr"/>
          <a:lstStyle/>
          <a:p>
            <a:pPr marL="0" indent="0" algn="ctr">
              <a:buNone/>
              <a:defRPr/>
            </a:pPr>
            <a:r>
              <a:rPr lang="en-US" sz="1100" b="1">
                <a:solidFill>
                  <a:schemeClr val="accent1"/>
                </a:solidFill>
              </a:rPr>
              <a:t>Imagen + máscara</a:t>
            </a:r>
            <a:endParaRPr lang="en-US" sz="1100"/>
          </a:p>
        </p:txBody>
      </p:sp>
      <p:sp>
        <p:nvSpPr>
          <p:cNvPr id="2008935696" name="Texto Volteo horizontal"/>
          <p:cNvSpPr txBox="1"/>
          <p:nvPr/>
        </p:nvSpPr>
        <p:spPr bwMode="auto">
          <a:xfrm>
            <a:off x="731520" y="2971800"/>
            <a:ext cx="2880360" cy="731520"/>
          </a:xfrm>
          <a:prstGeom prst="rect">
            <a:avLst/>
          </a:prstGeom>
          <a:noFill/>
          <a:ln/>
        </p:spPr>
        <p:txBody>
          <a:bodyPr wrap="square" lIns="0" tIns="0" rIns="0" bIns="0" rtlCol="0" anchor="t"/>
          <a:lstStyle/>
          <a:p>
            <a:pPr marL="0" indent="0">
              <a:buNone/>
              <a:defRPr/>
            </a:pPr>
            <a:r>
              <a:rPr lang="en-US" sz="1400">
                <a:solidFill>
                  <a:schemeClr val="bg2"/>
                </a:solidFill>
              </a:rPr>
              <a:t>El mismo volteo en ambas mantiene la correspondencia.</a:t>
            </a:r>
            <a:endParaRPr lang="en-US" sz="1400"/>
          </a:p>
        </p:txBody>
      </p:sp>
      <p:sp>
        <p:nvSpPr>
          <p:cNvPr id="469653850" name="Tarjeta Brillo"/>
          <p:cNvSpPr/>
          <p:nvPr/>
        </p:nvSpPr>
        <p:spPr bwMode="auto">
          <a:xfrm>
            <a:off x="3931920" y="1645920"/>
            <a:ext cx="3246120" cy="2148840"/>
          </a:xfrm>
          <a:prstGeom prst="roundRect">
            <a:avLst>
              <a:gd name="adj" fmla="val 4255"/>
            </a:avLst>
          </a:prstGeom>
          <a:solidFill>
            <a:schemeClr val="tx2"/>
          </a:solidFill>
          <a:ln w="6350">
            <a:solidFill>
              <a:schemeClr val="accent6">
                <a:alpha val="45000"/>
              </a:schemeClr>
            </a:solidFill>
            <a:prstDash val="solid"/>
          </a:ln>
        </p:spPr>
      </p:sp>
      <p:sp>
        <p:nvSpPr>
          <p:cNvPr id="798842405" name="Círculo Brillo"/>
          <p:cNvSpPr/>
          <p:nvPr/>
        </p:nvSpPr>
        <p:spPr bwMode="auto">
          <a:xfrm>
            <a:off x="4114800" y="1828800"/>
            <a:ext cx="548640" cy="548640"/>
          </a:xfrm>
          <a:prstGeom prst="ellipse">
            <a:avLst/>
          </a:prstGeom>
          <a:solidFill>
            <a:schemeClr val="accent4">
              <a:alpha val="20000"/>
            </a:schemeClr>
          </a:solidFill>
          <a:ln/>
        </p:spPr>
      </p:sp>
      <p:pic>
        <p:nvPicPr>
          <p:cNvPr id="1745284057" name="Image 1" descr="Icono Brillo"/>
          <p:cNvPicPr>
            <a:picLocks noChangeAspect="1"/>
          </p:cNvPicPr>
          <p:nvPr/>
        </p:nvPicPr>
        <p:blipFill rotWithShape="1">
          <a:blip r:embed="rId4"/>
          <a:stretch/>
        </p:blipFill>
        <p:spPr bwMode="auto">
          <a:xfrm>
            <a:off x="4235501" y="1949501"/>
            <a:ext cx="307238" cy="307238"/>
          </a:xfrm>
          <a:prstGeom prst="rect">
            <a:avLst/>
          </a:prstGeom>
        </p:spPr>
      </p:pic>
      <p:sp>
        <p:nvSpPr>
          <p:cNvPr id="883894895" name="Título Brillo"/>
          <p:cNvSpPr txBox="1"/>
          <p:nvPr/>
        </p:nvSpPr>
        <p:spPr bwMode="auto">
          <a:xfrm>
            <a:off x="4800600" y="1810512"/>
            <a:ext cx="2240280" cy="320040"/>
          </a:xfrm>
          <a:prstGeom prst="rect">
            <a:avLst/>
          </a:prstGeom>
          <a:noFill/>
          <a:ln/>
        </p:spPr>
        <p:txBody>
          <a:bodyPr wrap="square" lIns="0" tIns="0" rIns="0" bIns="0" rtlCol="0" anchor="t"/>
          <a:lstStyle/>
          <a:p>
            <a:pPr marL="0" indent="0">
              <a:buNone/>
              <a:defRPr/>
            </a:pPr>
            <a:r>
              <a:rPr lang="en-US" sz="1600" b="1">
                <a:solidFill>
                  <a:schemeClr val="bg1"/>
                </a:solidFill>
              </a:rPr>
              <a:t>Brillo</a:t>
            </a:r>
            <a:endParaRPr lang="en-US" sz="1600"/>
          </a:p>
        </p:txBody>
      </p:sp>
      <p:sp>
        <p:nvSpPr>
          <p:cNvPr id="578514199" name="Rango Brillo"/>
          <p:cNvSpPr txBox="1"/>
          <p:nvPr/>
        </p:nvSpPr>
        <p:spPr bwMode="auto">
          <a:xfrm>
            <a:off x="4800600" y="2121408"/>
            <a:ext cx="2240280" cy="274320"/>
          </a:xfrm>
          <a:prstGeom prst="rect">
            <a:avLst/>
          </a:prstGeom>
          <a:noFill/>
          <a:ln/>
        </p:spPr>
        <p:txBody>
          <a:bodyPr wrap="square" lIns="0" tIns="0" rIns="0" bIns="0" rtlCol="0" anchor="t"/>
          <a:lstStyle/>
          <a:p>
            <a:pPr marL="0" indent="0">
              <a:buNone/>
              <a:defRPr/>
            </a:pPr>
            <a:r>
              <a:rPr lang="en-US" sz="1300">
                <a:solidFill>
                  <a:schemeClr val="bg2"/>
                </a:solidFill>
              </a:rPr>
              <a:t>× 0.85 – 1.15</a:t>
            </a:r>
            <a:endParaRPr lang="en-US" sz="1300"/>
          </a:p>
        </p:txBody>
      </p:sp>
      <p:sp>
        <p:nvSpPr>
          <p:cNvPr id="51625588" name="Etiqueta Brillo"/>
          <p:cNvSpPr/>
          <p:nvPr/>
        </p:nvSpPr>
        <p:spPr bwMode="auto">
          <a:xfrm>
            <a:off x="4114800" y="2560320"/>
            <a:ext cx="1737360" cy="274320"/>
          </a:xfrm>
          <a:prstGeom prst="roundRect">
            <a:avLst>
              <a:gd name="adj" fmla="val 50000"/>
            </a:avLst>
          </a:prstGeom>
          <a:solidFill>
            <a:schemeClr val="accent4">
              <a:alpha val="20000"/>
            </a:schemeClr>
          </a:solidFill>
          <a:ln/>
        </p:spPr>
      </p:sp>
      <p:sp>
        <p:nvSpPr>
          <p:cNvPr id="1382928070" name="Texto etiqueta Brillo"/>
          <p:cNvSpPr txBox="1"/>
          <p:nvPr/>
        </p:nvSpPr>
        <p:spPr bwMode="auto">
          <a:xfrm>
            <a:off x="4114800" y="2560320"/>
            <a:ext cx="1737360" cy="274320"/>
          </a:xfrm>
          <a:prstGeom prst="rect">
            <a:avLst/>
          </a:prstGeom>
          <a:noFill/>
          <a:ln/>
        </p:spPr>
        <p:txBody>
          <a:bodyPr wrap="square" lIns="0" tIns="0" rIns="0" bIns="0" rtlCol="0" anchor="ctr"/>
          <a:lstStyle/>
          <a:p>
            <a:pPr marL="0" indent="0" algn="ctr">
              <a:buNone/>
              <a:defRPr/>
            </a:pPr>
            <a:r>
              <a:rPr lang="en-US" sz="1100" b="1">
                <a:solidFill>
                  <a:schemeClr val="accent4"/>
                </a:solidFill>
              </a:rPr>
              <a:t>Solo imagen</a:t>
            </a:r>
            <a:endParaRPr lang="en-US" sz="1100"/>
          </a:p>
        </p:txBody>
      </p:sp>
      <p:sp>
        <p:nvSpPr>
          <p:cNvPr id="58255698" name="Texto Brillo"/>
          <p:cNvSpPr txBox="1"/>
          <p:nvPr/>
        </p:nvSpPr>
        <p:spPr bwMode="auto">
          <a:xfrm>
            <a:off x="4114800" y="2971800"/>
            <a:ext cx="2880360" cy="731520"/>
          </a:xfrm>
          <a:prstGeom prst="rect">
            <a:avLst/>
          </a:prstGeom>
          <a:noFill/>
          <a:ln/>
        </p:spPr>
        <p:txBody>
          <a:bodyPr wrap="square" lIns="0" tIns="0" rIns="0" bIns="0" rtlCol="0" anchor="t"/>
          <a:lstStyle/>
          <a:p>
            <a:pPr marL="0" indent="0">
              <a:buNone/>
              <a:defRPr/>
            </a:pPr>
            <a:r>
              <a:rPr lang="en-US" sz="1400">
                <a:solidFill>
                  <a:schemeClr val="bg2"/>
                </a:solidFill>
              </a:rPr>
              <a:t>Simula distintas condiciones de iluminación.</a:t>
            </a:r>
            <a:endParaRPr lang="en-US" sz="1400"/>
          </a:p>
        </p:txBody>
      </p:sp>
      <p:sp>
        <p:nvSpPr>
          <p:cNvPr id="2122545616" name="Tarjeta Contraste"/>
          <p:cNvSpPr/>
          <p:nvPr/>
        </p:nvSpPr>
        <p:spPr bwMode="auto">
          <a:xfrm>
            <a:off x="548640" y="3931920"/>
            <a:ext cx="3246120" cy="2148840"/>
          </a:xfrm>
          <a:prstGeom prst="roundRect">
            <a:avLst>
              <a:gd name="adj" fmla="val 4255"/>
            </a:avLst>
          </a:prstGeom>
          <a:solidFill>
            <a:schemeClr val="tx2"/>
          </a:solidFill>
          <a:ln w="6350">
            <a:solidFill>
              <a:schemeClr val="accent6">
                <a:alpha val="45000"/>
              </a:schemeClr>
            </a:solidFill>
            <a:prstDash val="solid"/>
          </a:ln>
        </p:spPr>
      </p:sp>
      <p:sp>
        <p:nvSpPr>
          <p:cNvPr id="1589322173" name="Círculo Contraste"/>
          <p:cNvSpPr/>
          <p:nvPr/>
        </p:nvSpPr>
        <p:spPr bwMode="auto">
          <a:xfrm>
            <a:off x="731520" y="4114800"/>
            <a:ext cx="548640" cy="548640"/>
          </a:xfrm>
          <a:prstGeom prst="ellipse">
            <a:avLst/>
          </a:prstGeom>
          <a:solidFill>
            <a:schemeClr val="accent4">
              <a:alpha val="20000"/>
            </a:schemeClr>
          </a:solidFill>
          <a:ln/>
        </p:spPr>
      </p:sp>
      <p:pic>
        <p:nvPicPr>
          <p:cNvPr id="560196798" name="Image 2" descr="Icono Contraste"/>
          <p:cNvPicPr>
            <a:picLocks noChangeAspect="1"/>
          </p:cNvPicPr>
          <p:nvPr/>
        </p:nvPicPr>
        <p:blipFill rotWithShape="1">
          <a:blip r:embed="rId5"/>
          <a:stretch/>
        </p:blipFill>
        <p:spPr bwMode="auto">
          <a:xfrm>
            <a:off x="852221" y="4235501"/>
            <a:ext cx="307238" cy="307238"/>
          </a:xfrm>
          <a:prstGeom prst="rect">
            <a:avLst/>
          </a:prstGeom>
        </p:spPr>
      </p:pic>
      <p:sp>
        <p:nvSpPr>
          <p:cNvPr id="22699506" name="Título Contraste"/>
          <p:cNvSpPr txBox="1"/>
          <p:nvPr/>
        </p:nvSpPr>
        <p:spPr bwMode="auto">
          <a:xfrm>
            <a:off x="1417320" y="4096512"/>
            <a:ext cx="2240280" cy="320040"/>
          </a:xfrm>
          <a:prstGeom prst="rect">
            <a:avLst/>
          </a:prstGeom>
          <a:noFill/>
          <a:ln/>
        </p:spPr>
        <p:txBody>
          <a:bodyPr wrap="square" lIns="0" tIns="0" rIns="0" bIns="0" rtlCol="0" anchor="t"/>
          <a:lstStyle/>
          <a:p>
            <a:pPr marL="0" indent="0">
              <a:buNone/>
              <a:defRPr/>
            </a:pPr>
            <a:r>
              <a:rPr lang="en-US" sz="1600" b="1">
                <a:solidFill>
                  <a:schemeClr val="bg1"/>
                </a:solidFill>
              </a:rPr>
              <a:t>Contraste</a:t>
            </a:r>
            <a:endParaRPr lang="en-US" sz="1600"/>
          </a:p>
        </p:txBody>
      </p:sp>
      <p:sp>
        <p:nvSpPr>
          <p:cNvPr id="1269522196" name="Rango Contraste"/>
          <p:cNvSpPr txBox="1"/>
          <p:nvPr/>
        </p:nvSpPr>
        <p:spPr bwMode="auto">
          <a:xfrm>
            <a:off x="1417320" y="4407408"/>
            <a:ext cx="2240280" cy="274320"/>
          </a:xfrm>
          <a:prstGeom prst="rect">
            <a:avLst/>
          </a:prstGeom>
          <a:noFill/>
          <a:ln/>
        </p:spPr>
        <p:txBody>
          <a:bodyPr wrap="square" lIns="0" tIns="0" rIns="0" bIns="0" rtlCol="0" anchor="t"/>
          <a:lstStyle/>
          <a:p>
            <a:pPr marL="0" indent="0">
              <a:buNone/>
              <a:defRPr/>
            </a:pPr>
            <a:r>
              <a:rPr lang="en-US" sz="1300">
                <a:solidFill>
                  <a:schemeClr val="bg2"/>
                </a:solidFill>
              </a:rPr>
              <a:t>× 0.85 – 1.15</a:t>
            </a:r>
            <a:endParaRPr lang="en-US" sz="1300"/>
          </a:p>
        </p:txBody>
      </p:sp>
      <p:sp>
        <p:nvSpPr>
          <p:cNvPr id="879601314" name="Etiqueta Contraste"/>
          <p:cNvSpPr/>
          <p:nvPr/>
        </p:nvSpPr>
        <p:spPr bwMode="auto">
          <a:xfrm>
            <a:off x="731520" y="4846320"/>
            <a:ext cx="1737360" cy="274320"/>
          </a:xfrm>
          <a:prstGeom prst="roundRect">
            <a:avLst>
              <a:gd name="adj" fmla="val 50000"/>
            </a:avLst>
          </a:prstGeom>
          <a:solidFill>
            <a:schemeClr val="accent4">
              <a:alpha val="20000"/>
            </a:schemeClr>
          </a:solidFill>
          <a:ln/>
        </p:spPr>
      </p:sp>
      <p:sp>
        <p:nvSpPr>
          <p:cNvPr id="1636696727" name="Texto etiqueta Contraste"/>
          <p:cNvSpPr txBox="1"/>
          <p:nvPr/>
        </p:nvSpPr>
        <p:spPr bwMode="auto">
          <a:xfrm>
            <a:off x="731520" y="4846320"/>
            <a:ext cx="1737360" cy="274320"/>
          </a:xfrm>
          <a:prstGeom prst="rect">
            <a:avLst/>
          </a:prstGeom>
          <a:noFill/>
          <a:ln/>
        </p:spPr>
        <p:txBody>
          <a:bodyPr wrap="square" lIns="0" tIns="0" rIns="0" bIns="0" rtlCol="0" anchor="ctr"/>
          <a:lstStyle/>
          <a:p>
            <a:pPr marL="0" indent="0" algn="ctr">
              <a:buNone/>
              <a:defRPr/>
            </a:pPr>
            <a:r>
              <a:rPr lang="en-US" sz="1100" b="1">
                <a:solidFill>
                  <a:schemeClr val="accent4"/>
                </a:solidFill>
              </a:rPr>
              <a:t>Solo imagen</a:t>
            </a:r>
            <a:endParaRPr lang="en-US" sz="1100"/>
          </a:p>
        </p:txBody>
      </p:sp>
      <p:sp>
        <p:nvSpPr>
          <p:cNvPr id="447840227" name="Texto Contraste"/>
          <p:cNvSpPr txBox="1"/>
          <p:nvPr/>
        </p:nvSpPr>
        <p:spPr bwMode="auto">
          <a:xfrm>
            <a:off x="731520" y="5257800"/>
            <a:ext cx="2880360" cy="731520"/>
          </a:xfrm>
          <a:prstGeom prst="rect">
            <a:avLst/>
          </a:prstGeom>
          <a:noFill/>
          <a:ln/>
        </p:spPr>
        <p:txBody>
          <a:bodyPr wrap="square" lIns="0" tIns="0" rIns="0" bIns="0" rtlCol="0" anchor="t"/>
          <a:lstStyle/>
          <a:p>
            <a:pPr marL="0" indent="0">
              <a:buNone/>
              <a:defRPr/>
            </a:pPr>
            <a:r>
              <a:rPr lang="en-US" sz="1400">
                <a:solidFill>
                  <a:schemeClr val="bg2"/>
                </a:solidFill>
              </a:rPr>
              <a:t>Varía la separación entre claros y oscuros.</a:t>
            </a:r>
            <a:endParaRPr lang="en-US" sz="1400"/>
          </a:p>
        </p:txBody>
      </p:sp>
      <p:sp>
        <p:nvSpPr>
          <p:cNvPr id="1488078003" name="Tarjeta Saturación"/>
          <p:cNvSpPr/>
          <p:nvPr/>
        </p:nvSpPr>
        <p:spPr bwMode="auto">
          <a:xfrm>
            <a:off x="3931920" y="3931920"/>
            <a:ext cx="3246120" cy="2148840"/>
          </a:xfrm>
          <a:prstGeom prst="roundRect">
            <a:avLst>
              <a:gd name="adj" fmla="val 4255"/>
            </a:avLst>
          </a:prstGeom>
          <a:solidFill>
            <a:schemeClr val="tx2"/>
          </a:solidFill>
          <a:ln w="6350">
            <a:solidFill>
              <a:schemeClr val="accent6">
                <a:alpha val="45000"/>
              </a:schemeClr>
            </a:solidFill>
            <a:prstDash val="solid"/>
          </a:ln>
        </p:spPr>
      </p:sp>
      <p:sp>
        <p:nvSpPr>
          <p:cNvPr id="1293476165" name="Círculo Saturación"/>
          <p:cNvSpPr/>
          <p:nvPr/>
        </p:nvSpPr>
        <p:spPr bwMode="auto">
          <a:xfrm>
            <a:off x="4114800" y="4114800"/>
            <a:ext cx="548640" cy="548640"/>
          </a:xfrm>
          <a:prstGeom prst="ellipse">
            <a:avLst/>
          </a:prstGeom>
          <a:solidFill>
            <a:schemeClr val="accent4">
              <a:alpha val="20000"/>
            </a:schemeClr>
          </a:solidFill>
          <a:ln/>
        </p:spPr>
      </p:sp>
      <p:pic>
        <p:nvPicPr>
          <p:cNvPr id="1194834990" name="Image 3" descr="Icono Saturación"/>
          <p:cNvPicPr>
            <a:picLocks noChangeAspect="1"/>
          </p:cNvPicPr>
          <p:nvPr/>
        </p:nvPicPr>
        <p:blipFill rotWithShape="1">
          <a:blip r:embed="rId6"/>
          <a:stretch/>
        </p:blipFill>
        <p:spPr bwMode="auto">
          <a:xfrm>
            <a:off x="4235501" y="4235501"/>
            <a:ext cx="307238" cy="307238"/>
          </a:xfrm>
          <a:prstGeom prst="rect">
            <a:avLst/>
          </a:prstGeom>
        </p:spPr>
      </p:pic>
      <p:sp>
        <p:nvSpPr>
          <p:cNvPr id="1495074709" name="Título Saturación"/>
          <p:cNvSpPr txBox="1"/>
          <p:nvPr/>
        </p:nvSpPr>
        <p:spPr bwMode="auto">
          <a:xfrm>
            <a:off x="4800600" y="4096512"/>
            <a:ext cx="2240280" cy="320040"/>
          </a:xfrm>
          <a:prstGeom prst="rect">
            <a:avLst/>
          </a:prstGeom>
          <a:noFill/>
          <a:ln/>
        </p:spPr>
        <p:txBody>
          <a:bodyPr wrap="square" lIns="0" tIns="0" rIns="0" bIns="0" rtlCol="0" anchor="t"/>
          <a:lstStyle/>
          <a:p>
            <a:pPr marL="0" indent="0">
              <a:buNone/>
              <a:defRPr/>
            </a:pPr>
            <a:r>
              <a:rPr lang="en-US" sz="1600" b="1">
                <a:solidFill>
                  <a:schemeClr val="bg1"/>
                </a:solidFill>
              </a:rPr>
              <a:t>Saturación</a:t>
            </a:r>
            <a:endParaRPr lang="en-US" sz="1600"/>
          </a:p>
        </p:txBody>
      </p:sp>
      <p:sp>
        <p:nvSpPr>
          <p:cNvPr id="2039460000" name="Rango Saturación"/>
          <p:cNvSpPr txBox="1"/>
          <p:nvPr/>
        </p:nvSpPr>
        <p:spPr bwMode="auto">
          <a:xfrm>
            <a:off x="4800600" y="4407408"/>
            <a:ext cx="2240280" cy="274320"/>
          </a:xfrm>
          <a:prstGeom prst="rect">
            <a:avLst/>
          </a:prstGeom>
          <a:noFill/>
          <a:ln/>
        </p:spPr>
        <p:txBody>
          <a:bodyPr wrap="square" lIns="0" tIns="0" rIns="0" bIns="0" rtlCol="0" anchor="t"/>
          <a:lstStyle/>
          <a:p>
            <a:pPr marL="0" indent="0">
              <a:buNone/>
              <a:defRPr/>
            </a:pPr>
            <a:r>
              <a:rPr lang="en-US" sz="1300">
                <a:solidFill>
                  <a:schemeClr val="bg2"/>
                </a:solidFill>
              </a:rPr>
              <a:t>× 0.85 – 1.15</a:t>
            </a:r>
            <a:endParaRPr lang="en-US" sz="1300"/>
          </a:p>
        </p:txBody>
      </p:sp>
      <p:sp>
        <p:nvSpPr>
          <p:cNvPr id="2073752956" name="Etiqueta Saturación"/>
          <p:cNvSpPr/>
          <p:nvPr/>
        </p:nvSpPr>
        <p:spPr bwMode="auto">
          <a:xfrm>
            <a:off x="4114800" y="4846320"/>
            <a:ext cx="1737360" cy="274320"/>
          </a:xfrm>
          <a:prstGeom prst="roundRect">
            <a:avLst>
              <a:gd name="adj" fmla="val 50000"/>
            </a:avLst>
          </a:prstGeom>
          <a:solidFill>
            <a:schemeClr val="accent4">
              <a:alpha val="20000"/>
            </a:schemeClr>
          </a:solidFill>
          <a:ln/>
        </p:spPr>
      </p:sp>
      <p:sp>
        <p:nvSpPr>
          <p:cNvPr id="634985141" name="Texto etiqueta Saturación"/>
          <p:cNvSpPr txBox="1"/>
          <p:nvPr/>
        </p:nvSpPr>
        <p:spPr bwMode="auto">
          <a:xfrm>
            <a:off x="4114800" y="4846320"/>
            <a:ext cx="1737360" cy="274320"/>
          </a:xfrm>
          <a:prstGeom prst="rect">
            <a:avLst/>
          </a:prstGeom>
          <a:noFill/>
          <a:ln/>
        </p:spPr>
        <p:txBody>
          <a:bodyPr wrap="square" lIns="0" tIns="0" rIns="0" bIns="0" rtlCol="0" anchor="ctr"/>
          <a:lstStyle/>
          <a:p>
            <a:pPr marL="0" indent="0" algn="ctr">
              <a:buNone/>
              <a:defRPr/>
            </a:pPr>
            <a:r>
              <a:rPr lang="en-US" sz="1100" b="1">
                <a:solidFill>
                  <a:schemeClr val="accent4"/>
                </a:solidFill>
              </a:rPr>
              <a:t>Solo imagen</a:t>
            </a:r>
            <a:endParaRPr lang="en-US" sz="1100"/>
          </a:p>
        </p:txBody>
      </p:sp>
      <p:sp>
        <p:nvSpPr>
          <p:cNvPr id="517535128" name="Texto Saturación"/>
          <p:cNvSpPr txBox="1"/>
          <p:nvPr/>
        </p:nvSpPr>
        <p:spPr bwMode="auto">
          <a:xfrm>
            <a:off x="4114800" y="5257800"/>
            <a:ext cx="2880360" cy="731520"/>
          </a:xfrm>
          <a:prstGeom prst="rect">
            <a:avLst/>
          </a:prstGeom>
          <a:noFill/>
          <a:ln/>
        </p:spPr>
        <p:txBody>
          <a:bodyPr wrap="square" lIns="0" tIns="0" rIns="0" bIns="0" rtlCol="0" anchor="t"/>
          <a:lstStyle/>
          <a:p>
            <a:pPr marL="0" indent="0">
              <a:buNone/>
              <a:defRPr/>
            </a:pPr>
            <a:r>
              <a:rPr lang="en-US" sz="1400">
                <a:solidFill>
                  <a:schemeClr val="bg2"/>
                </a:solidFill>
              </a:rPr>
              <a:t>Varía la intensidad del color.</a:t>
            </a:r>
            <a:endParaRPr lang="en-US" sz="1400"/>
          </a:p>
        </p:txBody>
      </p:sp>
      <p:sp>
        <p:nvSpPr>
          <p:cNvPr id="917500308" name="Tarjeta por qué"/>
          <p:cNvSpPr/>
          <p:nvPr/>
        </p:nvSpPr>
        <p:spPr bwMode="auto">
          <a:xfrm>
            <a:off x="7406640" y="1645920"/>
            <a:ext cx="4233672" cy="4434840"/>
          </a:xfrm>
          <a:prstGeom prst="roundRect">
            <a:avLst>
              <a:gd name="adj" fmla="val 2160"/>
            </a:avLst>
          </a:prstGeom>
          <a:solidFill>
            <a:schemeClr val="tx2"/>
          </a:solidFill>
          <a:ln w="6350">
            <a:solidFill>
              <a:schemeClr val="accent6">
                <a:alpha val="45000"/>
              </a:schemeClr>
            </a:solidFill>
            <a:prstDash val="solid"/>
          </a:ln>
        </p:spPr>
      </p:sp>
      <p:sp>
        <p:nvSpPr>
          <p:cNvPr id="473711199" name="Rótulo por qué"/>
          <p:cNvSpPr txBox="1"/>
          <p:nvPr/>
        </p:nvSpPr>
        <p:spPr bwMode="auto">
          <a:xfrm>
            <a:off x="7635240" y="1828800"/>
            <a:ext cx="3749040" cy="274320"/>
          </a:xfrm>
          <a:prstGeom prst="rect">
            <a:avLst/>
          </a:prstGeom>
          <a:noFill/>
          <a:ln/>
        </p:spPr>
        <p:txBody>
          <a:bodyPr wrap="square" lIns="0" tIns="0" rIns="0" bIns="0" rtlCol="0" anchor="t"/>
          <a:lstStyle/>
          <a:p>
            <a:pPr marL="0" indent="0">
              <a:buNone/>
              <a:defRPr/>
            </a:pPr>
            <a:r>
              <a:rPr lang="en-US" sz="1200" b="1" spc="100">
                <a:solidFill>
                  <a:schemeClr val="accent1"/>
                </a:solidFill>
              </a:rPr>
              <a:t>¿POR QUÉ?</a:t>
            </a:r>
            <a:endParaRPr lang="en-US" sz="1200"/>
          </a:p>
        </p:txBody>
      </p:sp>
      <p:sp>
        <p:nvSpPr>
          <p:cNvPr id="430512250" name="Texto por qué"/>
          <p:cNvSpPr txBox="1"/>
          <p:nvPr/>
        </p:nvSpPr>
        <p:spPr bwMode="auto">
          <a:xfrm>
            <a:off x="7635240" y="2240280"/>
            <a:ext cx="3794760" cy="3749040"/>
          </a:xfrm>
          <a:prstGeom prst="rect">
            <a:avLst/>
          </a:prstGeom>
          <a:noFill/>
          <a:ln/>
        </p:spPr>
        <p:txBody>
          <a:bodyPr wrap="square" lIns="0" tIns="0" rIns="0" bIns="0" rtlCol="0" anchor="t"/>
          <a:lstStyle/>
          <a:p>
            <a:pPr marL="342900" indent="-342900">
              <a:spcAft>
                <a:spcPts val="1600"/>
              </a:spcAft>
              <a:buSzPct val="100000"/>
              <a:buChar char="•"/>
              <a:defRPr/>
            </a:pPr>
            <a:r>
              <a:rPr lang="en-US" sz="1600">
                <a:solidFill>
                  <a:schemeClr val="bg1"/>
                </a:solidFill>
              </a:rPr>
              <a:t>El modelo no debe memorizar la apariencia exacta de las 350 imágenes de entrenamiento.</a:t>
            </a:r>
            <a:endParaRPr lang="en-US" sz="1600"/>
          </a:p>
          <a:p>
            <a:pPr marL="342900" indent="-342900">
              <a:spcAft>
                <a:spcPts val="1600"/>
              </a:spcAft>
              <a:buSzPct val="100000"/>
              <a:buChar char="•"/>
              <a:defRPr/>
            </a:pPr>
            <a:r>
              <a:rPr lang="en-US" sz="1600">
                <a:solidFill>
                  <a:schemeClr val="bg1"/>
                </a:solidFill>
              </a:rPr>
              <a:t>Se activa solo en entrenamiento (augment=True); validación y prueba no se modifican.</a:t>
            </a:r>
            <a:endParaRPr lang="en-US" sz="1600"/>
          </a:p>
          <a:p>
            <a:pPr marL="342900" indent="-342900">
              <a:spcAft>
                <a:spcPts val="1600"/>
              </a:spcAft>
              <a:buSzPct val="100000"/>
              <a:buChar char="•"/>
              <a:defRPr/>
            </a:pPr>
            <a:r>
              <a:rPr lang="en-US" sz="1600">
                <a:solidFill>
                  <a:schemeClr val="bg1"/>
                </a:solidFill>
              </a:rPr>
              <a:t>Aumenta la diversidad efectiva de los ejemplos [2].</a:t>
            </a:r>
            <a:endParaRPr lang="en-US" sz="1600"/>
          </a:p>
          <a:p>
            <a:pPr marL="342900" indent="-342900">
              <a:spcAft>
                <a:spcPts val="1600"/>
              </a:spcAft>
              <a:buSzPct val="100000"/>
              <a:buChar char="•"/>
              <a:defRPr/>
            </a:pPr>
            <a:r>
              <a:rPr lang="en-US" sz="1600">
                <a:solidFill>
                  <a:schemeClr val="accent4"/>
                </a:solidFill>
              </a:rPr>
              <a:t>Aplicarlo no garantiza mejorar: el efecto se debe medir.</a:t>
            </a:r>
            <a:endParaRPr lang="en-US" sz="1600"/>
          </a:p>
        </p:txBody>
      </p:sp>
      <p:sp>
        <p:nvSpPr>
          <p:cNvPr id="1568412448"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spTree>
      <p:nvGrpSpPr>
        <p:cNvPr id="1" name=""/>
        <p:cNvGrpSpPr/>
        <p:nvPr/>
      </p:nvGrpSpPr>
      <p:grpSpPr bwMode="auto">
        <a:xfrm>
          <a:off x="0" y="0"/>
          <a:ext cx="0" cy="0"/>
          <a:chOff x="0" y="0"/>
          <a:chExt cx="0" cy="0"/>
        </a:xfrm>
      </p:grpSpPr>
      <p:sp>
        <p:nvSpPr>
          <p:cNvPr id="1582205124"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Métricas de rendimiento</a:t>
            </a:r>
            <a:endParaRPr lang="en-US" sz="3600"/>
          </a:p>
        </p:txBody>
      </p:sp>
      <p:sp>
        <p:nvSpPr>
          <p:cNvPr id="580516352"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4.7 · MATERIALES Y MÉTODOS · MÉTRICAS</a:t>
            </a:r>
            <a:endParaRPr lang="en-US" sz="1200"/>
          </a:p>
        </p:txBody>
      </p:sp>
      <p:sp>
        <p:nvSpPr>
          <p:cNvPr id="1664255946" name="Tarjeta IoU"/>
          <p:cNvSpPr/>
          <p:nvPr/>
        </p:nvSpPr>
        <p:spPr bwMode="auto">
          <a:xfrm>
            <a:off x="548640" y="1645920"/>
            <a:ext cx="2651760" cy="3017519"/>
          </a:xfrm>
          <a:prstGeom prst="roundRect">
            <a:avLst>
              <a:gd name="adj" fmla="val 3448"/>
            </a:avLst>
          </a:prstGeom>
          <a:solidFill>
            <a:schemeClr val="tx2"/>
          </a:solidFill>
          <a:ln w="6350">
            <a:solidFill>
              <a:schemeClr val="accent6">
                <a:alpha val="45000"/>
              </a:schemeClr>
            </a:solidFill>
            <a:prstDash val="solid"/>
          </a:ln>
        </p:spPr>
      </p:sp>
      <p:sp>
        <p:nvSpPr>
          <p:cNvPr id="688732219" name="Círculo IoU"/>
          <p:cNvSpPr/>
          <p:nvPr/>
        </p:nvSpPr>
        <p:spPr bwMode="auto">
          <a:xfrm>
            <a:off x="731520" y="1810512"/>
            <a:ext cx="502920" cy="502920"/>
          </a:xfrm>
          <a:prstGeom prst="ellipse">
            <a:avLst/>
          </a:prstGeom>
          <a:solidFill>
            <a:schemeClr val="accent1">
              <a:alpha val="20000"/>
            </a:schemeClr>
          </a:solidFill>
          <a:ln/>
        </p:spPr>
      </p:sp>
      <p:pic>
        <p:nvPicPr>
          <p:cNvPr id="326774077" name="Image 0" descr="Icono IoU"/>
          <p:cNvPicPr>
            <a:picLocks noChangeAspect="1"/>
          </p:cNvPicPr>
          <p:nvPr/>
        </p:nvPicPr>
        <p:blipFill rotWithShape="1">
          <a:blip r:embed="rId3"/>
          <a:stretch/>
        </p:blipFill>
        <p:spPr bwMode="auto">
          <a:xfrm>
            <a:off x="842162" y="1921154"/>
            <a:ext cx="281635" cy="281635"/>
          </a:xfrm>
          <a:prstGeom prst="rect">
            <a:avLst/>
          </a:prstGeom>
        </p:spPr>
      </p:pic>
      <p:sp>
        <p:nvSpPr>
          <p:cNvPr id="1708424325" name="Nombre IoU"/>
          <p:cNvSpPr txBox="1"/>
          <p:nvPr/>
        </p:nvSpPr>
        <p:spPr bwMode="auto">
          <a:xfrm>
            <a:off x="1371600" y="1810512"/>
            <a:ext cx="1645920" cy="502920"/>
          </a:xfrm>
          <a:prstGeom prst="rect">
            <a:avLst/>
          </a:prstGeom>
          <a:noFill/>
          <a:ln/>
        </p:spPr>
        <p:txBody>
          <a:bodyPr wrap="square" lIns="0" tIns="0" rIns="0" bIns="0" rtlCol="0" anchor="ctr"/>
          <a:lstStyle/>
          <a:p>
            <a:pPr marL="0" indent="0">
              <a:buNone/>
              <a:defRPr/>
            </a:pPr>
            <a:r>
              <a:rPr lang="en-US" sz="1800" b="1">
                <a:solidFill>
                  <a:schemeClr val="bg1"/>
                </a:solidFill>
              </a:rPr>
              <a:t>IoU</a:t>
            </a:r>
            <a:endParaRPr lang="en-US" sz="1800"/>
          </a:p>
        </p:txBody>
      </p:sp>
      <p:sp>
        <p:nvSpPr>
          <p:cNvPr id="1620965377" name="Fórmula IoU"/>
          <p:cNvSpPr txBox="1"/>
          <p:nvPr/>
        </p:nvSpPr>
        <p:spPr bwMode="auto">
          <a:xfrm>
            <a:off x="731520" y="2514600"/>
            <a:ext cx="2286000" cy="548640"/>
          </a:xfrm>
          <a:prstGeom prst="rect">
            <a:avLst/>
          </a:prstGeom>
          <a:noFill/>
          <a:ln/>
        </p:spPr>
        <p:txBody>
          <a:bodyPr wrap="square" lIns="0" tIns="0" rIns="0" bIns="0" rtlCol="0" anchor="t"/>
          <a:lstStyle/>
          <a:p>
            <a:pPr marL="0" indent="0">
              <a:buNone/>
              <a:defRPr/>
            </a:pPr>
            <a:r>
              <a:rPr lang="en-US" sz="1500" i="1">
                <a:solidFill>
                  <a:schemeClr val="accent1"/>
                </a:solidFill>
                <a:latin typeface="Cambria"/>
                <a:ea typeface="Cambria"/>
                <a:cs typeface="Cambria"/>
              </a:rPr>
              <a:t>TP / (TP + FP + FN)</a:t>
            </a:r>
            <a:endParaRPr lang="en-US" sz="1500"/>
          </a:p>
        </p:txBody>
      </p:sp>
      <p:sp>
        <p:nvSpPr>
          <p:cNvPr id="517865600" name="Texto IoU"/>
          <p:cNvSpPr txBox="1"/>
          <p:nvPr/>
        </p:nvSpPr>
        <p:spPr bwMode="auto">
          <a:xfrm>
            <a:off x="731520" y="3154680"/>
            <a:ext cx="2286000" cy="1417320"/>
          </a:xfrm>
          <a:prstGeom prst="rect">
            <a:avLst/>
          </a:prstGeom>
          <a:noFill/>
          <a:ln/>
        </p:spPr>
        <p:txBody>
          <a:bodyPr wrap="square" lIns="0" tIns="0" rIns="0" bIns="0" rtlCol="0" anchor="t"/>
          <a:lstStyle/>
          <a:p>
            <a:pPr marL="0" indent="0">
              <a:buNone/>
              <a:defRPr/>
            </a:pPr>
            <a:r>
              <a:rPr lang="en-US" sz="1400">
                <a:solidFill>
                  <a:schemeClr val="bg2"/>
                </a:solidFill>
              </a:rPr>
              <a:t>Intersección de la máscara predicha y la real entre su unión (índice de Jaccard) [7].</a:t>
            </a:r>
            <a:endParaRPr lang="en-US" sz="1400"/>
          </a:p>
        </p:txBody>
      </p:sp>
      <p:sp>
        <p:nvSpPr>
          <p:cNvPr id="483835939" name="Tarjeta Dice"/>
          <p:cNvSpPr/>
          <p:nvPr/>
        </p:nvSpPr>
        <p:spPr bwMode="auto">
          <a:xfrm>
            <a:off x="3361944" y="1645920"/>
            <a:ext cx="2651760" cy="3017519"/>
          </a:xfrm>
          <a:prstGeom prst="roundRect">
            <a:avLst>
              <a:gd name="adj" fmla="val 3448"/>
            </a:avLst>
          </a:prstGeom>
          <a:solidFill>
            <a:schemeClr val="tx2"/>
          </a:solidFill>
          <a:ln w="6350">
            <a:solidFill>
              <a:schemeClr val="accent6">
                <a:alpha val="45000"/>
              </a:schemeClr>
            </a:solidFill>
            <a:prstDash val="solid"/>
          </a:ln>
        </p:spPr>
      </p:sp>
      <p:sp>
        <p:nvSpPr>
          <p:cNvPr id="348774998" name="Círculo Dice"/>
          <p:cNvSpPr/>
          <p:nvPr/>
        </p:nvSpPr>
        <p:spPr bwMode="auto">
          <a:xfrm>
            <a:off x="3544824" y="1810512"/>
            <a:ext cx="502920" cy="502920"/>
          </a:xfrm>
          <a:prstGeom prst="ellipse">
            <a:avLst/>
          </a:prstGeom>
          <a:solidFill>
            <a:schemeClr val="accent5">
              <a:alpha val="20000"/>
            </a:schemeClr>
          </a:solidFill>
          <a:ln/>
        </p:spPr>
      </p:sp>
      <p:pic>
        <p:nvPicPr>
          <p:cNvPr id="1660284123" name="Image 1" descr="Icono Dice"/>
          <p:cNvPicPr>
            <a:picLocks noChangeAspect="1"/>
          </p:cNvPicPr>
          <p:nvPr/>
        </p:nvPicPr>
        <p:blipFill rotWithShape="1">
          <a:blip r:embed="rId4"/>
          <a:stretch/>
        </p:blipFill>
        <p:spPr bwMode="auto">
          <a:xfrm>
            <a:off x="3655466" y="1921154"/>
            <a:ext cx="281635" cy="281635"/>
          </a:xfrm>
          <a:prstGeom prst="rect">
            <a:avLst/>
          </a:prstGeom>
        </p:spPr>
      </p:pic>
      <p:sp>
        <p:nvSpPr>
          <p:cNvPr id="1528335477" name="Nombre Dice"/>
          <p:cNvSpPr txBox="1"/>
          <p:nvPr/>
        </p:nvSpPr>
        <p:spPr bwMode="auto">
          <a:xfrm>
            <a:off x="4184904" y="1810512"/>
            <a:ext cx="1645920" cy="502920"/>
          </a:xfrm>
          <a:prstGeom prst="rect">
            <a:avLst/>
          </a:prstGeom>
          <a:noFill/>
          <a:ln/>
        </p:spPr>
        <p:txBody>
          <a:bodyPr wrap="square" lIns="0" tIns="0" rIns="0" bIns="0" rtlCol="0" anchor="ctr"/>
          <a:lstStyle/>
          <a:p>
            <a:pPr marL="0" indent="0">
              <a:buNone/>
              <a:defRPr/>
            </a:pPr>
            <a:r>
              <a:rPr lang="en-US" sz="1800" b="1">
                <a:solidFill>
                  <a:schemeClr val="bg1"/>
                </a:solidFill>
              </a:rPr>
              <a:t>Dice</a:t>
            </a:r>
            <a:endParaRPr lang="en-US" sz="1800"/>
          </a:p>
        </p:txBody>
      </p:sp>
      <p:sp>
        <p:nvSpPr>
          <p:cNvPr id="478754056" name="Fórmula Dice"/>
          <p:cNvSpPr txBox="1"/>
          <p:nvPr/>
        </p:nvSpPr>
        <p:spPr bwMode="auto">
          <a:xfrm>
            <a:off x="3544824" y="2514600"/>
            <a:ext cx="2286000" cy="548640"/>
          </a:xfrm>
          <a:prstGeom prst="rect">
            <a:avLst/>
          </a:prstGeom>
          <a:noFill/>
          <a:ln/>
        </p:spPr>
        <p:txBody>
          <a:bodyPr wrap="square" lIns="0" tIns="0" rIns="0" bIns="0" rtlCol="0" anchor="t"/>
          <a:lstStyle/>
          <a:p>
            <a:pPr marL="0" indent="0">
              <a:buNone/>
              <a:defRPr/>
            </a:pPr>
            <a:r>
              <a:rPr lang="en-US" sz="1500" i="1">
                <a:solidFill>
                  <a:schemeClr val="accent5"/>
                </a:solidFill>
                <a:latin typeface="Cambria"/>
                <a:ea typeface="Cambria"/>
                <a:cs typeface="Cambria"/>
              </a:rPr>
              <a:t>2TP / (2TP + FP + FN)</a:t>
            </a:r>
            <a:endParaRPr lang="en-US" sz="1500"/>
          </a:p>
        </p:txBody>
      </p:sp>
      <p:sp>
        <p:nvSpPr>
          <p:cNvPr id="1646444014" name="Texto Dice"/>
          <p:cNvSpPr txBox="1"/>
          <p:nvPr/>
        </p:nvSpPr>
        <p:spPr bwMode="auto">
          <a:xfrm>
            <a:off x="3544824" y="3154680"/>
            <a:ext cx="2286000" cy="1417320"/>
          </a:xfrm>
          <a:prstGeom prst="rect">
            <a:avLst/>
          </a:prstGeom>
          <a:noFill/>
          <a:ln/>
        </p:spPr>
        <p:txBody>
          <a:bodyPr wrap="square" lIns="0" tIns="0" rIns="0" bIns="0" rtlCol="0" anchor="t"/>
          <a:lstStyle/>
          <a:p>
            <a:pPr marL="0" indent="0">
              <a:buNone/>
              <a:defRPr/>
            </a:pPr>
            <a:r>
              <a:rPr lang="en-US" sz="1400">
                <a:solidFill>
                  <a:schemeClr val="bg2"/>
                </a:solidFill>
              </a:rPr>
              <a:t>Solapamiento entre ambas máscaras; da doble peso a la intersección.</a:t>
            </a:r>
            <a:endParaRPr lang="en-US" sz="1400"/>
          </a:p>
        </p:txBody>
      </p:sp>
      <p:sp>
        <p:nvSpPr>
          <p:cNvPr id="325450551" name="Tarjeta Precisión"/>
          <p:cNvSpPr/>
          <p:nvPr/>
        </p:nvSpPr>
        <p:spPr bwMode="auto">
          <a:xfrm>
            <a:off x="6175248" y="1645920"/>
            <a:ext cx="2651760" cy="3017519"/>
          </a:xfrm>
          <a:prstGeom prst="roundRect">
            <a:avLst>
              <a:gd name="adj" fmla="val 3448"/>
            </a:avLst>
          </a:prstGeom>
          <a:solidFill>
            <a:schemeClr val="tx2"/>
          </a:solidFill>
          <a:ln w="6350">
            <a:solidFill>
              <a:schemeClr val="accent6">
                <a:alpha val="45000"/>
              </a:schemeClr>
            </a:solidFill>
            <a:prstDash val="solid"/>
          </a:ln>
        </p:spPr>
      </p:sp>
      <p:sp>
        <p:nvSpPr>
          <p:cNvPr id="1000732008" name="Círculo Precisión"/>
          <p:cNvSpPr/>
          <p:nvPr/>
        </p:nvSpPr>
        <p:spPr bwMode="auto">
          <a:xfrm>
            <a:off x="6358128" y="1810512"/>
            <a:ext cx="502920" cy="502920"/>
          </a:xfrm>
          <a:prstGeom prst="ellipse">
            <a:avLst/>
          </a:prstGeom>
          <a:solidFill>
            <a:schemeClr val="accent2">
              <a:alpha val="20000"/>
            </a:schemeClr>
          </a:solidFill>
          <a:ln/>
        </p:spPr>
      </p:sp>
      <p:pic>
        <p:nvPicPr>
          <p:cNvPr id="656325680" name="Image 2" descr="Icono Precisión"/>
          <p:cNvPicPr>
            <a:picLocks noChangeAspect="1"/>
          </p:cNvPicPr>
          <p:nvPr/>
        </p:nvPicPr>
        <p:blipFill rotWithShape="1">
          <a:blip r:embed="rId5"/>
          <a:stretch/>
        </p:blipFill>
        <p:spPr bwMode="auto">
          <a:xfrm>
            <a:off x="6468770" y="1921154"/>
            <a:ext cx="281635" cy="281635"/>
          </a:xfrm>
          <a:prstGeom prst="rect">
            <a:avLst/>
          </a:prstGeom>
        </p:spPr>
      </p:pic>
      <p:sp>
        <p:nvSpPr>
          <p:cNvPr id="1213662249" name="Nombre Precisión"/>
          <p:cNvSpPr txBox="1"/>
          <p:nvPr/>
        </p:nvSpPr>
        <p:spPr bwMode="auto">
          <a:xfrm>
            <a:off x="6998208" y="1810512"/>
            <a:ext cx="1645920" cy="502920"/>
          </a:xfrm>
          <a:prstGeom prst="rect">
            <a:avLst/>
          </a:prstGeom>
          <a:noFill/>
          <a:ln/>
        </p:spPr>
        <p:txBody>
          <a:bodyPr wrap="square" lIns="0" tIns="0" rIns="0" bIns="0" rtlCol="0" anchor="ctr"/>
          <a:lstStyle/>
          <a:p>
            <a:pPr marL="0" indent="0">
              <a:buNone/>
              <a:defRPr/>
            </a:pPr>
            <a:r>
              <a:rPr lang="en-US" sz="1800" b="1">
                <a:solidFill>
                  <a:schemeClr val="bg1"/>
                </a:solidFill>
              </a:rPr>
              <a:t>Precisión</a:t>
            </a:r>
            <a:endParaRPr lang="en-US" sz="1800"/>
          </a:p>
        </p:txBody>
      </p:sp>
      <p:sp>
        <p:nvSpPr>
          <p:cNvPr id="447393678" name="Fórmula Precisión"/>
          <p:cNvSpPr txBox="1"/>
          <p:nvPr/>
        </p:nvSpPr>
        <p:spPr bwMode="auto">
          <a:xfrm>
            <a:off x="6358128" y="2514600"/>
            <a:ext cx="2286000" cy="548640"/>
          </a:xfrm>
          <a:prstGeom prst="rect">
            <a:avLst/>
          </a:prstGeom>
          <a:noFill/>
          <a:ln/>
        </p:spPr>
        <p:txBody>
          <a:bodyPr wrap="square" lIns="0" tIns="0" rIns="0" bIns="0" rtlCol="0" anchor="t"/>
          <a:lstStyle/>
          <a:p>
            <a:pPr marL="0" indent="0">
              <a:buNone/>
              <a:defRPr/>
            </a:pPr>
            <a:r>
              <a:rPr lang="en-US" sz="1500" i="1">
                <a:solidFill>
                  <a:schemeClr val="accent2"/>
                </a:solidFill>
                <a:latin typeface="Cambria"/>
                <a:ea typeface="Cambria"/>
                <a:cs typeface="Cambria"/>
              </a:rPr>
              <a:t>TP / (TP + FP)</a:t>
            </a:r>
            <a:endParaRPr lang="en-US" sz="1500"/>
          </a:p>
        </p:txBody>
      </p:sp>
      <p:sp>
        <p:nvSpPr>
          <p:cNvPr id="2139832504" name="Texto Precisión"/>
          <p:cNvSpPr txBox="1"/>
          <p:nvPr/>
        </p:nvSpPr>
        <p:spPr bwMode="auto">
          <a:xfrm>
            <a:off x="6358128" y="3154680"/>
            <a:ext cx="2286000" cy="1417320"/>
          </a:xfrm>
          <a:prstGeom prst="rect">
            <a:avLst/>
          </a:prstGeom>
          <a:noFill/>
          <a:ln/>
        </p:spPr>
        <p:txBody>
          <a:bodyPr wrap="square" lIns="0" tIns="0" rIns="0" bIns="0" rtlCol="0" anchor="t"/>
          <a:lstStyle/>
          <a:p>
            <a:pPr marL="0" indent="0">
              <a:buNone/>
              <a:defRPr/>
            </a:pPr>
            <a:r>
              <a:rPr lang="en-US" sz="1400">
                <a:solidFill>
                  <a:schemeClr val="bg2"/>
                </a:solidFill>
              </a:rPr>
              <a:t>De lo marcado como coche, cuánto lo es de verdad: controla los falsos positivos.</a:t>
            </a:r>
            <a:endParaRPr lang="en-US" sz="1400"/>
          </a:p>
        </p:txBody>
      </p:sp>
      <p:sp>
        <p:nvSpPr>
          <p:cNvPr id="1999259516" name="Tarjeta Recall"/>
          <p:cNvSpPr/>
          <p:nvPr/>
        </p:nvSpPr>
        <p:spPr bwMode="auto">
          <a:xfrm>
            <a:off x="8988552" y="1645920"/>
            <a:ext cx="2651760" cy="3017519"/>
          </a:xfrm>
          <a:prstGeom prst="roundRect">
            <a:avLst>
              <a:gd name="adj" fmla="val 3448"/>
            </a:avLst>
          </a:prstGeom>
          <a:solidFill>
            <a:schemeClr val="tx2"/>
          </a:solidFill>
          <a:ln w="6350">
            <a:solidFill>
              <a:schemeClr val="accent6">
                <a:alpha val="45000"/>
              </a:schemeClr>
            </a:solidFill>
            <a:prstDash val="solid"/>
          </a:ln>
        </p:spPr>
      </p:sp>
      <p:sp>
        <p:nvSpPr>
          <p:cNvPr id="509437614" name="Círculo Recall"/>
          <p:cNvSpPr/>
          <p:nvPr/>
        </p:nvSpPr>
        <p:spPr bwMode="auto">
          <a:xfrm>
            <a:off x="9171432" y="1810512"/>
            <a:ext cx="502920" cy="502920"/>
          </a:xfrm>
          <a:prstGeom prst="ellipse">
            <a:avLst/>
          </a:prstGeom>
          <a:solidFill>
            <a:schemeClr val="accent3">
              <a:alpha val="20000"/>
            </a:schemeClr>
          </a:solidFill>
          <a:ln/>
        </p:spPr>
      </p:sp>
      <p:pic>
        <p:nvPicPr>
          <p:cNvPr id="837603664" name="Image 3" descr="Icono Recall"/>
          <p:cNvPicPr>
            <a:picLocks noChangeAspect="1"/>
          </p:cNvPicPr>
          <p:nvPr/>
        </p:nvPicPr>
        <p:blipFill rotWithShape="1">
          <a:blip r:embed="rId6"/>
          <a:stretch/>
        </p:blipFill>
        <p:spPr bwMode="auto">
          <a:xfrm>
            <a:off x="9282074" y="1921154"/>
            <a:ext cx="281635" cy="281635"/>
          </a:xfrm>
          <a:prstGeom prst="rect">
            <a:avLst/>
          </a:prstGeom>
        </p:spPr>
      </p:pic>
      <p:sp>
        <p:nvSpPr>
          <p:cNvPr id="96743152" name="Nombre Recall"/>
          <p:cNvSpPr txBox="1"/>
          <p:nvPr/>
        </p:nvSpPr>
        <p:spPr bwMode="auto">
          <a:xfrm>
            <a:off x="9811511" y="1810512"/>
            <a:ext cx="1645920" cy="502920"/>
          </a:xfrm>
          <a:prstGeom prst="rect">
            <a:avLst/>
          </a:prstGeom>
          <a:noFill/>
          <a:ln/>
        </p:spPr>
        <p:txBody>
          <a:bodyPr wrap="square" lIns="0" tIns="0" rIns="0" bIns="0" rtlCol="0" anchor="ctr"/>
          <a:lstStyle/>
          <a:p>
            <a:pPr marL="0" indent="0">
              <a:buNone/>
              <a:defRPr/>
            </a:pPr>
            <a:r>
              <a:rPr lang="en-US" sz="1800" b="1">
                <a:solidFill>
                  <a:schemeClr val="bg1"/>
                </a:solidFill>
              </a:rPr>
              <a:t>Recall</a:t>
            </a:r>
            <a:endParaRPr lang="en-US" sz="1800"/>
          </a:p>
        </p:txBody>
      </p:sp>
      <p:sp>
        <p:nvSpPr>
          <p:cNvPr id="923978071" name="Fórmula Recall"/>
          <p:cNvSpPr txBox="1"/>
          <p:nvPr/>
        </p:nvSpPr>
        <p:spPr bwMode="auto">
          <a:xfrm>
            <a:off x="9171432" y="2514600"/>
            <a:ext cx="2286000" cy="548640"/>
          </a:xfrm>
          <a:prstGeom prst="rect">
            <a:avLst/>
          </a:prstGeom>
          <a:noFill/>
          <a:ln/>
        </p:spPr>
        <p:txBody>
          <a:bodyPr wrap="square" lIns="0" tIns="0" rIns="0" bIns="0" rtlCol="0" anchor="t"/>
          <a:lstStyle/>
          <a:p>
            <a:pPr marL="0" indent="0">
              <a:buNone/>
              <a:defRPr/>
            </a:pPr>
            <a:r>
              <a:rPr lang="en-US" sz="1500" i="1">
                <a:solidFill>
                  <a:schemeClr val="accent3"/>
                </a:solidFill>
                <a:latin typeface="Cambria"/>
                <a:ea typeface="Cambria"/>
                <a:cs typeface="Cambria"/>
              </a:rPr>
              <a:t>TP / (TP + FN)</a:t>
            </a:r>
            <a:endParaRPr lang="en-US" sz="1500"/>
          </a:p>
        </p:txBody>
      </p:sp>
      <p:sp>
        <p:nvSpPr>
          <p:cNvPr id="2035693202" name="Texto Recall"/>
          <p:cNvSpPr txBox="1"/>
          <p:nvPr/>
        </p:nvSpPr>
        <p:spPr bwMode="auto">
          <a:xfrm>
            <a:off x="9171432" y="3154680"/>
            <a:ext cx="2286000" cy="1417320"/>
          </a:xfrm>
          <a:prstGeom prst="rect">
            <a:avLst/>
          </a:prstGeom>
          <a:noFill/>
          <a:ln/>
        </p:spPr>
        <p:txBody>
          <a:bodyPr wrap="square" lIns="0" tIns="0" rIns="0" bIns="0" rtlCol="0" anchor="t"/>
          <a:lstStyle/>
          <a:p>
            <a:pPr marL="0" indent="0">
              <a:buNone/>
              <a:defRPr/>
            </a:pPr>
            <a:r>
              <a:rPr lang="en-US" sz="1400">
                <a:solidFill>
                  <a:schemeClr val="bg2"/>
                </a:solidFill>
              </a:rPr>
              <a:t>Del coche real, cuánto se detecta: controla lo que queda sin segmentar.</a:t>
            </a:r>
            <a:endParaRPr lang="en-US" sz="1400"/>
          </a:p>
        </p:txBody>
      </p:sp>
      <p:sp>
        <p:nvSpPr>
          <p:cNvPr id="1399377884" name="Tarjeta TP FP FN"/>
          <p:cNvSpPr/>
          <p:nvPr/>
        </p:nvSpPr>
        <p:spPr bwMode="auto">
          <a:xfrm>
            <a:off x="548640" y="4846320"/>
            <a:ext cx="5029200" cy="1417320"/>
          </a:xfrm>
          <a:prstGeom prst="roundRect">
            <a:avLst>
              <a:gd name="adj" fmla="val 6452"/>
            </a:avLst>
          </a:prstGeom>
          <a:solidFill>
            <a:schemeClr val="tx2"/>
          </a:solidFill>
          <a:ln w="6350">
            <a:solidFill>
              <a:schemeClr val="accent6">
                <a:alpha val="45000"/>
              </a:schemeClr>
            </a:solidFill>
            <a:prstDash val="solid"/>
          </a:ln>
        </p:spPr>
      </p:sp>
      <p:sp>
        <p:nvSpPr>
          <p:cNvPr id="913136574" name="Texto TP FP FN"/>
          <p:cNvSpPr txBox="1"/>
          <p:nvPr/>
        </p:nvSpPr>
        <p:spPr bwMode="auto">
          <a:xfrm>
            <a:off x="777240" y="4846320"/>
            <a:ext cx="4572000" cy="1417320"/>
          </a:xfrm>
          <a:prstGeom prst="rect">
            <a:avLst/>
          </a:prstGeom>
          <a:noFill/>
          <a:ln/>
        </p:spPr>
        <p:txBody>
          <a:bodyPr wrap="square" lIns="0" tIns="0" rIns="0" bIns="0" rtlCol="0" anchor="ctr"/>
          <a:lstStyle/>
          <a:p>
            <a:pPr marL="0" indent="0">
              <a:spcAft>
                <a:spcPts val="300"/>
              </a:spcAft>
              <a:buNone/>
              <a:defRPr/>
            </a:pPr>
            <a:r>
              <a:rPr lang="en-US" sz="1400" b="1">
                <a:solidFill>
                  <a:schemeClr val="accent1"/>
                </a:solidFill>
              </a:rPr>
              <a:t>TP  </a:t>
            </a:r>
            <a:r>
              <a:rPr lang="en-US" sz="1400">
                <a:solidFill>
                  <a:schemeClr val="bg1"/>
                </a:solidFill>
              </a:rPr>
              <a:t>píxeles de coche acertados</a:t>
            </a:r>
            <a:endParaRPr lang="en-US" sz="1400"/>
          </a:p>
          <a:p>
            <a:pPr marL="0" indent="0">
              <a:spcAft>
                <a:spcPts val="300"/>
              </a:spcAft>
              <a:buNone/>
              <a:defRPr/>
            </a:pPr>
            <a:r>
              <a:rPr lang="en-US" sz="1400" b="1">
                <a:solidFill>
                  <a:schemeClr val="accent2"/>
                </a:solidFill>
              </a:rPr>
              <a:t>FP  </a:t>
            </a:r>
            <a:r>
              <a:rPr lang="en-US" sz="1400">
                <a:solidFill>
                  <a:schemeClr val="bg1"/>
                </a:solidFill>
              </a:rPr>
              <a:t>fondo marcado como coche</a:t>
            </a:r>
            <a:endParaRPr lang="en-US" sz="1400"/>
          </a:p>
          <a:p>
            <a:pPr marL="0" indent="0">
              <a:spcAft>
                <a:spcPts val="300"/>
              </a:spcAft>
              <a:buNone/>
              <a:defRPr/>
            </a:pPr>
            <a:r>
              <a:rPr lang="en-US" sz="1400" b="1">
                <a:solidFill>
                  <a:schemeClr val="accent5"/>
                </a:solidFill>
              </a:rPr>
              <a:t>FN  </a:t>
            </a:r>
            <a:r>
              <a:rPr lang="en-US" sz="1400">
                <a:solidFill>
                  <a:schemeClr val="bg1"/>
                </a:solidFill>
              </a:rPr>
              <a:t>coche que no se detectó</a:t>
            </a:r>
            <a:endParaRPr lang="en-US" sz="1400"/>
          </a:p>
        </p:txBody>
      </p:sp>
      <p:sp>
        <p:nvSpPr>
          <p:cNvPr id="1261530503" name="Tarjeta accuracy"/>
          <p:cNvSpPr/>
          <p:nvPr/>
        </p:nvSpPr>
        <p:spPr bwMode="auto">
          <a:xfrm>
            <a:off x="5760720" y="4846320"/>
            <a:ext cx="5879592" cy="1417320"/>
          </a:xfrm>
          <a:prstGeom prst="roundRect">
            <a:avLst>
              <a:gd name="adj" fmla="val 6452"/>
            </a:avLst>
          </a:prstGeom>
          <a:solidFill>
            <a:schemeClr val="tx2"/>
          </a:solidFill>
          <a:ln w="6350">
            <a:solidFill>
              <a:schemeClr val="accent6">
                <a:alpha val="45000"/>
              </a:schemeClr>
            </a:solidFill>
            <a:prstDash val="solid"/>
          </a:ln>
        </p:spPr>
      </p:sp>
      <p:sp>
        <p:nvSpPr>
          <p:cNvPr id="1875693165" name="Texto accuracy"/>
          <p:cNvSpPr txBox="1"/>
          <p:nvPr/>
        </p:nvSpPr>
        <p:spPr bwMode="auto">
          <a:xfrm>
            <a:off x="5989320" y="4846320"/>
            <a:ext cx="5440680" cy="1417320"/>
          </a:xfrm>
          <a:prstGeom prst="rect">
            <a:avLst/>
          </a:prstGeom>
          <a:noFill/>
          <a:ln/>
        </p:spPr>
        <p:txBody>
          <a:bodyPr wrap="square" lIns="0" tIns="0" rIns="0" bIns="0" rtlCol="0" anchor="ctr"/>
          <a:lstStyle/>
          <a:p>
            <a:pPr marL="0" indent="0">
              <a:spcAft>
                <a:spcPts val="300"/>
              </a:spcAft>
              <a:buNone/>
              <a:defRPr/>
            </a:pPr>
            <a:r>
              <a:rPr lang="en-US" sz="1200" b="1" spc="100">
                <a:solidFill>
                  <a:schemeClr val="accent4"/>
                </a:solidFill>
              </a:rPr>
              <a:t>¿POR QUÉ NO SOLO ACCURACY?</a:t>
            </a:r>
            <a:endParaRPr lang="en-US" sz="1400"/>
          </a:p>
          <a:p>
            <a:pPr marL="0" indent="0">
              <a:spcAft>
                <a:spcPts val="300"/>
              </a:spcAft>
              <a:buNone/>
              <a:defRPr/>
            </a:pPr>
            <a:r>
              <a:rPr lang="en-US" sz="1300">
                <a:solidFill>
                  <a:schemeClr val="bg1"/>
                </a:solidFill>
              </a:rPr>
              <a:t>El fondo ocupa gran parte de la imagen: un modelo puede acertar muchos píxeles de fondo y aun así delimitar mal los coches.</a:t>
            </a:r>
            <a:endParaRPr lang="en-US" sz="1400"/>
          </a:p>
        </p:txBody>
      </p:sp>
      <p:sp>
        <p:nvSpPr>
          <p:cNvPr id="2079782982"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spTree>
      <p:nvGrpSpPr>
        <p:cNvPr id="1" name=""/>
        <p:cNvGrpSpPr/>
        <p:nvPr/>
      </p:nvGrpSpPr>
      <p:grpSpPr bwMode="auto">
        <a:xfrm>
          <a:off x="0" y="0"/>
          <a:ext cx="0" cy="0"/>
          <a:chOff x="0" y="0"/>
          <a:chExt cx="0" cy="0"/>
        </a:xfrm>
      </p:grpSpPr>
      <p:sp>
        <p:nvSpPr>
          <p:cNvPr id="2042533099"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Curvas de pérdida</a:t>
            </a:r>
            <a:endParaRPr lang="en-US" sz="3600"/>
          </a:p>
        </p:txBody>
      </p:sp>
      <p:sp>
        <p:nvSpPr>
          <p:cNvPr id="273422209"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5.1 · RESULTADOS · ENTRENAMIENTO</a:t>
            </a:r>
            <a:endParaRPr lang="en-US" sz="1200"/>
          </a:p>
        </p:txBody>
      </p:sp>
      <p:graphicFrame>
        <p:nvGraphicFramePr>
          <p:cNvPr id="15345857" name="Chart 0" descr=""/>
          <p:cNvGraphicFramePr>
            <a:graphicFrameLocks xmlns:a="http://schemas.openxmlformats.org/drawingml/2006/main"/>
          </p:cNvGraphicFramePr>
          <p:nvPr/>
        </p:nvGraphicFramePr>
        <p:xfrm rot="0">
          <a:off x="548640" y="1645920"/>
          <a:ext cx="731520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1917509490" name="Tarjeta Entrenamiento: 0.3991 → 0.1136"/>
          <p:cNvSpPr/>
          <p:nvPr/>
        </p:nvSpPr>
        <p:spPr bwMode="auto">
          <a:xfrm>
            <a:off x="8183880" y="1645920"/>
            <a:ext cx="3456432" cy="1234440"/>
          </a:xfrm>
          <a:prstGeom prst="roundRect">
            <a:avLst>
              <a:gd name="adj" fmla="val 7407"/>
            </a:avLst>
          </a:prstGeom>
          <a:solidFill>
            <a:schemeClr val="tx2"/>
          </a:solidFill>
          <a:ln w="6350">
            <a:solidFill>
              <a:schemeClr val="accent6">
                <a:alpha val="45000"/>
              </a:schemeClr>
            </a:solidFill>
            <a:prstDash val="solid"/>
          </a:ln>
        </p:spPr>
      </p:sp>
      <p:sp>
        <p:nvSpPr>
          <p:cNvPr id="604064333" name="Cifra Entrenamiento: 0.3991 → 0.1136"/>
          <p:cNvSpPr txBox="1"/>
          <p:nvPr/>
        </p:nvSpPr>
        <p:spPr bwMode="auto">
          <a:xfrm>
            <a:off x="8412480" y="1783080"/>
            <a:ext cx="3017519" cy="640080"/>
          </a:xfrm>
          <a:prstGeom prst="rect">
            <a:avLst/>
          </a:prstGeom>
          <a:noFill/>
          <a:ln/>
        </p:spPr>
        <p:txBody>
          <a:bodyPr wrap="square" lIns="0" tIns="0" rIns="0" bIns="0" rtlCol="0" anchor="t"/>
          <a:lstStyle/>
          <a:p>
            <a:pPr marL="0" indent="0">
              <a:buNone/>
              <a:defRPr/>
            </a:pPr>
            <a:r>
              <a:rPr lang="en-US" sz="3800" b="1">
                <a:solidFill>
                  <a:schemeClr val="accent1"/>
                </a:solidFill>
                <a:latin typeface="Cambria"/>
                <a:ea typeface="Cambria"/>
                <a:cs typeface="Cambria"/>
              </a:rPr>
              <a:t>0.1136</a:t>
            </a:r>
            <a:endParaRPr lang="en-US" sz="3800"/>
          </a:p>
        </p:txBody>
      </p:sp>
      <p:sp>
        <p:nvSpPr>
          <p:cNvPr id="848149476" name="Rótulo Entrenamiento: 0.3991 → 0.1136"/>
          <p:cNvSpPr txBox="1"/>
          <p:nvPr/>
        </p:nvSpPr>
        <p:spPr bwMode="auto">
          <a:xfrm>
            <a:off x="8412480" y="2468880"/>
            <a:ext cx="3017519" cy="274320"/>
          </a:xfrm>
          <a:prstGeom prst="rect">
            <a:avLst/>
          </a:prstGeom>
          <a:noFill/>
          <a:ln/>
        </p:spPr>
        <p:txBody>
          <a:bodyPr wrap="square" lIns="0" tIns="0" rIns="0" bIns="0" rtlCol="0" anchor="t"/>
          <a:lstStyle/>
          <a:p>
            <a:pPr marL="0" indent="0">
              <a:buNone/>
              <a:defRPr/>
            </a:pPr>
            <a:r>
              <a:rPr lang="en-US" sz="1300">
                <a:solidFill>
                  <a:schemeClr val="bg2"/>
                </a:solidFill>
              </a:rPr>
              <a:t>Entrenamiento: 0.3991 → 0.1136</a:t>
            </a:r>
            <a:endParaRPr lang="en-US" sz="1300"/>
          </a:p>
        </p:txBody>
      </p:sp>
      <p:sp>
        <p:nvSpPr>
          <p:cNvPr id="744848645" name="Tarjeta Validación: 0.2938 → 0.1306"/>
          <p:cNvSpPr/>
          <p:nvPr/>
        </p:nvSpPr>
        <p:spPr bwMode="auto">
          <a:xfrm>
            <a:off x="8183880" y="3017519"/>
            <a:ext cx="3456432" cy="1234440"/>
          </a:xfrm>
          <a:prstGeom prst="roundRect">
            <a:avLst>
              <a:gd name="adj" fmla="val 7407"/>
            </a:avLst>
          </a:prstGeom>
          <a:solidFill>
            <a:schemeClr val="tx2"/>
          </a:solidFill>
          <a:ln w="6350">
            <a:solidFill>
              <a:schemeClr val="accent6">
                <a:alpha val="45000"/>
              </a:schemeClr>
            </a:solidFill>
            <a:prstDash val="solid"/>
          </a:ln>
        </p:spPr>
      </p:sp>
      <p:sp>
        <p:nvSpPr>
          <p:cNvPr id="154223846" name="Cifra Validación: 0.2938 → 0.1306"/>
          <p:cNvSpPr txBox="1"/>
          <p:nvPr/>
        </p:nvSpPr>
        <p:spPr bwMode="auto">
          <a:xfrm>
            <a:off x="8412480" y="3154680"/>
            <a:ext cx="3017519" cy="640080"/>
          </a:xfrm>
          <a:prstGeom prst="rect">
            <a:avLst/>
          </a:prstGeom>
          <a:noFill/>
          <a:ln/>
        </p:spPr>
        <p:txBody>
          <a:bodyPr wrap="square" lIns="0" tIns="0" rIns="0" bIns="0" rtlCol="0" anchor="t"/>
          <a:lstStyle/>
          <a:p>
            <a:pPr marL="0" indent="0">
              <a:buNone/>
              <a:defRPr/>
            </a:pPr>
            <a:r>
              <a:rPr lang="en-US" sz="3800" b="1">
                <a:solidFill>
                  <a:schemeClr val="accent2"/>
                </a:solidFill>
                <a:latin typeface="Cambria"/>
                <a:ea typeface="Cambria"/>
                <a:cs typeface="Cambria"/>
              </a:rPr>
              <a:t>0.1306</a:t>
            </a:r>
            <a:endParaRPr lang="en-US" sz="3800"/>
          </a:p>
        </p:txBody>
      </p:sp>
      <p:sp>
        <p:nvSpPr>
          <p:cNvPr id="589968775" name="Rótulo Validación: 0.2938 → 0.1306"/>
          <p:cNvSpPr txBox="1"/>
          <p:nvPr/>
        </p:nvSpPr>
        <p:spPr bwMode="auto">
          <a:xfrm>
            <a:off x="8412480" y="3840480"/>
            <a:ext cx="3017519" cy="274320"/>
          </a:xfrm>
          <a:prstGeom prst="rect">
            <a:avLst/>
          </a:prstGeom>
          <a:noFill/>
          <a:ln/>
        </p:spPr>
        <p:txBody>
          <a:bodyPr wrap="square" lIns="0" tIns="0" rIns="0" bIns="0" rtlCol="0" anchor="t"/>
          <a:lstStyle/>
          <a:p>
            <a:pPr marL="0" indent="0">
              <a:buNone/>
              <a:defRPr/>
            </a:pPr>
            <a:r>
              <a:rPr lang="en-US" sz="1300">
                <a:solidFill>
                  <a:schemeClr val="bg2"/>
                </a:solidFill>
              </a:rPr>
              <a:t>Validación: 0.2938 → 0.1306</a:t>
            </a:r>
            <a:endParaRPr lang="en-US" sz="1300"/>
          </a:p>
        </p:txBody>
      </p:sp>
      <p:sp>
        <p:nvSpPr>
          <p:cNvPr id="1265983428" name="Tarjeta lectura"/>
          <p:cNvSpPr/>
          <p:nvPr/>
        </p:nvSpPr>
        <p:spPr bwMode="auto">
          <a:xfrm>
            <a:off x="8183880" y="4389120"/>
            <a:ext cx="3456432" cy="1874520"/>
          </a:xfrm>
          <a:prstGeom prst="roundRect">
            <a:avLst>
              <a:gd name="adj" fmla="val 4878"/>
            </a:avLst>
          </a:prstGeom>
          <a:solidFill>
            <a:schemeClr val="tx2"/>
          </a:solidFill>
          <a:ln w="6350">
            <a:solidFill>
              <a:schemeClr val="accent6">
                <a:alpha val="45000"/>
              </a:schemeClr>
            </a:solidFill>
            <a:prstDash val="solid"/>
          </a:ln>
        </p:spPr>
      </p:sp>
      <p:sp>
        <p:nvSpPr>
          <p:cNvPr id="840186700" name="Texto lectura"/>
          <p:cNvSpPr txBox="1"/>
          <p:nvPr/>
        </p:nvSpPr>
        <p:spPr bwMode="auto">
          <a:xfrm>
            <a:off x="8412480" y="4389120"/>
            <a:ext cx="3017519" cy="1874520"/>
          </a:xfrm>
          <a:prstGeom prst="rect">
            <a:avLst/>
          </a:prstGeom>
          <a:noFill/>
          <a:ln/>
        </p:spPr>
        <p:txBody>
          <a:bodyPr wrap="square" lIns="0" tIns="0" rIns="0" bIns="0" rtlCol="0" anchor="ctr"/>
          <a:lstStyle/>
          <a:p>
            <a:pPr marL="0" indent="0">
              <a:buNone/>
              <a:defRPr/>
            </a:pPr>
            <a:r>
              <a:rPr lang="en-US" sz="1300">
                <a:solidFill>
                  <a:schemeClr val="bg1"/>
                </a:solidFill>
              </a:rPr>
              <a:t>Ambas pérdidas bajan: el modelo aprende. La validación sube levemente en las épocas 3 y 8. La pérdida sola no prueba la calidad de las máscaras: para eso están IoU, Dice y la inspección visual.</a:t>
            </a:r>
            <a:endParaRPr lang="en-US" sz="1300"/>
          </a:p>
        </p:txBody>
      </p:sp>
      <p:sp>
        <p:nvSpPr>
          <p:cNvPr id="649059830"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spTree>
      <p:nvGrpSpPr>
        <p:cNvPr id="1" name=""/>
        <p:cNvGrpSpPr/>
        <p:nvPr/>
      </p:nvGrpSpPr>
      <p:grpSpPr bwMode="auto">
        <a:xfrm>
          <a:off x="0" y="0"/>
          <a:ext cx="0" cy="0"/>
          <a:chOff x="0" y="0"/>
          <a:chExt cx="0" cy="0"/>
        </a:xfrm>
      </p:grpSpPr>
      <p:sp>
        <p:nvSpPr>
          <p:cNvPr id="778841195"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Rendimiento y umbral</a:t>
            </a:r>
            <a:endParaRPr lang="en-US" sz="3600"/>
          </a:p>
        </p:txBody>
      </p:sp>
      <p:sp>
        <p:nvSpPr>
          <p:cNvPr id="561949825"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5.3 · RESULTADOS · MODELO ORIGINAL</a:t>
            </a:r>
            <a:endParaRPr lang="en-US" sz="1200"/>
          </a:p>
        </p:txBody>
      </p:sp>
      <p:sp>
        <p:nvSpPr>
          <p:cNvPr id="764391991" name="Tarjeta IoU promedio · prueba (75 imágenes)"/>
          <p:cNvSpPr/>
          <p:nvPr/>
        </p:nvSpPr>
        <p:spPr bwMode="auto">
          <a:xfrm>
            <a:off x="548640" y="1645920"/>
            <a:ext cx="4023360" cy="1463040"/>
          </a:xfrm>
          <a:prstGeom prst="roundRect">
            <a:avLst>
              <a:gd name="adj" fmla="val 6250"/>
            </a:avLst>
          </a:prstGeom>
          <a:solidFill>
            <a:schemeClr val="tx2"/>
          </a:solidFill>
          <a:ln w="6350">
            <a:solidFill>
              <a:schemeClr val="accent6">
                <a:alpha val="45000"/>
              </a:schemeClr>
            </a:solidFill>
            <a:prstDash val="solid"/>
          </a:ln>
        </p:spPr>
      </p:sp>
      <p:sp>
        <p:nvSpPr>
          <p:cNvPr id="1247879268" name="Cifra IoU promedio · prueba (75 imágenes)"/>
          <p:cNvSpPr txBox="1"/>
          <p:nvPr/>
        </p:nvSpPr>
        <p:spPr bwMode="auto">
          <a:xfrm>
            <a:off x="822960" y="1783080"/>
            <a:ext cx="3474720" cy="777240"/>
          </a:xfrm>
          <a:prstGeom prst="rect">
            <a:avLst/>
          </a:prstGeom>
          <a:noFill/>
          <a:ln/>
        </p:spPr>
        <p:txBody>
          <a:bodyPr wrap="square" lIns="0" tIns="0" rIns="0" bIns="0" rtlCol="0" anchor="t"/>
          <a:lstStyle/>
          <a:p>
            <a:pPr marL="0" indent="0">
              <a:buNone/>
              <a:defRPr/>
            </a:pPr>
            <a:r>
              <a:rPr lang="en-US" sz="4800" b="1">
                <a:solidFill>
                  <a:schemeClr val="accent1"/>
                </a:solidFill>
                <a:latin typeface="Cambria"/>
                <a:ea typeface="Cambria"/>
                <a:cs typeface="Cambria"/>
              </a:rPr>
              <a:t>0.8380</a:t>
            </a:r>
            <a:endParaRPr lang="en-US" sz="4800"/>
          </a:p>
        </p:txBody>
      </p:sp>
      <p:sp>
        <p:nvSpPr>
          <p:cNvPr id="774222890" name="Rótulo IoU promedio · prueba (75 imágenes)"/>
          <p:cNvSpPr txBox="1"/>
          <p:nvPr/>
        </p:nvSpPr>
        <p:spPr bwMode="auto">
          <a:xfrm>
            <a:off x="822960" y="2606040"/>
            <a:ext cx="3474720" cy="320040"/>
          </a:xfrm>
          <a:prstGeom prst="rect">
            <a:avLst/>
          </a:prstGeom>
          <a:noFill/>
          <a:ln/>
        </p:spPr>
        <p:txBody>
          <a:bodyPr wrap="square" lIns="0" tIns="0" rIns="0" bIns="0" rtlCol="0" anchor="t"/>
          <a:lstStyle/>
          <a:p>
            <a:pPr marL="0" indent="0">
              <a:buNone/>
              <a:defRPr/>
            </a:pPr>
            <a:r>
              <a:rPr lang="en-US" sz="1300">
                <a:solidFill>
                  <a:schemeClr val="bg2"/>
                </a:solidFill>
              </a:rPr>
              <a:t>IoU promedio · prueba (75 imágenes)</a:t>
            </a:r>
            <a:endParaRPr lang="en-US" sz="1300"/>
          </a:p>
        </p:txBody>
      </p:sp>
      <p:sp>
        <p:nvSpPr>
          <p:cNvPr id="1179516148" name="Tarjeta Dice promedio · prueba (75 imágenes)"/>
          <p:cNvSpPr/>
          <p:nvPr/>
        </p:nvSpPr>
        <p:spPr bwMode="auto">
          <a:xfrm>
            <a:off x="548640" y="3246120"/>
            <a:ext cx="4023360" cy="1463040"/>
          </a:xfrm>
          <a:prstGeom prst="roundRect">
            <a:avLst>
              <a:gd name="adj" fmla="val 6250"/>
            </a:avLst>
          </a:prstGeom>
          <a:solidFill>
            <a:schemeClr val="tx2"/>
          </a:solidFill>
          <a:ln w="6350">
            <a:solidFill>
              <a:schemeClr val="accent6">
                <a:alpha val="45000"/>
              </a:schemeClr>
            </a:solidFill>
            <a:prstDash val="solid"/>
          </a:ln>
        </p:spPr>
      </p:sp>
      <p:sp>
        <p:nvSpPr>
          <p:cNvPr id="154740110" name="Cifra Dice promedio · prueba (75 imágenes)"/>
          <p:cNvSpPr txBox="1"/>
          <p:nvPr/>
        </p:nvSpPr>
        <p:spPr bwMode="auto">
          <a:xfrm>
            <a:off x="822960" y="3383280"/>
            <a:ext cx="3474720" cy="777240"/>
          </a:xfrm>
          <a:prstGeom prst="rect">
            <a:avLst/>
          </a:prstGeom>
          <a:noFill/>
          <a:ln/>
        </p:spPr>
        <p:txBody>
          <a:bodyPr wrap="square" lIns="0" tIns="0" rIns="0" bIns="0" rtlCol="0" anchor="t"/>
          <a:lstStyle/>
          <a:p>
            <a:pPr marL="0" indent="0">
              <a:buNone/>
              <a:defRPr/>
            </a:pPr>
            <a:r>
              <a:rPr lang="en-US" sz="4800" b="1">
                <a:solidFill>
                  <a:schemeClr val="accent5"/>
                </a:solidFill>
                <a:latin typeface="Cambria"/>
                <a:ea typeface="Cambria"/>
                <a:cs typeface="Cambria"/>
              </a:rPr>
              <a:t>0.9072</a:t>
            </a:r>
            <a:endParaRPr lang="en-US" sz="4800"/>
          </a:p>
        </p:txBody>
      </p:sp>
      <p:sp>
        <p:nvSpPr>
          <p:cNvPr id="501131792" name="Rótulo Dice promedio · prueba (75 imágenes)"/>
          <p:cNvSpPr txBox="1"/>
          <p:nvPr/>
        </p:nvSpPr>
        <p:spPr bwMode="auto">
          <a:xfrm>
            <a:off x="822960" y="4206240"/>
            <a:ext cx="3474720" cy="320040"/>
          </a:xfrm>
          <a:prstGeom prst="rect">
            <a:avLst/>
          </a:prstGeom>
          <a:noFill/>
          <a:ln/>
        </p:spPr>
        <p:txBody>
          <a:bodyPr wrap="square" lIns="0" tIns="0" rIns="0" bIns="0" rtlCol="0" anchor="t"/>
          <a:lstStyle/>
          <a:p>
            <a:pPr marL="0" indent="0">
              <a:buNone/>
              <a:defRPr/>
            </a:pPr>
            <a:r>
              <a:rPr lang="en-US" sz="1300">
                <a:solidFill>
                  <a:schemeClr val="bg2"/>
                </a:solidFill>
              </a:rPr>
              <a:t>Dice promedio · prueba (75 imágenes)</a:t>
            </a:r>
            <a:endParaRPr lang="en-US" sz="1300"/>
          </a:p>
        </p:txBody>
      </p:sp>
      <p:sp>
        <p:nvSpPr>
          <p:cNvPr id="1837224815" name="Tarjeta IoU promedio · validación"/>
          <p:cNvSpPr/>
          <p:nvPr/>
        </p:nvSpPr>
        <p:spPr bwMode="auto">
          <a:xfrm>
            <a:off x="548640" y="4846320"/>
            <a:ext cx="4023360" cy="1417320"/>
          </a:xfrm>
          <a:prstGeom prst="roundRect">
            <a:avLst>
              <a:gd name="adj" fmla="val 6452"/>
            </a:avLst>
          </a:prstGeom>
          <a:solidFill>
            <a:schemeClr val="tx2"/>
          </a:solidFill>
          <a:ln w="6350">
            <a:solidFill>
              <a:schemeClr val="accent6">
                <a:alpha val="45000"/>
              </a:schemeClr>
            </a:solidFill>
            <a:prstDash val="solid"/>
          </a:ln>
        </p:spPr>
      </p:sp>
      <p:sp>
        <p:nvSpPr>
          <p:cNvPr id="1405541473" name="Cifra IoU promedio · validación"/>
          <p:cNvSpPr txBox="1"/>
          <p:nvPr/>
        </p:nvSpPr>
        <p:spPr bwMode="auto">
          <a:xfrm>
            <a:off x="822960" y="4983480"/>
            <a:ext cx="3474720" cy="777240"/>
          </a:xfrm>
          <a:prstGeom prst="rect">
            <a:avLst/>
          </a:prstGeom>
          <a:noFill/>
          <a:ln/>
        </p:spPr>
        <p:txBody>
          <a:bodyPr wrap="square" lIns="0" tIns="0" rIns="0" bIns="0" rtlCol="0" anchor="t"/>
          <a:lstStyle/>
          <a:p>
            <a:pPr marL="0" indent="0">
              <a:buNone/>
              <a:defRPr/>
            </a:pPr>
            <a:r>
              <a:rPr lang="en-US" sz="4800" b="1">
                <a:solidFill>
                  <a:schemeClr val="accent4"/>
                </a:solidFill>
                <a:latin typeface="Cambria"/>
                <a:ea typeface="Cambria"/>
                <a:cs typeface="Cambria"/>
              </a:rPr>
              <a:t>0.8162</a:t>
            </a:r>
            <a:endParaRPr lang="en-US" sz="4800"/>
          </a:p>
        </p:txBody>
      </p:sp>
      <p:sp>
        <p:nvSpPr>
          <p:cNvPr id="111165361" name="Rótulo IoU promedio · validación"/>
          <p:cNvSpPr txBox="1"/>
          <p:nvPr/>
        </p:nvSpPr>
        <p:spPr bwMode="auto">
          <a:xfrm>
            <a:off x="822960" y="5806440"/>
            <a:ext cx="3474720" cy="320040"/>
          </a:xfrm>
          <a:prstGeom prst="rect">
            <a:avLst/>
          </a:prstGeom>
          <a:noFill/>
          <a:ln/>
        </p:spPr>
        <p:txBody>
          <a:bodyPr wrap="square" lIns="0" tIns="0" rIns="0" bIns="0" rtlCol="0" anchor="t"/>
          <a:lstStyle/>
          <a:p>
            <a:pPr marL="0" indent="0">
              <a:buNone/>
              <a:defRPr/>
            </a:pPr>
            <a:r>
              <a:rPr lang="en-US" sz="1300">
                <a:solidFill>
                  <a:schemeClr val="bg2"/>
                </a:solidFill>
              </a:rPr>
              <a:t>IoU promedio · validación</a:t>
            </a:r>
            <a:endParaRPr lang="en-US" sz="1300"/>
          </a:p>
        </p:txBody>
      </p:sp>
      <p:sp>
        <p:nvSpPr>
          <p:cNvPr id="2057928603" name="Rótulo tabla"/>
          <p:cNvSpPr txBox="1"/>
          <p:nvPr/>
        </p:nvSpPr>
        <p:spPr bwMode="auto">
          <a:xfrm>
            <a:off x="4937760" y="1645920"/>
            <a:ext cx="6702552" cy="274320"/>
          </a:xfrm>
          <a:prstGeom prst="rect">
            <a:avLst/>
          </a:prstGeom>
          <a:noFill/>
          <a:ln/>
        </p:spPr>
        <p:txBody>
          <a:bodyPr wrap="square" lIns="0" tIns="0" rIns="0" bIns="0" rtlCol="0" anchor="t"/>
          <a:lstStyle/>
          <a:p>
            <a:pPr marL="0" indent="0">
              <a:buNone/>
              <a:defRPr/>
            </a:pPr>
            <a:r>
              <a:rPr lang="en-US" sz="1200" b="1" spc="100">
                <a:solidFill>
                  <a:schemeClr val="accent1"/>
                </a:solidFill>
              </a:rPr>
              <a:t>UMBRAL · MODELO ORIGINAL · VALIDACIÓN</a:t>
            </a:r>
            <a:endParaRPr lang="en-US" sz="1200"/>
          </a:p>
        </p:txBody>
      </p:sp>
      <p:graphicFrame>
        <p:nvGraphicFramePr>
          <p:cNvPr id="1433079232" name="Table 0"/>
          <p:cNvGraphicFramePr>
            <a:graphicFrameLocks xmlns:a="http://schemas.openxmlformats.org/drawingml/2006/main" noGrp="1"/>
          </p:cNvGraphicFramePr>
          <p:nvPr/>
        </p:nvGraphicFramePr>
        <p:xfrm rot="0">
          <a:off x="4937760" y="2011680"/>
          <a:ext cx="6702552" cy="914400"/>
        </p:xfrm>
        <a:graphic>
          <a:graphicData uri="http://schemas.openxmlformats.org/drawingml/2006/table">
            <a:tbl>
              <a:tblPr firstRow="0" firstCol="0" lastRow="0" lastCol="0" bandRow="0" bandCol="0"/>
              <a:tblGrid>
                <a:gridCol w="1280160"/>
                <a:gridCol w="1280160"/>
                <a:gridCol w="1280160"/>
                <a:gridCol w="1371600"/>
                <a:gridCol w="1490472"/>
              </a:tblGrid>
              <a:tr h="457200">
                <a:tc>
                  <a:txBody>
                    <a:bodyPr/>
                    <a:p>
                      <a:pPr marL="0" indent="0" algn="ctr">
                        <a:buNone/>
                        <a:defRPr/>
                      </a:pPr>
                      <a:r>
                        <a:rPr lang="en-US" sz="1400" b="1">
                          <a:solidFill>
                            <a:srgbClr val="2BB38A"/>
                          </a:solidFill>
                        </a:rPr>
                        <a:t>Umbral</a:t>
                      </a:r>
                      <a:endParaRPr lang="en-US" sz="14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400" b="1">
                          <a:solidFill>
                            <a:srgbClr val="2BB38A"/>
                          </a:solidFill>
                        </a:rPr>
                        <a:t>IoU</a:t>
                      </a:r>
                      <a:endParaRPr lang="en-US" sz="14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400" b="1">
                          <a:solidFill>
                            <a:srgbClr val="2BB38A"/>
                          </a:solidFill>
                        </a:rPr>
                        <a:t>Dice</a:t>
                      </a:r>
                      <a:endParaRPr lang="en-US" sz="14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400" b="1">
                          <a:solidFill>
                            <a:srgbClr val="2BB38A"/>
                          </a:solidFill>
                        </a:rPr>
                        <a:t>Precisión</a:t>
                      </a:r>
                      <a:endParaRPr lang="en-US" sz="14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400" b="1">
                          <a:solidFill>
                            <a:srgbClr val="2BB38A"/>
                          </a:solidFill>
                        </a:rPr>
                        <a:t>Recall</a:t>
                      </a:r>
                      <a:endParaRPr lang="en-US" sz="1400"/>
                    </a:p>
                  </a:txBody>
                  <a:tcPr marL="91440" marR="91440" marT="45720" marB="45720" anchor="ctr">
                    <a:lnL w="0" algn="ctr">
                      <a:noFill/>
                    </a:lnL>
                    <a:lnR w="0" algn="ctr">
                      <a:noFill/>
                    </a:lnR>
                    <a:lnT w="0" algn="ctr">
                      <a:noFill/>
                    </a:lnT>
                    <a:lnB w="12700" algn="ctr">
                      <a:solidFill>
                        <a:srgbClr val="6B7785"/>
                      </a:solidFill>
                    </a:lnB>
                    <a:solidFill>
                      <a:srgbClr val="1A222B"/>
                    </a:solidFill>
                  </a:tcPr>
                </a:tc>
              </a:tr>
              <a:tr h="457200">
                <a:tc>
                  <a:txBody>
                    <a:bodyPr/>
                    <a:p>
                      <a:pPr marL="0" indent="0" algn="ctr">
                        <a:buNone/>
                        <a:defRPr/>
                      </a:pPr>
                      <a:r>
                        <a:rPr lang="en-US" sz="1400">
                          <a:solidFill>
                            <a:srgbClr val="9AA5B1"/>
                          </a:solidFill>
                        </a:rPr>
                        <a:t>0.3</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0.8046</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0.8815</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0.8480</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0.9399</a:t>
                      </a:r>
                      <a:endParaRPr lang="en-US" sz="1400"/>
                    </a:p>
                  </a:txBody>
                  <a:tcPr marL="91440" marR="91440" marT="45720" marB="45720" anchor="ctr">
                    <a:lnL w="0" algn="ctr">
                      <a:noFill/>
                    </a:lnL>
                    <a:lnR w="0" algn="ctr">
                      <a:noFill/>
                    </a:lnR>
                    <a:lnT w="0" algn="ctr">
                      <a:noFill/>
                    </a:lnT>
                    <a:lnB w="6350" algn="ctr">
                      <a:solidFill>
                        <a:srgbClr val="2A333D"/>
                      </a:solidFill>
                    </a:lnB>
                  </a:tcPr>
                </a:tc>
              </a:tr>
              <a:tr h="457200">
                <a:tc>
                  <a:txBody>
                    <a:bodyPr/>
                    <a:p>
                      <a:pPr marL="0" indent="0" algn="ctr">
                        <a:buNone/>
                        <a:defRPr/>
                      </a:pPr>
                      <a:r>
                        <a:rPr lang="en-US" sz="1400">
                          <a:solidFill>
                            <a:srgbClr val="9AA5B1"/>
                          </a:solidFill>
                        </a:rPr>
                        <a:t>0.4</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0.8147</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0.8892</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0.8765</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0.9186</a:t>
                      </a:r>
                      <a:endParaRPr lang="en-US" sz="1400"/>
                    </a:p>
                  </a:txBody>
                  <a:tcPr marL="91440" marR="91440" marT="45720" marB="45720" anchor="ctr">
                    <a:lnL w="0" algn="ctr">
                      <a:noFill/>
                    </a:lnL>
                    <a:lnR w="0" algn="ctr">
                      <a:noFill/>
                    </a:lnR>
                    <a:lnT w="0" algn="ctr">
                      <a:noFill/>
                    </a:lnT>
                    <a:lnB w="6350" algn="ctr">
                      <a:solidFill>
                        <a:srgbClr val="2A333D"/>
                      </a:solidFill>
                    </a:lnB>
                  </a:tcPr>
                </a:tc>
              </a:tr>
              <a:tr h="457200">
                <a:tc>
                  <a:txBody>
                    <a:bodyPr/>
                    <a:p>
                      <a:pPr marL="0" indent="0" algn="ctr">
                        <a:buNone/>
                        <a:defRPr/>
                      </a:pPr>
                      <a:r>
                        <a:rPr lang="en-US" sz="1400" b="1">
                          <a:solidFill>
                            <a:srgbClr val="F3F5F7"/>
                          </a:solidFill>
                        </a:rPr>
                        <a:t>0.5</a:t>
                      </a:r>
                      <a:endParaRPr lang="en-US" sz="1400"/>
                    </a:p>
                  </a:txBody>
                  <a:tcPr marL="91440" marR="91440" marT="45720" marB="45720" anchor="ctr">
                    <a:lnL w="0" algn="ctr">
                      <a:noFill/>
                    </a:lnL>
                    <a:lnR w="0" algn="ctr">
                      <a:noFill/>
                    </a:lnR>
                    <a:lnT w="0" algn="ctr">
                      <a:noFill/>
                    </a:lnT>
                    <a:lnB w="6350" algn="ctr">
                      <a:solidFill>
                        <a:srgbClr val="2A333D"/>
                      </a:solidFill>
                    </a:lnB>
                    <a:solidFill>
                      <a:srgbClr val="15392F"/>
                    </a:solidFill>
                  </a:tcPr>
                </a:tc>
                <a:tc>
                  <a:txBody>
                    <a:bodyPr/>
                    <a:p>
                      <a:pPr marL="0" indent="0" algn="ctr">
                        <a:buNone/>
                        <a:defRPr/>
                      </a:pPr>
                      <a:r>
                        <a:rPr lang="en-US" sz="1400" b="1">
                          <a:solidFill>
                            <a:srgbClr val="F3F5F7"/>
                          </a:solidFill>
                        </a:rPr>
                        <a:t>0.8162</a:t>
                      </a:r>
                      <a:endParaRPr lang="en-US" sz="1400"/>
                    </a:p>
                  </a:txBody>
                  <a:tcPr marL="91440" marR="91440" marT="45720" marB="45720" anchor="ctr">
                    <a:lnL w="0" algn="ctr">
                      <a:noFill/>
                    </a:lnL>
                    <a:lnR w="0" algn="ctr">
                      <a:noFill/>
                    </a:lnR>
                    <a:lnT w="0" algn="ctr">
                      <a:noFill/>
                    </a:lnT>
                    <a:lnB w="6350" algn="ctr">
                      <a:solidFill>
                        <a:srgbClr val="2A333D"/>
                      </a:solidFill>
                    </a:lnB>
                    <a:solidFill>
                      <a:srgbClr val="15392F"/>
                    </a:solidFill>
                  </a:tcPr>
                </a:tc>
                <a:tc>
                  <a:txBody>
                    <a:bodyPr/>
                    <a:p>
                      <a:pPr marL="0" indent="0" algn="ctr">
                        <a:buNone/>
                        <a:defRPr/>
                      </a:pPr>
                      <a:r>
                        <a:rPr lang="en-US" sz="1400" b="1">
                          <a:solidFill>
                            <a:srgbClr val="F3F5F7"/>
                          </a:solidFill>
                        </a:rPr>
                        <a:t>0.8910</a:t>
                      </a:r>
                      <a:endParaRPr lang="en-US" sz="1400"/>
                    </a:p>
                  </a:txBody>
                  <a:tcPr marL="91440" marR="91440" marT="45720" marB="45720" anchor="ctr">
                    <a:lnL w="0" algn="ctr">
                      <a:noFill/>
                    </a:lnL>
                    <a:lnR w="0" algn="ctr">
                      <a:noFill/>
                    </a:lnR>
                    <a:lnT w="0" algn="ctr">
                      <a:noFill/>
                    </a:lnT>
                    <a:lnB w="6350" algn="ctr">
                      <a:solidFill>
                        <a:srgbClr val="2A333D"/>
                      </a:solidFill>
                    </a:lnB>
                    <a:solidFill>
                      <a:srgbClr val="15392F"/>
                    </a:solidFill>
                  </a:tcPr>
                </a:tc>
                <a:tc>
                  <a:txBody>
                    <a:bodyPr/>
                    <a:p>
                      <a:pPr marL="0" indent="0" algn="ctr">
                        <a:buNone/>
                        <a:defRPr/>
                      </a:pPr>
                      <a:r>
                        <a:rPr lang="en-US" sz="1400" b="1">
                          <a:solidFill>
                            <a:srgbClr val="F3F5F7"/>
                          </a:solidFill>
                        </a:rPr>
                        <a:t>0.8988</a:t>
                      </a:r>
                      <a:endParaRPr lang="en-US" sz="1400"/>
                    </a:p>
                  </a:txBody>
                  <a:tcPr marL="91440" marR="91440" marT="45720" marB="45720" anchor="ctr">
                    <a:lnL w="0" algn="ctr">
                      <a:noFill/>
                    </a:lnL>
                    <a:lnR w="0" algn="ctr">
                      <a:noFill/>
                    </a:lnR>
                    <a:lnT w="0" algn="ctr">
                      <a:noFill/>
                    </a:lnT>
                    <a:lnB w="6350" algn="ctr">
                      <a:solidFill>
                        <a:srgbClr val="2A333D"/>
                      </a:solidFill>
                    </a:lnB>
                    <a:solidFill>
                      <a:srgbClr val="15392F"/>
                    </a:solidFill>
                  </a:tcPr>
                </a:tc>
                <a:tc>
                  <a:txBody>
                    <a:bodyPr/>
                    <a:p>
                      <a:pPr marL="0" indent="0" algn="ctr">
                        <a:buNone/>
                        <a:defRPr/>
                      </a:pPr>
                      <a:r>
                        <a:rPr lang="en-US" sz="1400" b="1">
                          <a:solidFill>
                            <a:srgbClr val="F3F5F7"/>
                          </a:solidFill>
                        </a:rPr>
                        <a:t>0.8965</a:t>
                      </a:r>
                      <a:endParaRPr lang="en-US" sz="1400"/>
                    </a:p>
                  </a:txBody>
                  <a:tcPr marL="91440" marR="91440" marT="45720" marB="45720" anchor="ctr">
                    <a:lnL w="0" algn="ctr">
                      <a:noFill/>
                    </a:lnL>
                    <a:lnR w="0" algn="ctr">
                      <a:noFill/>
                    </a:lnR>
                    <a:lnT w="0" algn="ctr">
                      <a:noFill/>
                    </a:lnT>
                    <a:lnB w="6350" algn="ctr">
                      <a:solidFill>
                        <a:srgbClr val="2A333D"/>
                      </a:solidFill>
                    </a:lnB>
                    <a:solidFill>
                      <a:srgbClr val="15392F"/>
                    </a:solidFill>
                  </a:tcPr>
                </a:tc>
              </a:tr>
              <a:tr h="457200">
                <a:tc>
                  <a:txBody>
                    <a:bodyPr/>
                    <a:p>
                      <a:pPr marL="0" indent="0" algn="ctr">
                        <a:buNone/>
                        <a:defRPr/>
                      </a:pPr>
                      <a:r>
                        <a:rPr lang="en-US" sz="1400">
                          <a:solidFill>
                            <a:srgbClr val="9AA5B1"/>
                          </a:solidFill>
                        </a:rPr>
                        <a:t>0.6</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0.8117</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0.8888</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0.9165</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0.8750</a:t>
                      </a:r>
                      <a:endParaRPr lang="en-US" sz="1400"/>
                    </a:p>
                  </a:txBody>
                  <a:tcPr marL="91440" marR="91440" marT="45720" marB="45720" anchor="ctr">
                    <a:lnL w="0" algn="ctr">
                      <a:noFill/>
                    </a:lnL>
                    <a:lnR w="0" algn="ctr">
                      <a:noFill/>
                    </a:lnR>
                    <a:lnT w="0" algn="ctr">
                      <a:noFill/>
                    </a:lnT>
                    <a:lnB w="6350" algn="ctr">
                      <a:solidFill>
                        <a:srgbClr val="2A333D"/>
                      </a:solidFill>
                    </a:lnB>
                  </a:tcPr>
                </a:tc>
              </a:tr>
              <a:tr h="457200">
                <a:tc>
                  <a:txBody>
                    <a:bodyPr/>
                    <a:p>
                      <a:pPr marL="0" indent="0" algn="ctr">
                        <a:buNone/>
                        <a:defRPr/>
                      </a:pPr>
                      <a:r>
                        <a:rPr lang="en-US" sz="1400">
                          <a:solidFill>
                            <a:srgbClr val="9AA5B1"/>
                          </a:solidFill>
                        </a:rPr>
                        <a:t>0.7</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0.7954</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0.8788</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0.9333</a:t>
                      </a:r>
                      <a:endParaRPr lang="en-US" sz="14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400">
                          <a:solidFill>
                            <a:srgbClr val="9AA5B1"/>
                          </a:solidFill>
                        </a:rPr>
                        <a:t>0.8430</a:t>
                      </a:r>
                      <a:endParaRPr lang="en-US" sz="1400"/>
                    </a:p>
                  </a:txBody>
                  <a:tcPr marL="91440" marR="91440" marT="45720" marB="45720" anchor="ctr">
                    <a:lnL w="0" algn="ctr">
                      <a:noFill/>
                    </a:lnL>
                    <a:lnR w="0" algn="ctr">
                      <a:noFill/>
                    </a:lnR>
                    <a:lnT w="0" algn="ctr">
                      <a:noFill/>
                    </a:lnT>
                    <a:lnB w="6350" algn="ctr">
                      <a:solidFill>
                        <a:srgbClr val="2A333D"/>
                      </a:solidFill>
                    </a:lnB>
                  </a:tcPr>
                </a:tc>
              </a:tr>
            </a:tbl>
          </a:graphicData>
        </a:graphic>
      </p:graphicFrame>
      <p:sp>
        <p:nvSpPr>
          <p:cNvPr id="903898207" name="Tarjeta lectura umbral"/>
          <p:cNvSpPr/>
          <p:nvPr/>
        </p:nvSpPr>
        <p:spPr bwMode="auto">
          <a:xfrm>
            <a:off x="4937760" y="4983480"/>
            <a:ext cx="6702552" cy="1280160"/>
          </a:xfrm>
          <a:prstGeom prst="roundRect">
            <a:avLst>
              <a:gd name="adj" fmla="val 7143"/>
            </a:avLst>
          </a:prstGeom>
          <a:solidFill>
            <a:schemeClr val="tx2"/>
          </a:solidFill>
          <a:ln w="6350">
            <a:solidFill>
              <a:schemeClr val="accent6">
                <a:alpha val="45000"/>
              </a:schemeClr>
            </a:solidFill>
            <a:prstDash val="solid"/>
          </a:ln>
        </p:spPr>
      </p:sp>
      <p:sp>
        <p:nvSpPr>
          <p:cNvPr id="399453696" name="Texto lectura umbral"/>
          <p:cNvSpPr txBox="1"/>
          <p:nvPr/>
        </p:nvSpPr>
        <p:spPr bwMode="auto">
          <a:xfrm>
            <a:off x="5166360" y="4983480"/>
            <a:ext cx="6263640" cy="1280160"/>
          </a:xfrm>
          <a:prstGeom prst="rect">
            <a:avLst/>
          </a:prstGeom>
          <a:noFill/>
          <a:ln/>
        </p:spPr>
        <p:txBody>
          <a:bodyPr wrap="square" lIns="0" tIns="0" rIns="0" bIns="0" rtlCol="0" anchor="ctr"/>
          <a:lstStyle/>
          <a:p>
            <a:pPr marL="0" indent="0">
              <a:buNone/>
              <a:defRPr/>
            </a:pPr>
            <a:r>
              <a:rPr lang="en-US" sz="1400">
                <a:solidFill>
                  <a:schemeClr val="bg1"/>
                </a:solidFill>
              </a:rPr>
              <a:t>El umbral 0.5 logra el mayor IoU. Con umbrales menores sube el recall; con mayores, la precisión: es el compromiso entre detectar más coche y no marcar fondo.</a:t>
            </a:r>
            <a:endParaRPr lang="en-US" sz="1400"/>
          </a:p>
        </p:txBody>
      </p:sp>
      <p:sp>
        <p:nvSpPr>
          <p:cNvPr id="243313514"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spTree>
      <p:nvGrpSpPr>
        <p:cNvPr id="1" name=""/>
        <p:cNvGrpSpPr/>
        <p:nvPr/>
      </p:nvGrpSpPr>
      <p:grpSpPr bwMode="auto">
        <a:xfrm>
          <a:off x="0" y="0"/>
          <a:ext cx="0" cy="0"/>
          <a:chOff x="0" y="0"/>
          <a:chExt cx="0" cy="0"/>
        </a:xfrm>
      </p:grpSpPr>
      <p:sp>
        <p:nvSpPr>
          <p:cNvPr id="1390271579"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Efecto del aumento de datos</a:t>
            </a:r>
            <a:endParaRPr lang="en-US" sz="3600"/>
          </a:p>
        </p:txBody>
      </p:sp>
      <p:sp>
        <p:nvSpPr>
          <p:cNvPr id="407735458"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5.5 · RESULTADOS · AUMENTO DE DATOS</a:t>
            </a:r>
            <a:endParaRPr lang="en-US" sz="1200"/>
          </a:p>
        </p:txBody>
      </p:sp>
      <p:sp>
        <p:nvSpPr>
          <p:cNvPr id="1088381516" name="Tarjeta ejemplo IoU"/>
          <p:cNvSpPr/>
          <p:nvPr/>
        </p:nvSpPr>
        <p:spPr bwMode="auto">
          <a:xfrm>
            <a:off x="548640" y="1645920"/>
            <a:ext cx="4754880" cy="1828800"/>
          </a:xfrm>
          <a:prstGeom prst="roundRect">
            <a:avLst>
              <a:gd name="adj" fmla="val 5000"/>
            </a:avLst>
          </a:prstGeom>
          <a:solidFill>
            <a:schemeClr val="tx2"/>
          </a:solidFill>
          <a:ln w="6350">
            <a:solidFill>
              <a:schemeClr val="accent6">
                <a:alpha val="45000"/>
              </a:schemeClr>
            </a:solidFill>
            <a:prstDash val="solid"/>
          </a:ln>
        </p:spPr>
      </p:sp>
      <p:sp>
        <p:nvSpPr>
          <p:cNvPr id="1402623059" name="Cifra ejemplo"/>
          <p:cNvSpPr txBox="1"/>
          <p:nvPr/>
        </p:nvSpPr>
        <p:spPr bwMode="auto">
          <a:xfrm>
            <a:off x="777240" y="1783080"/>
            <a:ext cx="4297680" cy="777240"/>
          </a:xfrm>
          <a:prstGeom prst="rect">
            <a:avLst/>
          </a:prstGeom>
          <a:noFill/>
          <a:ln/>
        </p:spPr>
        <p:txBody>
          <a:bodyPr wrap="square" lIns="0" tIns="0" rIns="0" bIns="0" rtlCol="0" anchor="t"/>
          <a:lstStyle/>
          <a:p>
            <a:pPr marL="0" indent="0">
              <a:buNone/>
              <a:defRPr/>
            </a:pPr>
            <a:r>
              <a:rPr lang="en-US" sz="4400" b="1">
                <a:solidFill>
                  <a:schemeClr val="accent1"/>
                </a:solidFill>
                <a:latin typeface="Cambria"/>
                <a:ea typeface="Cambria"/>
                <a:cs typeface="Cambria"/>
              </a:rPr>
              <a:t>0.665 </a:t>
            </a:r>
            <a:r>
              <a:rPr lang="en-US" sz="4400" b="1">
                <a:solidFill>
                  <a:schemeClr val="accent1"/>
                </a:solidFill>
                <a:latin typeface="Calibri"/>
                <a:ea typeface="Calibri"/>
                <a:cs typeface="Calibri"/>
              </a:rPr>
              <a:t>→ </a:t>
            </a:r>
            <a:r>
              <a:rPr lang="en-US" sz="4400" b="1">
                <a:solidFill>
                  <a:schemeClr val="accent1"/>
                </a:solidFill>
                <a:latin typeface="Cambria"/>
                <a:ea typeface="Cambria"/>
                <a:cs typeface="Cambria"/>
              </a:rPr>
              <a:t>0.719</a:t>
            </a:r>
            <a:endParaRPr lang="en-US" sz="4400"/>
          </a:p>
        </p:txBody>
      </p:sp>
      <p:sp>
        <p:nvSpPr>
          <p:cNvPr id="1263508760" name="Rótulo ejemplo"/>
          <p:cNvSpPr txBox="1"/>
          <p:nvPr/>
        </p:nvSpPr>
        <p:spPr bwMode="auto">
          <a:xfrm>
            <a:off x="777240" y="2651760"/>
            <a:ext cx="4297680" cy="640080"/>
          </a:xfrm>
          <a:prstGeom prst="rect">
            <a:avLst/>
          </a:prstGeom>
          <a:noFill/>
          <a:ln/>
        </p:spPr>
        <p:txBody>
          <a:bodyPr wrap="square" lIns="0" tIns="0" rIns="0" bIns="0" rtlCol="0" anchor="t"/>
          <a:lstStyle/>
          <a:p>
            <a:pPr marL="0" indent="0">
              <a:buNone/>
              <a:defRPr/>
            </a:pPr>
            <a:r>
              <a:rPr lang="en-US" sz="1400">
                <a:solidFill>
                  <a:schemeClr val="bg2"/>
                </a:solidFill>
              </a:rPr>
              <a:t>IoU en la misma escena: sin aumento → con aumento de datos</a:t>
            </a:r>
            <a:endParaRPr lang="en-US" sz="1400"/>
          </a:p>
        </p:txBody>
      </p:sp>
      <p:sp>
        <p:nvSpPr>
          <p:cNvPr id="1905670259" name="Tarjeta errores"/>
          <p:cNvSpPr/>
          <p:nvPr/>
        </p:nvSpPr>
        <p:spPr bwMode="auto">
          <a:xfrm>
            <a:off x="548640" y="3657600"/>
            <a:ext cx="4754880" cy="1508759"/>
          </a:xfrm>
          <a:prstGeom prst="roundRect">
            <a:avLst>
              <a:gd name="adj" fmla="val 6061"/>
            </a:avLst>
          </a:prstGeom>
          <a:solidFill>
            <a:schemeClr val="tx2"/>
          </a:solidFill>
          <a:ln w="6350">
            <a:solidFill>
              <a:schemeClr val="accent6">
                <a:alpha val="45000"/>
              </a:schemeClr>
            </a:solidFill>
            <a:prstDash val="solid"/>
          </a:ln>
        </p:spPr>
      </p:sp>
      <p:sp>
        <p:nvSpPr>
          <p:cNvPr id="2116305876" name="Texto errores"/>
          <p:cNvSpPr txBox="1"/>
          <p:nvPr/>
        </p:nvSpPr>
        <p:spPr bwMode="auto">
          <a:xfrm>
            <a:off x="777240" y="3657600"/>
            <a:ext cx="4297680" cy="1508759"/>
          </a:xfrm>
          <a:prstGeom prst="rect">
            <a:avLst/>
          </a:prstGeom>
          <a:noFill/>
          <a:ln/>
        </p:spPr>
        <p:txBody>
          <a:bodyPr wrap="square" lIns="0" tIns="0" rIns="0" bIns="0" rtlCol="0" anchor="ctr"/>
          <a:lstStyle/>
          <a:p>
            <a:pPr marL="0" indent="0">
              <a:buNone/>
              <a:defRPr/>
            </a:pPr>
            <a:r>
              <a:rPr lang="en-US" sz="1400" b="1">
                <a:solidFill>
                  <a:schemeClr val="accent2"/>
                </a:solidFill>
              </a:rPr>
              <a:t>Menos regiones rojas </a:t>
            </a:r>
            <a:r>
              <a:rPr lang="en-US" sz="1400">
                <a:solidFill>
                  <a:schemeClr val="bg1"/>
                </a:solidFill>
              </a:rPr>
              <a:t>(falsos positivos). </a:t>
            </a:r>
            <a:r>
              <a:rPr lang="en-US" sz="1400" b="1">
                <a:solidFill>
                  <a:schemeClr val="accent5"/>
                </a:solidFill>
              </a:rPr>
              <a:t>Algunas zonas azules </a:t>
            </a:r>
            <a:r>
              <a:rPr lang="en-US" sz="1400">
                <a:solidFill>
                  <a:schemeClr val="bg1"/>
                </a:solidFill>
              </a:rPr>
              <a:t>(falsos negativos) persisten o cambian de lugar.</a:t>
            </a:r>
            <a:endParaRPr lang="en-US" sz="1400"/>
          </a:p>
        </p:txBody>
      </p:sp>
      <p:sp>
        <p:nvSpPr>
          <p:cNvPr id="1700160154" name="Tarjeta advertencia"/>
          <p:cNvSpPr/>
          <p:nvPr/>
        </p:nvSpPr>
        <p:spPr bwMode="auto">
          <a:xfrm>
            <a:off x="548640" y="5349240"/>
            <a:ext cx="4754880" cy="914400"/>
          </a:xfrm>
          <a:prstGeom prst="roundRect">
            <a:avLst>
              <a:gd name="adj" fmla="val 10000"/>
            </a:avLst>
          </a:prstGeom>
          <a:solidFill>
            <a:schemeClr val="tx2"/>
          </a:solidFill>
          <a:ln w="6350">
            <a:solidFill>
              <a:schemeClr val="accent6">
                <a:alpha val="45000"/>
              </a:schemeClr>
            </a:solidFill>
            <a:prstDash val="solid"/>
          </a:ln>
        </p:spPr>
      </p:sp>
      <p:sp>
        <p:nvSpPr>
          <p:cNvPr id="924671224" name="Texto advertencia"/>
          <p:cNvSpPr txBox="1"/>
          <p:nvPr/>
        </p:nvSpPr>
        <p:spPr bwMode="auto">
          <a:xfrm>
            <a:off x="777240" y="5349240"/>
            <a:ext cx="4297680" cy="914400"/>
          </a:xfrm>
          <a:prstGeom prst="rect">
            <a:avLst/>
          </a:prstGeom>
          <a:noFill/>
          <a:ln/>
        </p:spPr>
        <p:txBody>
          <a:bodyPr wrap="square" lIns="0" tIns="0" rIns="0" bIns="0" rtlCol="0" anchor="ctr"/>
          <a:lstStyle/>
          <a:p>
            <a:pPr marL="0" indent="0">
              <a:buNone/>
              <a:defRPr/>
            </a:pPr>
            <a:r>
              <a:rPr lang="en-US" sz="1400" b="1">
                <a:solidFill>
                  <a:schemeClr val="accent4"/>
                </a:solidFill>
              </a:rPr>
              <a:t>Es una sola imagen: no demuestra una mejora global.</a:t>
            </a:r>
            <a:endParaRPr lang="en-US" sz="1400"/>
          </a:p>
        </p:txBody>
      </p:sp>
      <p:sp>
        <p:nvSpPr>
          <p:cNvPr id="1927545812" name="Marcador imagen comparativa"/>
          <p:cNvSpPr/>
          <p:nvPr/>
        </p:nvSpPr>
        <p:spPr bwMode="auto">
          <a:xfrm>
            <a:off x="5623560" y="1645920"/>
            <a:ext cx="6016752" cy="2148840"/>
          </a:xfrm>
          <a:prstGeom prst="roundRect">
            <a:avLst>
              <a:gd name="adj" fmla="val 4255"/>
            </a:avLst>
          </a:prstGeom>
          <a:solidFill>
            <a:schemeClr val="accent4">
              <a:alpha val="7999"/>
            </a:schemeClr>
          </a:solidFill>
          <a:ln w="15875">
            <a:solidFill>
              <a:schemeClr val="accent4"/>
            </a:solidFill>
            <a:prstDash val="dash"/>
          </a:ln>
        </p:spPr>
      </p:sp>
      <p:sp>
        <p:nvSpPr>
          <p:cNvPr id="1231652378" name="Texto Marcador imagen comparativa"/>
          <p:cNvSpPr txBox="1"/>
          <p:nvPr/>
        </p:nvSpPr>
        <p:spPr bwMode="auto">
          <a:xfrm>
            <a:off x="5852160" y="1828800"/>
            <a:ext cx="5559552" cy="1783080"/>
          </a:xfrm>
          <a:prstGeom prst="rect">
            <a:avLst/>
          </a:prstGeom>
          <a:noFill/>
          <a:ln/>
        </p:spPr>
        <p:txBody>
          <a:bodyPr wrap="square" lIns="0" tIns="0" rIns="0" bIns="0" rtlCol="0" anchor="ctr"/>
          <a:lstStyle/>
          <a:p>
            <a:pPr marL="0" indent="0" algn="l">
              <a:buNone/>
              <a:defRPr/>
            </a:pPr>
            <a:r>
              <a:rPr lang="en-US" sz="1200" b="1" spc="200">
                <a:solidFill>
                  <a:schemeClr val="accent4"/>
                </a:solidFill>
              </a:rPr>
              <a:t>PENDIENTE</a:t>
            </a:r>
            <a:endParaRPr lang="en-US" sz="1400"/>
          </a:p>
          <a:p>
            <a:pPr marL="0" indent="0" algn="l">
              <a:buNone/>
              <a:defRPr/>
            </a:pPr>
            <a:r>
              <a:rPr lang="en-US" sz="1400">
                <a:solidFill>
                  <a:schemeClr val="bg1"/>
                </a:solidFill>
              </a:rPr>
              <a:t>Insertar comparación visual: original · máscara real · sin aumento · con aumento.</a:t>
            </a:r>
            <a:endParaRPr lang="en-US" sz="1400"/>
          </a:p>
        </p:txBody>
      </p:sp>
      <p:sp>
        <p:nvSpPr>
          <p:cNvPr id="1925293962" name="Rótulo tabla comparativa"/>
          <p:cNvSpPr txBox="1"/>
          <p:nvPr/>
        </p:nvSpPr>
        <p:spPr bwMode="auto">
          <a:xfrm>
            <a:off x="5623560" y="4023360"/>
            <a:ext cx="6016752" cy="274320"/>
          </a:xfrm>
          <a:prstGeom prst="rect">
            <a:avLst/>
          </a:prstGeom>
          <a:noFill/>
          <a:ln/>
        </p:spPr>
        <p:txBody>
          <a:bodyPr wrap="square" lIns="0" tIns="0" rIns="0" bIns="0" rtlCol="0" anchor="t"/>
          <a:lstStyle/>
          <a:p>
            <a:pPr marL="0" indent="0">
              <a:buNone/>
              <a:defRPr/>
            </a:pPr>
            <a:r>
              <a:rPr lang="en-US" sz="1200" b="1" spc="100">
                <a:solidFill>
                  <a:schemeClr val="accent1"/>
                </a:solidFill>
              </a:rPr>
              <a:t>PROMEDIO EN VALIDACIÓN (75 IMÁGENES, UMBRAL 0.5)</a:t>
            </a:r>
            <a:endParaRPr lang="en-US" sz="1200"/>
          </a:p>
        </p:txBody>
      </p:sp>
      <p:graphicFrame>
        <p:nvGraphicFramePr>
          <p:cNvPr id="1508098969" name="Table 0"/>
          <p:cNvGraphicFramePr>
            <a:graphicFrameLocks xmlns:a="http://schemas.openxmlformats.org/drawingml/2006/main" noGrp="1"/>
          </p:cNvGraphicFramePr>
          <p:nvPr/>
        </p:nvGraphicFramePr>
        <p:xfrm rot="0">
          <a:off x="5623560" y="4389120"/>
          <a:ext cx="6016752" cy="914400"/>
        </p:xfrm>
        <a:graphic>
          <a:graphicData uri="http://schemas.openxmlformats.org/drawingml/2006/table">
            <a:tbl>
              <a:tblPr firstRow="0" firstCol="0" lastRow="0" lastCol="0" bandRow="0" bandCol="0"/>
              <a:tblGrid>
                <a:gridCol w="1554480"/>
                <a:gridCol w="1005840"/>
                <a:gridCol w="1005840"/>
                <a:gridCol w="1261872"/>
                <a:gridCol w="1188720"/>
              </a:tblGrid>
              <a:tr h="457200">
                <a:tc>
                  <a:txBody>
                    <a:bodyPr/>
                    <a:p>
                      <a:pPr marL="0" indent="0" algn="l">
                        <a:buNone/>
                        <a:defRPr/>
                      </a:pPr>
                      <a:r>
                        <a:rPr lang="en-US" sz="1300" b="1">
                          <a:solidFill>
                            <a:srgbClr val="2BB38A"/>
                          </a:solidFill>
                        </a:rPr>
                        <a:t>Modelo</a:t>
                      </a:r>
                      <a:endParaRPr lang="en-US" sz="13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300" b="1">
                          <a:solidFill>
                            <a:srgbClr val="2BB38A"/>
                          </a:solidFill>
                        </a:rPr>
                        <a:t>IoU</a:t>
                      </a:r>
                      <a:endParaRPr lang="en-US" sz="13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300" b="1">
                          <a:solidFill>
                            <a:srgbClr val="2BB38A"/>
                          </a:solidFill>
                        </a:rPr>
                        <a:t>Dice</a:t>
                      </a:r>
                      <a:endParaRPr lang="en-US" sz="13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300" b="1">
                          <a:solidFill>
                            <a:srgbClr val="2BB38A"/>
                          </a:solidFill>
                        </a:rPr>
                        <a:t>Precisión</a:t>
                      </a:r>
                      <a:endParaRPr lang="en-US" sz="1300"/>
                    </a:p>
                  </a:txBody>
                  <a:tcPr marL="91440" marR="91440" marT="45720" marB="45720" anchor="ctr">
                    <a:lnL w="0" algn="ctr">
                      <a:noFill/>
                    </a:lnL>
                    <a:lnR w="0" algn="ctr">
                      <a:noFill/>
                    </a:lnR>
                    <a:lnT w="0" algn="ctr">
                      <a:noFill/>
                    </a:lnT>
                    <a:lnB w="12700" algn="ctr">
                      <a:solidFill>
                        <a:srgbClr val="6B7785"/>
                      </a:solidFill>
                    </a:lnB>
                    <a:solidFill>
                      <a:srgbClr val="1A222B"/>
                    </a:solidFill>
                  </a:tcPr>
                </a:tc>
                <a:tc>
                  <a:txBody>
                    <a:bodyPr/>
                    <a:p>
                      <a:pPr marL="0" indent="0" algn="ctr">
                        <a:buNone/>
                        <a:defRPr/>
                      </a:pPr>
                      <a:r>
                        <a:rPr lang="en-US" sz="1300" b="1">
                          <a:solidFill>
                            <a:srgbClr val="2BB38A"/>
                          </a:solidFill>
                        </a:rPr>
                        <a:t>Recall</a:t>
                      </a:r>
                      <a:endParaRPr lang="en-US" sz="1300"/>
                    </a:p>
                  </a:txBody>
                  <a:tcPr marL="91440" marR="91440" marT="45720" marB="45720" anchor="ctr">
                    <a:lnL w="0" algn="ctr">
                      <a:noFill/>
                    </a:lnL>
                    <a:lnR w="0" algn="ctr">
                      <a:noFill/>
                    </a:lnR>
                    <a:lnT w="0" algn="ctr">
                      <a:noFill/>
                    </a:lnT>
                    <a:lnB w="12700" algn="ctr">
                      <a:solidFill>
                        <a:srgbClr val="6B7785"/>
                      </a:solidFill>
                    </a:lnB>
                    <a:solidFill>
                      <a:srgbClr val="1A222B"/>
                    </a:solidFill>
                  </a:tcPr>
                </a:tc>
              </a:tr>
              <a:tr h="457200">
                <a:tc>
                  <a:txBody>
                    <a:bodyPr/>
                    <a:p>
                      <a:pPr marL="0" indent="0" algn="l">
                        <a:buNone/>
                        <a:defRPr/>
                      </a:pPr>
                      <a:r>
                        <a:rPr lang="en-US" sz="1300" b="1">
                          <a:solidFill>
                            <a:srgbClr val="F3F5F7"/>
                          </a:solidFill>
                        </a:rPr>
                        <a:t>Sin aumento</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a:solidFill>
                            <a:srgbClr val="F3F5F7"/>
                          </a:solidFill>
                        </a:rPr>
                        <a:t>0.8162</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a:solidFill>
                            <a:srgbClr val="F3F5F7"/>
                          </a:solidFill>
                        </a:rPr>
                        <a:t>0.8910</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a:solidFill>
                            <a:srgbClr val="F3F5F7"/>
                          </a:solidFill>
                        </a:rPr>
                        <a:t>0.8988</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a:solidFill>
                            <a:srgbClr val="F3F5F7"/>
                          </a:solidFill>
                        </a:rPr>
                        <a:t>0.8965</a:t>
                      </a:r>
                      <a:endParaRPr lang="en-US" sz="1300"/>
                    </a:p>
                  </a:txBody>
                  <a:tcPr marL="91440" marR="91440" marT="45720" marB="45720" anchor="ctr">
                    <a:lnL w="0" algn="ctr">
                      <a:noFill/>
                    </a:lnL>
                    <a:lnR w="0" algn="ctr">
                      <a:noFill/>
                    </a:lnR>
                    <a:lnT w="0" algn="ctr">
                      <a:noFill/>
                    </a:lnT>
                    <a:lnB w="6350" algn="ctr">
                      <a:solidFill>
                        <a:srgbClr val="2A333D"/>
                      </a:solidFill>
                    </a:lnB>
                  </a:tcPr>
                </a:tc>
              </a:tr>
              <a:tr h="457200">
                <a:tc>
                  <a:txBody>
                    <a:bodyPr/>
                    <a:p>
                      <a:pPr marL="0" indent="0" algn="l">
                        <a:buNone/>
                        <a:defRPr/>
                      </a:pPr>
                      <a:r>
                        <a:rPr lang="en-US" sz="1300" b="1">
                          <a:solidFill>
                            <a:srgbClr val="F3F5F7"/>
                          </a:solidFill>
                        </a:rPr>
                        <a:t>Con aumento</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b="1">
                          <a:solidFill>
                            <a:srgbClr val="E9A23B"/>
                          </a:solidFill>
                        </a:rPr>
                        <a:t>pendiente</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b="1">
                          <a:solidFill>
                            <a:srgbClr val="E9A23B"/>
                          </a:solidFill>
                        </a:rPr>
                        <a:t>pendiente</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b="1">
                          <a:solidFill>
                            <a:srgbClr val="E9A23B"/>
                          </a:solidFill>
                        </a:rPr>
                        <a:t>pendiente</a:t>
                      </a:r>
                      <a:endParaRPr lang="en-US" sz="1300"/>
                    </a:p>
                  </a:txBody>
                  <a:tcPr marL="91440" marR="91440" marT="45720" marB="45720" anchor="ctr">
                    <a:lnL w="0" algn="ctr">
                      <a:noFill/>
                    </a:lnL>
                    <a:lnR w="0" algn="ctr">
                      <a:noFill/>
                    </a:lnR>
                    <a:lnT w="0" algn="ctr">
                      <a:noFill/>
                    </a:lnT>
                    <a:lnB w="6350" algn="ctr">
                      <a:solidFill>
                        <a:srgbClr val="2A333D"/>
                      </a:solidFill>
                    </a:lnB>
                  </a:tcPr>
                </a:tc>
                <a:tc>
                  <a:txBody>
                    <a:bodyPr/>
                    <a:p>
                      <a:pPr marL="0" indent="0" algn="ctr">
                        <a:buNone/>
                        <a:defRPr/>
                      </a:pPr>
                      <a:r>
                        <a:rPr lang="en-US" sz="1300" b="1">
                          <a:solidFill>
                            <a:srgbClr val="E9A23B"/>
                          </a:solidFill>
                        </a:rPr>
                        <a:t>pendiente</a:t>
                      </a:r>
                      <a:endParaRPr lang="en-US" sz="1300"/>
                    </a:p>
                  </a:txBody>
                  <a:tcPr marL="91440" marR="91440" marT="45720" marB="45720" anchor="ctr">
                    <a:lnL w="0" algn="ctr">
                      <a:noFill/>
                    </a:lnL>
                    <a:lnR w="0" algn="ctr">
                      <a:noFill/>
                    </a:lnR>
                    <a:lnT w="0" algn="ctr">
                      <a:noFill/>
                    </a:lnT>
                    <a:lnB w="6350" algn="ctr">
                      <a:solidFill>
                        <a:srgbClr val="2A333D"/>
                      </a:solidFill>
                    </a:lnB>
                  </a:tcPr>
                </a:tc>
              </a:tr>
            </a:tbl>
          </a:graphicData>
        </a:graphic>
      </p:graphicFrame>
      <p:sp>
        <p:nvSpPr>
          <p:cNvPr id="1319065902"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spTree>
      <p:nvGrpSpPr>
        <p:cNvPr id="1" name=""/>
        <p:cNvGrpSpPr/>
        <p:nvPr/>
      </p:nvGrpSpPr>
      <p:grpSpPr bwMode="auto">
        <a:xfrm>
          <a:off x="0" y="0"/>
          <a:ext cx="0" cy="0"/>
          <a:chOff x="0" y="0"/>
          <a:chExt cx="0" cy="0"/>
        </a:xfrm>
      </p:grpSpPr>
      <p:sp>
        <p:nvSpPr>
          <p:cNvPr id="2099514903"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Qué indican los resultados</a:t>
            </a:r>
            <a:endParaRPr lang="en-US" sz="3600"/>
          </a:p>
        </p:txBody>
      </p:sp>
      <p:sp>
        <p:nvSpPr>
          <p:cNvPr id="309334609"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6.1 · DISCUSIÓN · INTERPRETACIÓN</a:t>
            </a:r>
            <a:endParaRPr lang="en-US" sz="1200"/>
          </a:p>
        </p:txBody>
      </p:sp>
      <p:sp>
        <p:nvSpPr>
          <p:cNvPr id="788805774" name="Tarjeta interpretación"/>
          <p:cNvSpPr/>
          <p:nvPr/>
        </p:nvSpPr>
        <p:spPr bwMode="auto">
          <a:xfrm>
            <a:off x="548640" y="1645920"/>
            <a:ext cx="5394960" cy="4617720"/>
          </a:xfrm>
          <a:prstGeom prst="roundRect">
            <a:avLst>
              <a:gd name="adj" fmla="val 1980"/>
            </a:avLst>
          </a:prstGeom>
          <a:solidFill>
            <a:schemeClr val="tx2"/>
          </a:solidFill>
          <a:ln w="6350">
            <a:solidFill>
              <a:schemeClr val="accent6">
                <a:alpha val="45000"/>
              </a:schemeClr>
            </a:solidFill>
            <a:prstDash val="solid"/>
          </a:ln>
        </p:spPr>
      </p:sp>
      <p:sp>
        <p:nvSpPr>
          <p:cNvPr id="608599999" name="Rótulo interpretación"/>
          <p:cNvSpPr txBox="1"/>
          <p:nvPr/>
        </p:nvSpPr>
        <p:spPr bwMode="auto">
          <a:xfrm>
            <a:off x="777240" y="1828800"/>
            <a:ext cx="4937760" cy="274320"/>
          </a:xfrm>
          <a:prstGeom prst="rect">
            <a:avLst/>
          </a:prstGeom>
          <a:noFill/>
          <a:ln/>
        </p:spPr>
        <p:txBody>
          <a:bodyPr wrap="square" lIns="0" tIns="0" rIns="0" bIns="0" rtlCol="0" anchor="t"/>
          <a:lstStyle/>
          <a:p>
            <a:pPr marL="0" indent="0">
              <a:buNone/>
              <a:defRPr/>
            </a:pPr>
            <a:r>
              <a:rPr lang="en-US" sz="1200" b="1" spc="100">
                <a:solidFill>
                  <a:schemeClr val="accent1"/>
                </a:solidFill>
              </a:rPr>
              <a:t>EL MODELO ORIGINAL</a:t>
            </a:r>
            <a:endParaRPr lang="en-US" sz="1200"/>
          </a:p>
        </p:txBody>
      </p:sp>
      <p:sp>
        <p:nvSpPr>
          <p:cNvPr id="383197052" name="Texto interpretación"/>
          <p:cNvSpPr txBox="1"/>
          <p:nvPr/>
        </p:nvSpPr>
        <p:spPr bwMode="auto">
          <a:xfrm>
            <a:off x="777240" y="2240280"/>
            <a:ext cx="4937760" cy="3840480"/>
          </a:xfrm>
          <a:prstGeom prst="rect">
            <a:avLst/>
          </a:prstGeom>
          <a:noFill/>
          <a:ln/>
        </p:spPr>
        <p:txBody>
          <a:bodyPr wrap="square" lIns="0" tIns="0" rIns="0" bIns="0" rtlCol="0" anchor="t"/>
          <a:lstStyle/>
          <a:p>
            <a:pPr marL="342900" indent="-342900">
              <a:spcAft>
                <a:spcPts val="1600"/>
              </a:spcAft>
              <a:buSzPct val="100000"/>
              <a:buChar char="•"/>
              <a:defRPr/>
            </a:pPr>
            <a:r>
              <a:rPr lang="en-US" sz="1700">
                <a:solidFill>
                  <a:schemeClr val="bg1"/>
                </a:solidFill>
              </a:rPr>
              <a:t>La pérdida baja de forma progresiva en entrenamiento y validación.</a:t>
            </a:r>
            <a:endParaRPr lang="en-US" sz="1700"/>
          </a:p>
          <a:p>
            <a:pPr marL="342900" indent="-342900">
              <a:spcAft>
                <a:spcPts val="1600"/>
              </a:spcAft>
              <a:buSzPct val="100000"/>
              <a:buChar char="•"/>
              <a:defRPr/>
            </a:pPr>
            <a:r>
              <a:rPr lang="en-US" sz="1700">
                <a:solidFill>
                  <a:schemeClr val="bg1"/>
                </a:solidFill>
              </a:rPr>
              <a:t>IoU 0.8380 y Dice 0.9072 en prueba: la arquitectura es funcional y una base experimental prometedora.</a:t>
            </a:r>
            <a:endParaRPr lang="en-US" sz="1700"/>
          </a:p>
          <a:p>
            <a:pPr marL="342900" indent="-342900">
              <a:spcAft>
                <a:spcPts val="1600"/>
              </a:spcAft>
              <a:buSzPct val="100000"/>
              <a:buChar char="•"/>
              <a:defRPr/>
            </a:pPr>
            <a:r>
              <a:rPr lang="en-US" sz="1700">
                <a:solidFill>
                  <a:schemeClr val="bg1"/>
                </a:solidFill>
              </a:rPr>
              <a:t>Identifica gran parte de los coches, pero puede perder zonas o marcar entorno como coche.</a:t>
            </a:r>
            <a:endParaRPr lang="en-US" sz="1700"/>
          </a:p>
          <a:p>
            <a:pPr marL="342900" indent="-342900">
              <a:spcAft>
                <a:spcPts val="1600"/>
              </a:spcAft>
              <a:buSzPct val="100000"/>
              <a:buChar char="•"/>
              <a:defRPr/>
            </a:pPr>
            <a:r>
              <a:rPr lang="en-US" sz="1700">
                <a:solidFill>
                  <a:schemeClr val="bg1"/>
                </a:solidFill>
              </a:rPr>
              <a:t>No segmenta todo perfectamente ni garantiza el mismo rendimiento en imágenes muy distintas.</a:t>
            </a:r>
            <a:endParaRPr lang="en-US" sz="1700"/>
          </a:p>
        </p:txBody>
      </p:sp>
      <p:sp>
        <p:nvSpPr>
          <p:cNvPr id="339254085" name="Tarjeta aumento"/>
          <p:cNvSpPr/>
          <p:nvPr/>
        </p:nvSpPr>
        <p:spPr bwMode="auto">
          <a:xfrm>
            <a:off x="6217920" y="1645920"/>
            <a:ext cx="5422392" cy="4617720"/>
          </a:xfrm>
          <a:prstGeom prst="roundRect">
            <a:avLst>
              <a:gd name="adj" fmla="val 1980"/>
            </a:avLst>
          </a:prstGeom>
          <a:solidFill>
            <a:schemeClr val="tx2"/>
          </a:solidFill>
          <a:ln w="6350">
            <a:solidFill>
              <a:schemeClr val="accent6">
                <a:alpha val="45000"/>
              </a:schemeClr>
            </a:solidFill>
            <a:prstDash val="solid"/>
          </a:ln>
        </p:spPr>
      </p:sp>
      <p:sp>
        <p:nvSpPr>
          <p:cNvPr id="451679815" name="Rótulo aumento"/>
          <p:cNvSpPr txBox="1"/>
          <p:nvPr/>
        </p:nvSpPr>
        <p:spPr bwMode="auto">
          <a:xfrm>
            <a:off x="6446520" y="1828800"/>
            <a:ext cx="4937760" cy="274320"/>
          </a:xfrm>
          <a:prstGeom prst="rect">
            <a:avLst/>
          </a:prstGeom>
          <a:noFill/>
          <a:ln/>
        </p:spPr>
        <p:txBody>
          <a:bodyPr wrap="square" lIns="0" tIns="0" rIns="0" bIns="0" rtlCol="0" anchor="t"/>
          <a:lstStyle/>
          <a:p>
            <a:pPr marL="0" indent="0">
              <a:buNone/>
              <a:defRPr/>
            </a:pPr>
            <a:r>
              <a:rPr lang="en-US" sz="1200" b="1" spc="100">
                <a:solidFill>
                  <a:schemeClr val="accent1"/>
                </a:solidFill>
              </a:rPr>
              <a:t>¿FUNCIONÓ EL AUMENTO DE DATOS?</a:t>
            </a:r>
            <a:endParaRPr lang="en-US" sz="1200"/>
          </a:p>
        </p:txBody>
      </p:sp>
      <p:sp>
        <p:nvSpPr>
          <p:cNvPr id="416080252" name="Bloque sustentado"/>
          <p:cNvSpPr/>
          <p:nvPr/>
        </p:nvSpPr>
        <p:spPr bwMode="auto">
          <a:xfrm>
            <a:off x="6446520" y="2240280"/>
            <a:ext cx="4965192" cy="1600200"/>
          </a:xfrm>
          <a:prstGeom prst="roundRect">
            <a:avLst>
              <a:gd name="adj" fmla="val 5714"/>
            </a:avLst>
          </a:prstGeom>
          <a:solidFill>
            <a:schemeClr val="tx1"/>
          </a:solidFill>
          <a:ln w="6350">
            <a:solidFill>
              <a:schemeClr val="accent6">
                <a:alpha val="45000"/>
              </a:schemeClr>
            </a:solidFill>
            <a:prstDash val="solid"/>
          </a:ln>
        </p:spPr>
      </p:sp>
      <p:sp>
        <p:nvSpPr>
          <p:cNvPr id="435462465" name="Círculo sustentado"/>
          <p:cNvSpPr/>
          <p:nvPr/>
        </p:nvSpPr>
        <p:spPr bwMode="auto">
          <a:xfrm>
            <a:off x="6629400" y="2788920"/>
            <a:ext cx="502920" cy="502920"/>
          </a:xfrm>
          <a:prstGeom prst="ellipse">
            <a:avLst/>
          </a:prstGeom>
          <a:solidFill>
            <a:schemeClr val="accent1">
              <a:alpha val="20000"/>
            </a:schemeClr>
          </a:solidFill>
          <a:ln/>
        </p:spPr>
      </p:sp>
      <p:pic>
        <p:nvPicPr>
          <p:cNvPr id="1807494195" name="Image 0" descr="Icono sustentado"/>
          <p:cNvPicPr>
            <a:picLocks noChangeAspect="1"/>
          </p:cNvPicPr>
          <p:nvPr/>
        </p:nvPicPr>
        <p:blipFill rotWithShape="1">
          <a:blip r:embed="rId3"/>
          <a:stretch/>
        </p:blipFill>
        <p:spPr bwMode="auto">
          <a:xfrm>
            <a:off x="6740042" y="2899562"/>
            <a:ext cx="281635" cy="281635"/>
          </a:xfrm>
          <a:prstGeom prst="rect">
            <a:avLst/>
          </a:prstGeom>
        </p:spPr>
      </p:pic>
      <p:sp>
        <p:nvSpPr>
          <p:cNvPr id="1873669374" name="Texto sustentado"/>
          <p:cNvSpPr txBox="1"/>
          <p:nvPr/>
        </p:nvSpPr>
        <p:spPr bwMode="auto">
          <a:xfrm>
            <a:off x="7315200" y="2331720"/>
            <a:ext cx="3977640" cy="1417320"/>
          </a:xfrm>
          <a:prstGeom prst="rect">
            <a:avLst/>
          </a:prstGeom>
          <a:noFill/>
          <a:ln/>
        </p:spPr>
        <p:txBody>
          <a:bodyPr wrap="square" lIns="0" tIns="0" rIns="0" bIns="0" rtlCol="0" anchor="ctr"/>
          <a:lstStyle/>
          <a:p>
            <a:pPr marL="0" indent="0">
              <a:spcAft>
                <a:spcPts val="300"/>
              </a:spcAft>
              <a:buNone/>
              <a:defRPr/>
            </a:pPr>
            <a:r>
              <a:rPr lang="en-US" sz="1500" b="1">
                <a:solidFill>
                  <a:schemeClr val="accent1"/>
                </a:solidFill>
              </a:rPr>
              <a:t>Sustentado</a:t>
            </a:r>
            <a:endParaRPr lang="en-US" sz="1400"/>
          </a:p>
          <a:p>
            <a:pPr marL="0" indent="0">
              <a:spcAft>
                <a:spcPts val="300"/>
              </a:spcAft>
              <a:buNone/>
              <a:defRPr/>
            </a:pPr>
            <a:r>
              <a:rPr lang="en-US" sz="1400">
                <a:solidFill>
                  <a:schemeClr val="bg1"/>
                </a:solidFill>
              </a:rPr>
              <a:t>IoU de 0.665 a 0.719 en una escena, con menos falsos positivos.</a:t>
            </a:r>
            <a:endParaRPr lang="en-US" sz="1400"/>
          </a:p>
        </p:txBody>
      </p:sp>
      <p:sp>
        <p:nvSpPr>
          <p:cNvPr id="467841761" name="Bloque pendiente"/>
          <p:cNvSpPr/>
          <p:nvPr/>
        </p:nvSpPr>
        <p:spPr bwMode="auto">
          <a:xfrm>
            <a:off x="6446520" y="4023360"/>
            <a:ext cx="4965192" cy="1600200"/>
          </a:xfrm>
          <a:prstGeom prst="roundRect">
            <a:avLst>
              <a:gd name="adj" fmla="val 5714"/>
            </a:avLst>
          </a:prstGeom>
          <a:solidFill>
            <a:schemeClr val="tx1"/>
          </a:solidFill>
          <a:ln w="6350">
            <a:solidFill>
              <a:schemeClr val="accent6">
                <a:alpha val="45000"/>
              </a:schemeClr>
            </a:solidFill>
            <a:prstDash val="solid"/>
          </a:ln>
        </p:spPr>
      </p:sp>
      <p:sp>
        <p:nvSpPr>
          <p:cNvPr id="1552297176" name="Círculo pendiente"/>
          <p:cNvSpPr/>
          <p:nvPr/>
        </p:nvSpPr>
        <p:spPr bwMode="auto">
          <a:xfrm>
            <a:off x="6629400" y="4572000"/>
            <a:ext cx="502920" cy="502920"/>
          </a:xfrm>
          <a:prstGeom prst="ellipse">
            <a:avLst/>
          </a:prstGeom>
          <a:solidFill>
            <a:schemeClr val="accent4">
              <a:alpha val="20000"/>
            </a:schemeClr>
          </a:solidFill>
          <a:ln/>
        </p:spPr>
      </p:sp>
      <p:pic>
        <p:nvPicPr>
          <p:cNvPr id="2037266814" name="Image 1" descr="Icono pendiente"/>
          <p:cNvPicPr>
            <a:picLocks noChangeAspect="1"/>
          </p:cNvPicPr>
          <p:nvPr/>
        </p:nvPicPr>
        <p:blipFill rotWithShape="1">
          <a:blip r:embed="rId4"/>
          <a:stretch/>
        </p:blipFill>
        <p:spPr bwMode="auto">
          <a:xfrm>
            <a:off x="6740042" y="4682642"/>
            <a:ext cx="281635" cy="281635"/>
          </a:xfrm>
          <a:prstGeom prst="rect">
            <a:avLst/>
          </a:prstGeom>
        </p:spPr>
      </p:pic>
      <p:sp>
        <p:nvSpPr>
          <p:cNvPr id="179914079" name="Texto pendiente"/>
          <p:cNvSpPr txBox="1"/>
          <p:nvPr/>
        </p:nvSpPr>
        <p:spPr bwMode="auto">
          <a:xfrm>
            <a:off x="7315200" y="4114800"/>
            <a:ext cx="3977640" cy="1417320"/>
          </a:xfrm>
          <a:prstGeom prst="rect">
            <a:avLst/>
          </a:prstGeom>
          <a:noFill/>
          <a:ln/>
        </p:spPr>
        <p:txBody>
          <a:bodyPr wrap="square" lIns="0" tIns="0" rIns="0" bIns="0" rtlCol="0" anchor="ctr"/>
          <a:lstStyle/>
          <a:p>
            <a:pPr marL="0" indent="0">
              <a:spcAft>
                <a:spcPts val="300"/>
              </a:spcAft>
              <a:buNone/>
              <a:defRPr/>
            </a:pPr>
            <a:r>
              <a:rPr lang="en-US" sz="1500" b="1">
                <a:solidFill>
                  <a:schemeClr val="accent4"/>
                </a:solidFill>
              </a:rPr>
              <a:t>Pendiente</a:t>
            </a:r>
            <a:endParaRPr lang="en-US" sz="1400"/>
          </a:p>
          <a:p>
            <a:pPr marL="0" indent="0">
              <a:spcAft>
                <a:spcPts val="300"/>
              </a:spcAft>
              <a:buNone/>
              <a:defRPr/>
            </a:pPr>
            <a:r>
              <a:rPr lang="en-US" sz="1400">
                <a:solidFill>
                  <a:schemeClr val="bg1"/>
                </a:solidFill>
              </a:rPr>
              <a:t>Confirmar la mejora promedio en las 75 imágenes de validación frente al modelo original.</a:t>
            </a:r>
            <a:endParaRPr lang="en-US" sz="1400"/>
          </a:p>
        </p:txBody>
      </p:sp>
      <p:sp>
        <p:nvSpPr>
          <p:cNvPr id="794239069" name="Nota aumento"/>
          <p:cNvSpPr txBox="1"/>
          <p:nvPr/>
        </p:nvSpPr>
        <p:spPr bwMode="auto">
          <a:xfrm>
            <a:off x="6446520" y="5760720"/>
            <a:ext cx="4965192" cy="365760"/>
          </a:xfrm>
          <a:prstGeom prst="rect">
            <a:avLst/>
          </a:prstGeom>
          <a:noFill/>
          <a:ln/>
        </p:spPr>
        <p:txBody>
          <a:bodyPr wrap="square" lIns="0" tIns="0" rIns="0" bIns="0" rtlCol="0" anchor="t"/>
          <a:lstStyle/>
          <a:p>
            <a:pPr marL="0" indent="0">
              <a:buNone/>
              <a:defRPr/>
            </a:pPr>
            <a:r>
              <a:rPr lang="en-US" sz="1400" i="1">
                <a:solidFill>
                  <a:schemeClr val="bg2"/>
                </a:solidFill>
              </a:rPr>
              <a:t>Lo primero no demuestra lo segundo.</a:t>
            </a:r>
            <a:endParaRPr lang="en-US" sz="1400"/>
          </a:p>
        </p:txBody>
      </p:sp>
      <p:sp>
        <p:nvSpPr>
          <p:cNvPr id="971255187"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spTree>
      <p:nvGrpSpPr>
        <p:cNvPr id="1" name=""/>
        <p:cNvGrpSpPr/>
        <p:nvPr/>
      </p:nvGrpSpPr>
      <p:grpSpPr bwMode="auto">
        <a:xfrm>
          <a:off x="0" y="0"/>
          <a:ext cx="0" cy="0"/>
          <a:chOff x="0" y="0"/>
          <a:chExt cx="0" cy="0"/>
        </a:xfrm>
      </p:grpSpPr>
      <p:sp>
        <p:nvSpPr>
          <p:cNvPr id="542111720"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Limitaciones y trabajo futuro</a:t>
            </a:r>
            <a:endParaRPr lang="en-US" sz="3600"/>
          </a:p>
        </p:txBody>
      </p:sp>
      <p:sp>
        <p:nvSpPr>
          <p:cNvPr id="1622013176"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6.3 · DISCUSIÓN · LIMITACIONES Y TRABAJO FUTURO</a:t>
            </a:r>
            <a:endParaRPr lang="en-US" sz="1200"/>
          </a:p>
        </p:txBody>
      </p:sp>
      <p:sp>
        <p:nvSpPr>
          <p:cNvPr id="604381263" name="Rótulo limitaciones"/>
          <p:cNvSpPr txBox="1"/>
          <p:nvPr/>
        </p:nvSpPr>
        <p:spPr bwMode="auto">
          <a:xfrm>
            <a:off x="548640" y="1645920"/>
            <a:ext cx="6400800" cy="274320"/>
          </a:xfrm>
          <a:prstGeom prst="rect">
            <a:avLst/>
          </a:prstGeom>
          <a:noFill/>
          <a:ln/>
        </p:spPr>
        <p:txBody>
          <a:bodyPr wrap="square" lIns="0" tIns="0" rIns="0" bIns="0" rtlCol="0" anchor="t"/>
          <a:lstStyle/>
          <a:p>
            <a:pPr marL="0" indent="0">
              <a:buNone/>
              <a:defRPr/>
            </a:pPr>
            <a:r>
              <a:rPr lang="en-US" sz="1200" b="1" spc="100">
                <a:solidFill>
                  <a:schemeClr val="accent2"/>
                </a:solidFill>
              </a:rPr>
              <a:t>LIMITACIONES</a:t>
            </a:r>
            <a:endParaRPr lang="en-US" sz="1200"/>
          </a:p>
        </p:txBody>
      </p:sp>
      <p:sp>
        <p:nvSpPr>
          <p:cNvPr id="698538320" name="Tarjeta Tamaño del dataset"/>
          <p:cNvSpPr/>
          <p:nvPr/>
        </p:nvSpPr>
        <p:spPr bwMode="auto">
          <a:xfrm>
            <a:off x="548640" y="201168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117207179" name="Título Tamaño del dataset"/>
          <p:cNvSpPr txBox="1"/>
          <p:nvPr/>
        </p:nvSpPr>
        <p:spPr bwMode="auto">
          <a:xfrm>
            <a:off x="731520" y="212140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Tamaño del dataset</a:t>
            </a:r>
            <a:endParaRPr lang="en-US" sz="1500"/>
          </a:p>
        </p:txBody>
      </p:sp>
      <p:sp>
        <p:nvSpPr>
          <p:cNvPr id="256589832" name="Texto Tamaño del dataset"/>
          <p:cNvSpPr txBox="1"/>
          <p:nvPr/>
        </p:nvSpPr>
        <p:spPr bwMode="auto">
          <a:xfrm>
            <a:off x="731520" y="2450592"/>
            <a:ext cx="2743200" cy="804672"/>
          </a:xfrm>
          <a:prstGeom prst="rect">
            <a:avLst/>
          </a:prstGeom>
          <a:noFill/>
          <a:ln/>
        </p:spPr>
        <p:txBody>
          <a:bodyPr wrap="square" lIns="0" tIns="0" rIns="0" bIns="0" rtlCol="0" anchor="t"/>
          <a:lstStyle/>
          <a:p>
            <a:pPr marL="0" indent="0">
              <a:buNone/>
              <a:defRPr/>
            </a:pPr>
            <a:r>
              <a:rPr lang="en-US" sz="1300">
                <a:solidFill>
                  <a:schemeClr val="bg2"/>
                </a:solidFill>
              </a:rPr>
              <a:t>500 imágenes no cubren toda la variación de luz, clima, distancia y oclusión.</a:t>
            </a:r>
            <a:endParaRPr lang="en-US" sz="1300"/>
          </a:p>
        </p:txBody>
      </p:sp>
      <p:sp>
        <p:nvSpPr>
          <p:cNvPr id="1547709946" name="Tarjeta Etiquetas manuales"/>
          <p:cNvSpPr/>
          <p:nvPr/>
        </p:nvSpPr>
        <p:spPr bwMode="auto">
          <a:xfrm>
            <a:off x="3840480" y="201168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972871299" name="Título Etiquetas manuales"/>
          <p:cNvSpPr txBox="1"/>
          <p:nvPr/>
        </p:nvSpPr>
        <p:spPr bwMode="auto">
          <a:xfrm>
            <a:off x="4023360" y="212140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Etiquetas manuales</a:t>
            </a:r>
            <a:endParaRPr lang="en-US" sz="1500"/>
          </a:p>
        </p:txBody>
      </p:sp>
      <p:sp>
        <p:nvSpPr>
          <p:cNvPr id="760053521" name="Texto Etiquetas manuales"/>
          <p:cNvSpPr txBox="1"/>
          <p:nvPr/>
        </p:nvSpPr>
        <p:spPr bwMode="auto">
          <a:xfrm>
            <a:off x="4023360" y="2450592"/>
            <a:ext cx="2743200" cy="804672"/>
          </a:xfrm>
          <a:prstGeom prst="rect">
            <a:avLst/>
          </a:prstGeom>
          <a:noFill/>
          <a:ln/>
        </p:spPr>
        <p:txBody>
          <a:bodyPr wrap="square" lIns="0" tIns="0" rIns="0" bIns="0" rtlCol="0" anchor="t"/>
          <a:lstStyle/>
          <a:p>
            <a:pPr marL="0" indent="0">
              <a:buNone/>
              <a:defRPr/>
            </a:pPr>
            <a:r>
              <a:rPr lang="en-US" sz="1300">
                <a:solidFill>
                  <a:schemeClr val="bg2"/>
                </a:solidFill>
              </a:rPr>
              <a:t>Los errores de las máscaras pasan al entrenamiento y a las métricas.</a:t>
            </a:r>
            <a:endParaRPr lang="en-US" sz="1300"/>
          </a:p>
        </p:txBody>
      </p:sp>
      <p:sp>
        <p:nvSpPr>
          <p:cNvPr id="1784698565" name="Tarjeta Resolución 256×256"/>
          <p:cNvSpPr/>
          <p:nvPr/>
        </p:nvSpPr>
        <p:spPr bwMode="auto">
          <a:xfrm>
            <a:off x="548640" y="342900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1875759218" name="Título Resolución 256×256"/>
          <p:cNvSpPr txBox="1"/>
          <p:nvPr/>
        </p:nvSpPr>
        <p:spPr bwMode="auto">
          <a:xfrm>
            <a:off x="731520" y="353872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Resolución 256×256</a:t>
            </a:r>
            <a:endParaRPr lang="en-US" sz="1500"/>
          </a:p>
        </p:txBody>
      </p:sp>
      <p:sp>
        <p:nvSpPr>
          <p:cNvPr id="1857530188" name="Texto Resolución 256×256"/>
          <p:cNvSpPr txBox="1"/>
          <p:nvPr/>
        </p:nvSpPr>
        <p:spPr bwMode="auto">
          <a:xfrm>
            <a:off x="731520" y="3867911"/>
            <a:ext cx="2743200" cy="804672"/>
          </a:xfrm>
          <a:prstGeom prst="rect">
            <a:avLst/>
          </a:prstGeom>
          <a:noFill/>
          <a:ln/>
        </p:spPr>
        <p:txBody>
          <a:bodyPr wrap="square" lIns="0" tIns="0" rIns="0" bIns="0" rtlCol="0" anchor="t"/>
          <a:lstStyle/>
          <a:p>
            <a:pPr marL="0" indent="0">
              <a:buNone/>
              <a:defRPr/>
            </a:pPr>
            <a:r>
              <a:rPr lang="en-US" sz="1300">
                <a:solidFill>
                  <a:schemeClr val="bg2"/>
                </a:solidFill>
              </a:rPr>
              <a:t>Limita los detalles finos que la red puede conservar.</a:t>
            </a:r>
            <a:endParaRPr lang="en-US" sz="1300"/>
          </a:p>
        </p:txBody>
      </p:sp>
      <p:sp>
        <p:nvSpPr>
          <p:cNvPr id="1789698677" name="Tarjeta Solo binaria"/>
          <p:cNvSpPr/>
          <p:nvPr/>
        </p:nvSpPr>
        <p:spPr bwMode="auto">
          <a:xfrm>
            <a:off x="3840480" y="342900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1615877919" name="Título Solo binaria"/>
          <p:cNvSpPr txBox="1"/>
          <p:nvPr/>
        </p:nvSpPr>
        <p:spPr bwMode="auto">
          <a:xfrm>
            <a:off x="4023360" y="353872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Solo binaria</a:t>
            </a:r>
            <a:endParaRPr lang="en-US" sz="1500"/>
          </a:p>
        </p:txBody>
      </p:sp>
      <p:sp>
        <p:nvSpPr>
          <p:cNvPr id="2022051345" name="Texto Solo binaria"/>
          <p:cNvSpPr txBox="1"/>
          <p:nvPr/>
        </p:nvSpPr>
        <p:spPr bwMode="auto">
          <a:xfrm>
            <a:off x="4023360" y="3867911"/>
            <a:ext cx="2743200" cy="804672"/>
          </a:xfrm>
          <a:prstGeom prst="rect">
            <a:avLst/>
          </a:prstGeom>
          <a:noFill/>
          <a:ln/>
        </p:spPr>
        <p:txBody>
          <a:bodyPr wrap="square" lIns="0" tIns="0" rIns="0" bIns="0" rtlCol="0" anchor="t"/>
          <a:lstStyle/>
          <a:p>
            <a:pPr marL="0" indent="0">
              <a:buNone/>
              <a:defRPr/>
            </a:pPr>
            <a:r>
              <a:rPr lang="en-US" sz="1300">
                <a:solidFill>
                  <a:schemeClr val="bg2"/>
                </a:solidFill>
              </a:rPr>
              <a:t>No separa instancias: dos coches que se tocan forman una región.</a:t>
            </a:r>
            <a:endParaRPr lang="en-US" sz="1300"/>
          </a:p>
        </p:txBody>
      </p:sp>
      <p:sp>
        <p:nvSpPr>
          <p:cNvPr id="1643144280" name="Tarjeta Conjunto de prueba"/>
          <p:cNvSpPr/>
          <p:nvPr/>
        </p:nvSpPr>
        <p:spPr bwMode="auto">
          <a:xfrm>
            <a:off x="548640" y="484632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2105138015" name="Título Conjunto de prueba"/>
          <p:cNvSpPr txBox="1"/>
          <p:nvPr/>
        </p:nvSpPr>
        <p:spPr bwMode="auto">
          <a:xfrm>
            <a:off x="731520" y="495604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Conjunto de prueba</a:t>
            </a:r>
            <a:endParaRPr lang="en-US" sz="1500"/>
          </a:p>
        </p:txBody>
      </p:sp>
      <p:sp>
        <p:nvSpPr>
          <p:cNvPr id="126216475" name="Texto Conjunto de prueba"/>
          <p:cNvSpPr txBox="1"/>
          <p:nvPr/>
        </p:nvSpPr>
        <p:spPr bwMode="auto">
          <a:xfrm>
            <a:off x="731520" y="5285232"/>
            <a:ext cx="2743200" cy="804672"/>
          </a:xfrm>
          <a:prstGeom prst="rect">
            <a:avLst/>
          </a:prstGeom>
          <a:noFill/>
          <a:ln/>
        </p:spPr>
        <p:txBody>
          <a:bodyPr wrap="square" lIns="0" tIns="0" rIns="0" bIns="0" rtlCol="0" anchor="t"/>
          <a:lstStyle/>
          <a:p>
            <a:pPr marL="0" indent="0">
              <a:buNone/>
              <a:defRPr/>
            </a:pPr>
            <a:r>
              <a:rPr lang="en-US" sz="1300">
                <a:solidFill>
                  <a:schemeClr val="bg2"/>
                </a:solidFill>
              </a:rPr>
              <a:t>Se reserva como referencia final; no se usa para ajustar.</a:t>
            </a:r>
            <a:endParaRPr lang="en-US" sz="1300"/>
          </a:p>
        </p:txBody>
      </p:sp>
      <p:sp>
        <p:nvSpPr>
          <p:cNvPr id="42003332" name="Tarjeta Alcance limitado"/>
          <p:cNvSpPr/>
          <p:nvPr/>
        </p:nvSpPr>
        <p:spPr bwMode="auto">
          <a:xfrm>
            <a:off x="3840480" y="4846320"/>
            <a:ext cx="3108960" cy="1280160"/>
          </a:xfrm>
          <a:prstGeom prst="roundRect">
            <a:avLst>
              <a:gd name="adj" fmla="val 7143"/>
            </a:avLst>
          </a:prstGeom>
          <a:solidFill>
            <a:schemeClr val="tx2"/>
          </a:solidFill>
          <a:ln w="6350">
            <a:solidFill>
              <a:schemeClr val="accent6">
                <a:alpha val="45000"/>
              </a:schemeClr>
            </a:solidFill>
            <a:prstDash val="solid"/>
          </a:ln>
        </p:spPr>
      </p:sp>
      <p:sp>
        <p:nvSpPr>
          <p:cNvPr id="1380590020" name="Título Alcance limitado"/>
          <p:cNvSpPr txBox="1"/>
          <p:nvPr/>
        </p:nvSpPr>
        <p:spPr bwMode="auto">
          <a:xfrm>
            <a:off x="4023360" y="4956048"/>
            <a:ext cx="2743200" cy="274320"/>
          </a:xfrm>
          <a:prstGeom prst="rect">
            <a:avLst/>
          </a:prstGeom>
          <a:noFill/>
          <a:ln/>
        </p:spPr>
        <p:txBody>
          <a:bodyPr wrap="square" lIns="0" tIns="0" rIns="0" bIns="0" rtlCol="0" anchor="t"/>
          <a:lstStyle/>
          <a:p>
            <a:pPr marL="0" indent="0">
              <a:buNone/>
              <a:defRPr/>
            </a:pPr>
            <a:r>
              <a:rPr lang="en-US" sz="1500" b="1">
                <a:solidFill>
                  <a:schemeClr val="bg1"/>
                </a:solidFill>
              </a:rPr>
              <a:t>Alcance limitado</a:t>
            </a:r>
            <a:endParaRPr lang="en-US" sz="1500"/>
          </a:p>
        </p:txBody>
      </p:sp>
      <p:sp>
        <p:nvSpPr>
          <p:cNvPr id="1064771098" name="Texto Alcance limitado"/>
          <p:cNvSpPr txBox="1"/>
          <p:nvPr/>
        </p:nvSpPr>
        <p:spPr bwMode="auto">
          <a:xfrm>
            <a:off x="4023360" y="5285232"/>
            <a:ext cx="2743200" cy="804672"/>
          </a:xfrm>
          <a:prstGeom prst="rect">
            <a:avLst/>
          </a:prstGeom>
          <a:noFill/>
          <a:ln/>
        </p:spPr>
        <p:txBody>
          <a:bodyPr wrap="square" lIns="0" tIns="0" rIns="0" bIns="0" rtlCol="0" anchor="t"/>
          <a:lstStyle/>
          <a:p>
            <a:pPr marL="0" indent="0">
              <a:buNone/>
              <a:defRPr/>
            </a:pPr>
            <a:r>
              <a:rPr lang="en-US" sz="1300">
                <a:solidFill>
                  <a:schemeClr val="bg2"/>
                </a:solidFill>
              </a:rPr>
              <a:t>Una arquitectura y una configuración: no prueba que sea la mejor.</a:t>
            </a:r>
            <a:endParaRPr lang="en-US" sz="1300"/>
          </a:p>
        </p:txBody>
      </p:sp>
      <p:sp>
        <p:nvSpPr>
          <p:cNvPr id="1694155496" name="Rótulo futuro"/>
          <p:cNvSpPr txBox="1"/>
          <p:nvPr/>
        </p:nvSpPr>
        <p:spPr bwMode="auto">
          <a:xfrm>
            <a:off x="7406640" y="1645920"/>
            <a:ext cx="4233672" cy="274320"/>
          </a:xfrm>
          <a:prstGeom prst="rect">
            <a:avLst/>
          </a:prstGeom>
          <a:noFill/>
          <a:ln/>
        </p:spPr>
        <p:txBody>
          <a:bodyPr wrap="square" lIns="0" tIns="0" rIns="0" bIns="0" rtlCol="0" anchor="t"/>
          <a:lstStyle/>
          <a:p>
            <a:pPr marL="0" indent="0">
              <a:buNone/>
              <a:defRPr/>
            </a:pPr>
            <a:r>
              <a:rPr lang="en-US" sz="1200" b="1" spc="100">
                <a:solidFill>
                  <a:schemeClr val="accent1"/>
                </a:solidFill>
              </a:rPr>
              <a:t>TRABAJO FUTURO</a:t>
            </a:r>
            <a:endParaRPr lang="en-US" sz="1200"/>
          </a:p>
        </p:txBody>
      </p:sp>
      <p:sp>
        <p:nvSpPr>
          <p:cNvPr id="379613921" name="Círculo futuro 1"/>
          <p:cNvSpPr/>
          <p:nvPr/>
        </p:nvSpPr>
        <p:spPr bwMode="auto">
          <a:xfrm>
            <a:off x="7406640" y="2057400"/>
            <a:ext cx="457200" cy="457200"/>
          </a:xfrm>
          <a:prstGeom prst="ellipse">
            <a:avLst/>
          </a:prstGeom>
          <a:solidFill>
            <a:schemeClr val="accent1">
              <a:alpha val="20000"/>
            </a:schemeClr>
          </a:solidFill>
          <a:ln/>
        </p:spPr>
      </p:sp>
      <p:pic>
        <p:nvPicPr>
          <p:cNvPr id="41338623" name="Image 0" descr="Icono futuro 1"/>
          <p:cNvPicPr>
            <a:picLocks noChangeAspect="1"/>
          </p:cNvPicPr>
          <p:nvPr/>
        </p:nvPicPr>
        <p:blipFill rotWithShape="1">
          <a:blip r:embed="rId3"/>
          <a:stretch/>
        </p:blipFill>
        <p:spPr bwMode="auto">
          <a:xfrm>
            <a:off x="7507224" y="2157984"/>
            <a:ext cx="256032" cy="256032"/>
          </a:xfrm>
          <a:prstGeom prst="rect">
            <a:avLst/>
          </a:prstGeom>
        </p:spPr>
      </p:pic>
      <p:sp>
        <p:nvSpPr>
          <p:cNvPr id="286153577" name="Futuro 1"/>
          <p:cNvSpPr txBox="1"/>
          <p:nvPr/>
        </p:nvSpPr>
        <p:spPr bwMode="auto">
          <a:xfrm>
            <a:off x="8046720" y="2011680"/>
            <a:ext cx="3593592" cy="548640"/>
          </a:xfrm>
          <a:prstGeom prst="rect">
            <a:avLst/>
          </a:prstGeom>
          <a:noFill/>
          <a:ln/>
        </p:spPr>
        <p:txBody>
          <a:bodyPr wrap="square" lIns="0" tIns="0" rIns="0" bIns="0" rtlCol="0" anchor="ctr"/>
          <a:lstStyle/>
          <a:p>
            <a:pPr marL="0" indent="0">
              <a:buNone/>
              <a:defRPr/>
            </a:pPr>
            <a:r>
              <a:rPr lang="en-US" sz="1400">
                <a:solidFill>
                  <a:schemeClr val="bg1"/>
                </a:solidFill>
              </a:rPr>
              <a:t>Evaluar el modelo aumentado en toda la validación.</a:t>
            </a:r>
            <a:endParaRPr lang="en-US" sz="1400"/>
          </a:p>
        </p:txBody>
      </p:sp>
      <p:sp>
        <p:nvSpPr>
          <p:cNvPr id="52156261" name="Círculo futuro 2"/>
          <p:cNvSpPr/>
          <p:nvPr/>
        </p:nvSpPr>
        <p:spPr bwMode="auto">
          <a:xfrm>
            <a:off x="7406640" y="2907792"/>
            <a:ext cx="457200" cy="457200"/>
          </a:xfrm>
          <a:prstGeom prst="ellipse">
            <a:avLst/>
          </a:prstGeom>
          <a:solidFill>
            <a:schemeClr val="accent1">
              <a:alpha val="20000"/>
            </a:schemeClr>
          </a:solidFill>
          <a:ln/>
        </p:spPr>
      </p:sp>
      <p:pic>
        <p:nvPicPr>
          <p:cNvPr id="1012637564" name="Image 1" descr="Icono futuro 2"/>
          <p:cNvPicPr>
            <a:picLocks noChangeAspect="1"/>
          </p:cNvPicPr>
          <p:nvPr/>
        </p:nvPicPr>
        <p:blipFill rotWithShape="1">
          <a:blip r:embed="rId4"/>
          <a:stretch/>
        </p:blipFill>
        <p:spPr bwMode="auto">
          <a:xfrm>
            <a:off x="7507224" y="3008376"/>
            <a:ext cx="256032" cy="256032"/>
          </a:xfrm>
          <a:prstGeom prst="rect">
            <a:avLst/>
          </a:prstGeom>
        </p:spPr>
      </p:pic>
      <p:sp>
        <p:nvSpPr>
          <p:cNvPr id="1761345564" name="Futuro 2"/>
          <p:cNvSpPr txBox="1"/>
          <p:nvPr/>
        </p:nvSpPr>
        <p:spPr bwMode="auto">
          <a:xfrm>
            <a:off x="8046720" y="2862072"/>
            <a:ext cx="3593592" cy="548640"/>
          </a:xfrm>
          <a:prstGeom prst="rect">
            <a:avLst/>
          </a:prstGeom>
          <a:noFill/>
          <a:ln/>
        </p:spPr>
        <p:txBody>
          <a:bodyPr wrap="square" lIns="0" tIns="0" rIns="0" bIns="0" rtlCol="0" anchor="ctr"/>
          <a:lstStyle/>
          <a:p>
            <a:pPr marL="0" indent="0">
              <a:buNone/>
              <a:defRPr/>
            </a:pPr>
            <a:r>
              <a:rPr lang="en-US" sz="1400">
                <a:solidFill>
                  <a:schemeClr val="bg1"/>
                </a:solidFill>
              </a:rPr>
              <a:t>Probar BCE combinada con una pérdida Dice.</a:t>
            </a:r>
            <a:endParaRPr lang="en-US" sz="1400"/>
          </a:p>
        </p:txBody>
      </p:sp>
      <p:sp>
        <p:nvSpPr>
          <p:cNvPr id="1136578020" name="Círculo futuro 3"/>
          <p:cNvSpPr/>
          <p:nvPr/>
        </p:nvSpPr>
        <p:spPr bwMode="auto">
          <a:xfrm>
            <a:off x="7406640" y="3758184"/>
            <a:ext cx="457200" cy="457200"/>
          </a:xfrm>
          <a:prstGeom prst="ellipse">
            <a:avLst/>
          </a:prstGeom>
          <a:solidFill>
            <a:schemeClr val="accent1">
              <a:alpha val="20000"/>
            </a:schemeClr>
          </a:solidFill>
          <a:ln/>
        </p:spPr>
      </p:sp>
      <p:pic>
        <p:nvPicPr>
          <p:cNvPr id="181419579" name="Image 2" descr="Icono futuro 3"/>
          <p:cNvPicPr>
            <a:picLocks noChangeAspect="1"/>
          </p:cNvPicPr>
          <p:nvPr/>
        </p:nvPicPr>
        <p:blipFill rotWithShape="1">
          <a:blip r:embed="rId5"/>
          <a:stretch/>
        </p:blipFill>
        <p:spPr bwMode="auto">
          <a:xfrm>
            <a:off x="7507224" y="3858768"/>
            <a:ext cx="256032" cy="256032"/>
          </a:xfrm>
          <a:prstGeom prst="rect">
            <a:avLst/>
          </a:prstGeom>
        </p:spPr>
      </p:pic>
      <p:sp>
        <p:nvSpPr>
          <p:cNvPr id="1861856051" name="Futuro 3"/>
          <p:cNvSpPr txBox="1"/>
          <p:nvPr/>
        </p:nvSpPr>
        <p:spPr bwMode="auto">
          <a:xfrm>
            <a:off x="8046720" y="3712464"/>
            <a:ext cx="3593592" cy="548640"/>
          </a:xfrm>
          <a:prstGeom prst="rect">
            <a:avLst/>
          </a:prstGeom>
          <a:noFill/>
          <a:ln/>
        </p:spPr>
        <p:txBody>
          <a:bodyPr wrap="square" lIns="0" tIns="0" rIns="0" bIns="0" rtlCol="0" anchor="ctr"/>
          <a:lstStyle/>
          <a:p>
            <a:pPr marL="0" indent="0">
              <a:buNone/>
              <a:defRPr/>
            </a:pPr>
            <a:r>
              <a:rPr lang="en-US" sz="1400">
                <a:solidFill>
                  <a:schemeClr val="bg1"/>
                </a:solidFill>
              </a:rPr>
              <a:t>Variar resolución, tamaño de lote y épocas.</a:t>
            </a:r>
            <a:endParaRPr lang="en-US" sz="1400"/>
          </a:p>
        </p:txBody>
      </p:sp>
      <p:sp>
        <p:nvSpPr>
          <p:cNvPr id="1223841266" name="Círculo futuro 4"/>
          <p:cNvSpPr/>
          <p:nvPr/>
        </p:nvSpPr>
        <p:spPr bwMode="auto">
          <a:xfrm>
            <a:off x="7406640" y="4608576"/>
            <a:ext cx="457200" cy="457200"/>
          </a:xfrm>
          <a:prstGeom prst="ellipse">
            <a:avLst/>
          </a:prstGeom>
          <a:solidFill>
            <a:schemeClr val="accent1">
              <a:alpha val="20000"/>
            </a:schemeClr>
          </a:solidFill>
          <a:ln/>
        </p:spPr>
      </p:sp>
      <p:pic>
        <p:nvPicPr>
          <p:cNvPr id="164549632" name="Image 3" descr="Icono futuro 4"/>
          <p:cNvPicPr>
            <a:picLocks noChangeAspect="1"/>
          </p:cNvPicPr>
          <p:nvPr/>
        </p:nvPicPr>
        <p:blipFill rotWithShape="1">
          <a:blip r:embed="rId6"/>
          <a:stretch/>
        </p:blipFill>
        <p:spPr bwMode="auto">
          <a:xfrm>
            <a:off x="7507224" y="4709160"/>
            <a:ext cx="256032" cy="256032"/>
          </a:xfrm>
          <a:prstGeom prst="rect">
            <a:avLst/>
          </a:prstGeom>
        </p:spPr>
      </p:pic>
      <p:sp>
        <p:nvSpPr>
          <p:cNvPr id="1088607718" name="Futuro 4"/>
          <p:cNvSpPr txBox="1"/>
          <p:nvPr/>
        </p:nvSpPr>
        <p:spPr bwMode="auto">
          <a:xfrm>
            <a:off x="8046720" y="4562856"/>
            <a:ext cx="3593592" cy="548640"/>
          </a:xfrm>
          <a:prstGeom prst="rect">
            <a:avLst/>
          </a:prstGeom>
          <a:noFill/>
          <a:ln/>
        </p:spPr>
        <p:txBody>
          <a:bodyPr wrap="square" lIns="0" tIns="0" rIns="0" bIns="0" rtlCol="0" anchor="ctr"/>
          <a:lstStyle/>
          <a:p>
            <a:pPr marL="0" indent="0">
              <a:buNone/>
              <a:defRPr/>
            </a:pPr>
            <a:r>
              <a:rPr lang="en-US" sz="1400">
                <a:solidFill>
                  <a:schemeClr val="bg1"/>
                </a:solidFill>
              </a:rPr>
              <a:t>Analizar por tamaño, visibilidad y distancia del coche.</a:t>
            </a:r>
            <a:endParaRPr lang="en-US" sz="1400"/>
          </a:p>
        </p:txBody>
      </p:sp>
      <p:sp>
        <p:nvSpPr>
          <p:cNvPr id="1563749041" name="Círculo futuro 5"/>
          <p:cNvSpPr/>
          <p:nvPr/>
        </p:nvSpPr>
        <p:spPr bwMode="auto">
          <a:xfrm>
            <a:off x="7406640" y="5458968"/>
            <a:ext cx="457200" cy="457200"/>
          </a:xfrm>
          <a:prstGeom prst="ellipse">
            <a:avLst/>
          </a:prstGeom>
          <a:solidFill>
            <a:schemeClr val="accent1">
              <a:alpha val="20000"/>
            </a:schemeClr>
          </a:solidFill>
          <a:ln/>
        </p:spPr>
      </p:sp>
      <p:pic>
        <p:nvPicPr>
          <p:cNvPr id="2128863165" name="Image 4" descr="Icono futuro 5"/>
          <p:cNvPicPr>
            <a:picLocks noChangeAspect="1"/>
          </p:cNvPicPr>
          <p:nvPr/>
        </p:nvPicPr>
        <p:blipFill rotWithShape="1">
          <a:blip r:embed="rId7"/>
          <a:stretch/>
        </p:blipFill>
        <p:spPr bwMode="auto">
          <a:xfrm>
            <a:off x="7507224" y="5559552"/>
            <a:ext cx="256032" cy="256032"/>
          </a:xfrm>
          <a:prstGeom prst="rect">
            <a:avLst/>
          </a:prstGeom>
        </p:spPr>
      </p:pic>
      <p:sp>
        <p:nvSpPr>
          <p:cNvPr id="628290865" name="Futuro 5"/>
          <p:cNvSpPr txBox="1"/>
          <p:nvPr/>
        </p:nvSpPr>
        <p:spPr bwMode="auto">
          <a:xfrm>
            <a:off x="8046720" y="5413248"/>
            <a:ext cx="3593592" cy="548640"/>
          </a:xfrm>
          <a:prstGeom prst="rect">
            <a:avLst/>
          </a:prstGeom>
          <a:noFill/>
          <a:ln/>
        </p:spPr>
        <p:txBody>
          <a:bodyPr wrap="square" lIns="0" tIns="0" rIns="0" bIns="0" rtlCol="0" anchor="ctr"/>
          <a:lstStyle/>
          <a:p>
            <a:pPr marL="0" indent="0">
              <a:buNone/>
              <a:defRPr/>
            </a:pPr>
            <a:r>
              <a:rPr lang="en-US" sz="1400">
                <a:solidFill>
                  <a:schemeClr val="bg1"/>
                </a:solidFill>
              </a:rPr>
              <a:t>Probar imágenes externas para medir la generalización.</a:t>
            </a:r>
            <a:endParaRPr lang="en-US" sz="1400"/>
          </a:p>
        </p:txBody>
      </p:sp>
      <p:sp>
        <p:nvSpPr>
          <p:cNvPr id="1453397337"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spTree>
      <p:nvGrpSpPr>
        <p:cNvPr id="1" name=""/>
        <p:cNvGrpSpPr/>
        <p:nvPr/>
      </p:nvGrpSpPr>
      <p:grpSpPr bwMode="auto">
        <a:xfrm>
          <a:off x="0" y="0"/>
          <a:ext cx="0" cy="0"/>
          <a:chOff x="0" y="0"/>
          <a:chExt cx="0" cy="0"/>
        </a:xfrm>
      </p:grpSpPr>
      <p:sp>
        <p:nvSpPr>
          <p:cNvPr id="763163939"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Conclusión</a:t>
            </a:r>
            <a:endParaRPr lang="en-US" sz="3600"/>
          </a:p>
        </p:txBody>
      </p:sp>
      <p:sp>
        <p:nvSpPr>
          <p:cNvPr id="134241397"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6.5 · DISCUSIÓN · CONCLUSIÓN</a:t>
            </a:r>
            <a:endParaRPr lang="en-US" sz="1200"/>
          </a:p>
        </p:txBody>
      </p:sp>
      <p:sp>
        <p:nvSpPr>
          <p:cNvPr id="2107437530" name="Mensaje principal"/>
          <p:cNvSpPr txBox="1"/>
          <p:nvPr/>
        </p:nvSpPr>
        <p:spPr bwMode="auto">
          <a:xfrm>
            <a:off x="548640" y="1691640"/>
            <a:ext cx="6675120" cy="1737360"/>
          </a:xfrm>
          <a:prstGeom prst="rect">
            <a:avLst/>
          </a:prstGeom>
          <a:noFill/>
          <a:ln/>
        </p:spPr>
        <p:txBody>
          <a:bodyPr wrap="square" lIns="0" tIns="0" rIns="0" bIns="0" rtlCol="0" anchor="t"/>
          <a:lstStyle/>
          <a:p>
            <a:pPr marL="0" indent="0">
              <a:buNone/>
              <a:defRPr/>
            </a:pPr>
            <a:r>
              <a:rPr lang="en-US" sz="2600" b="1">
                <a:solidFill>
                  <a:schemeClr val="bg1"/>
                </a:solidFill>
                <a:latin typeface="Cambria"/>
                <a:ea typeface="Cambria"/>
                <a:cs typeface="Cambria"/>
              </a:rPr>
              <a:t>Una U-Net propia en PyTorch es una base viable para segmentar coches: IoU 0.8380 y Dice 0.9072 en prueba.</a:t>
            </a:r>
            <a:endParaRPr lang="en-US" sz="2600"/>
          </a:p>
        </p:txBody>
      </p:sp>
      <p:sp>
        <p:nvSpPr>
          <p:cNvPr id="571832543" name="Círculo Implementación"/>
          <p:cNvSpPr/>
          <p:nvPr/>
        </p:nvSpPr>
        <p:spPr bwMode="auto">
          <a:xfrm>
            <a:off x="548640" y="3611880"/>
            <a:ext cx="548640" cy="548640"/>
          </a:xfrm>
          <a:prstGeom prst="ellipse">
            <a:avLst/>
          </a:prstGeom>
          <a:solidFill>
            <a:schemeClr val="accent1">
              <a:alpha val="20000"/>
            </a:schemeClr>
          </a:solidFill>
          <a:ln/>
        </p:spPr>
      </p:sp>
      <p:pic>
        <p:nvPicPr>
          <p:cNvPr id="667555452" name="Image 0" descr="Icono Implementación"/>
          <p:cNvPicPr>
            <a:picLocks noChangeAspect="1"/>
          </p:cNvPicPr>
          <p:nvPr/>
        </p:nvPicPr>
        <p:blipFill rotWithShape="1">
          <a:blip r:embed="rId3"/>
          <a:stretch/>
        </p:blipFill>
        <p:spPr bwMode="auto">
          <a:xfrm>
            <a:off x="669340" y="3732581"/>
            <a:ext cx="307238" cy="307238"/>
          </a:xfrm>
          <a:prstGeom prst="rect">
            <a:avLst/>
          </a:prstGeom>
        </p:spPr>
      </p:pic>
      <p:sp>
        <p:nvSpPr>
          <p:cNvPr id="892835067" name="Texto Implementación"/>
          <p:cNvSpPr txBox="1"/>
          <p:nvPr/>
        </p:nvSpPr>
        <p:spPr bwMode="auto">
          <a:xfrm>
            <a:off x="1280160" y="3566160"/>
            <a:ext cx="5943600" cy="731520"/>
          </a:xfrm>
          <a:prstGeom prst="rect">
            <a:avLst/>
          </a:prstGeom>
          <a:noFill/>
          <a:ln/>
        </p:spPr>
        <p:txBody>
          <a:bodyPr wrap="square" lIns="0" tIns="0" rIns="0" bIns="0" rtlCol="0" anchor="ctr"/>
          <a:lstStyle/>
          <a:p>
            <a:pPr marL="0" indent="0">
              <a:buNone/>
              <a:defRPr/>
            </a:pPr>
            <a:r>
              <a:rPr lang="en-US" sz="1600" b="1">
                <a:solidFill>
                  <a:schemeClr val="bg1"/>
                </a:solidFill>
              </a:rPr>
              <a:t>Implementación</a:t>
            </a:r>
            <a:endParaRPr lang="en-US" sz="1400"/>
          </a:p>
          <a:p>
            <a:pPr marL="0" indent="0">
              <a:buNone/>
              <a:defRPr/>
            </a:pPr>
            <a:r>
              <a:rPr lang="en-US" sz="1400">
                <a:solidFill>
                  <a:schemeClr val="bg2"/>
                </a:solidFill>
              </a:rPr>
              <a:t>1.94 M de parámetros, entrenada con 350 imágenes.</a:t>
            </a:r>
            <a:endParaRPr lang="en-US" sz="1400"/>
          </a:p>
        </p:txBody>
      </p:sp>
      <p:sp>
        <p:nvSpPr>
          <p:cNvPr id="1137609448" name="Círculo Evaluación"/>
          <p:cNvSpPr/>
          <p:nvPr/>
        </p:nvSpPr>
        <p:spPr bwMode="auto">
          <a:xfrm>
            <a:off x="548640" y="4526280"/>
            <a:ext cx="548640" cy="548640"/>
          </a:xfrm>
          <a:prstGeom prst="ellipse">
            <a:avLst/>
          </a:prstGeom>
          <a:solidFill>
            <a:schemeClr val="accent5">
              <a:alpha val="20000"/>
            </a:schemeClr>
          </a:solidFill>
          <a:ln/>
        </p:spPr>
      </p:sp>
      <p:pic>
        <p:nvPicPr>
          <p:cNvPr id="46076232" name="Image 1" descr="Icono Evaluación"/>
          <p:cNvPicPr>
            <a:picLocks noChangeAspect="1"/>
          </p:cNvPicPr>
          <p:nvPr/>
        </p:nvPicPr>
        <p:blipFill rotWithShape="1">
          <a:blip r:embed="rId4"/>
          <a:stretch/>
        </p:blipFill>
        <p:spPr bwMode="auto">
          <a:xfrm>
            <a:off x="669340" y="4646981"/>
            <a:ext cx="307238" cy="307238"/>
          </a:xfrm>
          <a:prstGeom prst="rect">
            <a:avLst/>
          </a:prstGeom>
        </p:spPr>
      </p:pic>
      <p:sp>
        <p:nvSpPr>
          <p:cNvPr id="985448465" name="Texto Evaluación"/>
          <p:cNvSpPr txBox="1"/>
          <p:nvPr/>
        </p:nvSpPr>
        <p:spPr bwMode="auto">
          <a:xfrm>
            <a:off x="1280160" y="4480560"/>
            <a:ext cx="5943600" cy="731520"/>
          </a:xfrm>
          <a:prstGeom prst="rect">
            <a:avLst/>
          </a:prstGeom>
          <a:noFill/>
          <a:ln/>
        </p:spPr>
        <p:txBody>
          <a:bodyPr wrap="square" lIns="0" tIns="0" rIns="0" bIns="0" rtlCol="0" anchor="ctr"/>
          <a:lstStyle/>
          <a:p>
            <a:pPr marL="0" indent="0">
              <a:buNone/>
              <a:defRPr/>
            </a:pPr>
            <a:r>
              <a:rPr lang="en-US" sz="1600" b="1">
                <a:solidFill>
                  <a:schemeClr val="bg1"/>
                </a:solidFill>
              </a:rPr>
              <a:t>Evaluación</a:t>
            </a:r>
            <a:endParaRPr lang="en-US" sz="1400"/>
          </a:p>
          <a:p>
            <a:pPr marL="0" indent="0">
              <a:buNone/>
              <a:defRPr/>
            </a:pPr>
            <a:r>
              <a:rPr lang="en-US" sz="1400">
                <a:solidFill>
                  <a:schemeClr val="bg2"/>
                </a:solidFill>
              </a:rPr>
              <a:t>IoU, Dice, precisión, recall e inspección visual de errores.</a:t>
            </a:r>
            <a:endParaRPr lang="en-US" sz="1400"/>
          </a:p>
        </p:txBody>
      </p:sp>
      <p:sp>
        <p:nvSpPr>
          <p:cNvPr id="2072392150" name="Círculo Siguiente paso"/>
          <p:cNvSpPr/>
          <p:nvPr/>
        </p:nvSpPr>
        <p:spPr bwMode="auto">
          <a:xfrm>
            <a:off x="548640" y="5440680"/>
            <a:ext cx="548640" cy="548640"/>
          </a:xfrm>
          <a:prstGeom prst="ellipse">
            <a:avLst/>
          </a:prstGeom>
          <a:solidFill>
            <a:schemeClr val="accent4">
              <a:alpha val="20000"/>
            </a:schemeClr>
          </a:solidFill>
          <a:ln/>
        </p:spPr>
      </p:sp>
      <p:pic>
        <p:nvPicPr>
          <p:cNvPr id="362021653" name="Image 2" descr="Icono Siguiente paso"/>
          <p:cNvPicPr>
            <a:picLocks noChangeAspect="1"/>
          </p:cNvPicPr>
          <p:nvPr/>
        </p:nvPicPr>
        <p:blipFill rotWithShape="1">
          <a:blip r:embed="rId5"/>
          <a:stretch/>
        </p:blipFill>
        <p:spPr bwMode="auto">
          <a:xfrm>
            <a:off x="669340" y="5561381"/>
            <a:ext cx="307238" cy="307238"/>
          </a:xfrm>
          <a:prstGeom prst="rect">
            <a:avLst/>
          </a:prstGeom>
        </p:spPr>
      </p:pic>
      <p:sp>
        <p:nvSpPr>
          <p:cNvPr id="228285427" name="Texto Siguiente paso"/>
          <p:cNvSpPr txBox="1"/>
          <p:nvPr/>
        </p:nvSpPr>
        <p:spPr bwMode="auto">
          <a:xfrm>
            <a:off x="1280160" y="5394960"/>
            <a:ext cx="5943600" cy="731520"/>
          </a:xfrm>
          <a:prstGeom prst="rect">
            <a:avLst/>
          </a:prstGeom>
          <a:noFill/>
          <a:ln/>
        </p:spPr>
        <p:txBody>
          <a:bodyPr wrap="square" lIns="0" tIns="0" rIns="0" bIns="0" rtlCol="0" anchor="ctr"/>
          <a:lstStyle/>
          <a:p>
            <a:pPr marL="0" indent="0">
              <a:buNone/>
              <a:defRPr/>
            </a:pPr>
            <a:r>
              <a:rPr lang="en-US" sz="1600" b="1">
                <a:solidFill>
                  <a:schemeClr val="bg1"/>
                </a:solidFill>
              </a:rPr>
              <a:t>Siguiente paso</a:t>
            </a:r>
            <a:endParaRPr lang="en-US" sz="1400"/>
          </a:p>
          <a:p>
            <a:pPr marL="0" indent="0">
              <a:buNone/>
              <a:defRPr/>
            </a:pPr>
            <a:r>
              <a:rPr lang="en-US" sz="1400">
                <a:solidFill>
                  <a:schemeClr val="bg2"/>
                </a:solidFill>
              </a:rPr>
              <a:t>Cuantificar el efecto del aumento de datos en toda la validación.</a:t>
            </a:r>
            <a:endParaRPr lang="en-US" sz="1400"/>
          </a:p>
        </p:txBody>
      </p:sp>
      <p:sp>
        <p:nvSpPr>
          <p:cNvPr id="121120788" name="Mapa de características 1"/>
          <p:cNvSpPr/>
          <p:nvPr/>
        </p:nvSpPr>
        <p:spPr bwMode="auto">
          <a:xfrm>
            <a:off x="7818120" y="2377440"/>
            <a:ext cx="335280" cy="3108960"/>
          </a:xfrm>
          <a:prstGeom prst="roundRect">
            <a:avLst>
              <a:gd name="adj" fmla="val 13636"/>
            </a:avLst>
          </a:prstGeom>
          <a:solidFill>
            <a:schemeClr val="accent1"/>
          </a:solidFill>
          <a:ln/>
        </p:spPr>
      </p:sp>
      <p:sp>
        <p:nvSpPr>
          <p:cNvPr id="10731345" name="Mapa de características 2"/>
          <p:cNvSpPr/>
          <p:nvPr/>
        </p:nvSpPr>
        <p:spPr bwMode="auto">
          <a:xfrm>
            <a:off x="8253984" y="2688336"/>
            <a:ext cx="335280" cy="2487168"/>
          </a:xfrm>
          <a:prstGeom prst="roundRect">
            <a:avLst>
              <a:gd name="adj" fmla="val 13636"/>
            </a:avLst>
          </a:prstGeom>
          <a:solidFill>
            <a:schemeClr val="accent1"/>
          </a:solidFill>
          <a:ln/>
        </p:spPr>
      </p:sp>
      <p:sp>
        <p:nvSpPr>
          <p:cNvPr id="47075178" name="Mapa de características 3"/>
          <p:cNvSpPr/>
          <p:nvPr/>
        </p:nvSpPr>
        <p:spPr bwMode="auto">
          <a:xfrm>
            <a:off x="8689848" y="2999232"/>
            <a:ext cx="335280" cy="1865376"/>
          </a:xfrm>
          <a:prstGeom prst="roundRect">
            <a:avLst>
              <a:gd name="adj" fmla="val 13636"/>
            </a:avLst>
          </a:prstGeom>
          <a:solidFill>
            <a:schemeClr val="accent1"/>
          </a:solidFill>
          <a:ln/>
        </p:spPr>
      </p:sp>
      <p:sp>
        <p:nvSpPr>
          <p:cNvPr id="1900006498" name="Mapa de características 4"/>
          <p:cNvSpPr/>
          <p:nvPr/>
        </p:nvSpPr>
        <p:spPr bwMode="auto">
          <a:xfrm>
            <a:off x="9125712" y="3310127"/>
            <a:ext cx="335280" cy="1243584"/>
          </a:xfrm>
          <a:prstGeom prst="roundRect">
            <a:avLst>
              <a:gd name="adj" fmla="val 13636"/>
            </a:avLst>
          </a:prstGeom>
          <a:solidFill>
            <a:schemeClr val="accent1"/>
          </a:solidFill>
          <a:ln/>
        </p:spPr>
      </p:sp>
      <p:sp>
        <p:nvSpPr>
          <p:cNvPr id="331376044" name="Mapa de características 5"/>
          <p:cNvSpPr/>
          <p:nvPr/>
        </p:nvSpPr>
        <p:spPr bwMode="auto">
          <a:xfrm>
            <a:off x="9561576" y="3582161"/>
            <a:ext cx="335280" cy="699516"/>
          </a:xfrm>
          <a:prstGeom prst="roundRect">
            <a:avLst>
              <a:gd name="adj" fmla="val 13636"/>
            </a:avLst>
          </a:prstGeom>
          <a:solidFill>
            <a:schemeClr val="accent3"/>
          </a:solidFill>
          <a:ln/>
        </p:spPr>
      </p:sp>
      <p:sp>
        <p:nvSpPr>
          <p:cNvPr id="421653657" name="Mapa de características 6"/>
          <p:cNvSpPr/>
          <p:nvPr/>
        </p:nvSpPr>
        <p:spPr bwMode="auto">
          <a:xfrm>
            <a:off x="9997440" y="3310127"/>
            <a:ext cx="335280" cy="1243584"/>
          </a:xfrm>
          <a:prstGeom prst="roundRect">
            <a:avLst>
              <a:gd name="adj" fmla="val 13636"/>
            </a:avLst>
          </a:prstGeom>
          <a:solidFill>
            <a:schemeClr val="accent2"/>
          </a:solidFill>
          <a:ln/>
        </p:spPr>
      </p:sp>
      <p:sp>
        <p:nvSpPr>
          <p:cNvPr id="343357502" name="Mapa de características 7"/>
          <p:cNvSpPr/>
          <p:nvPr/>
        </p:nvSpPr>
        <p:spPr bwMode="auto">
          <a:xfrm>
            <a:off x="10433304" y="2999232"/>
            <a:ext cx="335280" cy="1865376"/>
          </a:xfrm>
          <a:prstGeom prst="roundRect">
            <a:avLst>
              <a:gd name="adj" fmla="val 13636"/>
            </a:avLst>
          </a:prstGeom>
          <a:solidFill>
            <a:schemeClr val="accent2"/>
          </a:solidFill>
          <a:ln/>
        </p:spPr>
      </p:sp>
      <p:sp>
        <p:nvSpPr>
          <p:cNvPr id="1778282064" name="Mapa de características 8"/>
          <p:cNvSpPr/>
          <p:nvPr/>
        </p:nvSpPr>
        <p:spPr bwMode="auto">
          <a:xfrm>
            <a:off x="10869168" y="2688336"/>
            <a:ext cx="335280" cy="2487168"/>
          </a:xfrm>
          <a:prstGeom prst="roundRect">
            <a:avLst>
              <a:gd name="adj" fmla="val 13636"/>
            </a:avLst>
          </a:prstGeom>
          <a:solidFill>
            <a:schemeClr val="accent2"/>
          </a:solidFill>
          <a:ln/>
        </p:spPr>
      </p:sp>
      <p:sp>
        <p:nvSpPr>
          <p:cNvPr id="257373214" name="Mapa de características 9"/>
          <p:cNvSpPr/>
          <p:nvPr/>
        </p:nvSpPr>
        <p:spPr bwMode="auto">
          <a:xfrm>
            <a:off x="11305032" y="2377440"/>
            <a:ext cx="335280" cy="3108960"/>
          </a:xfrm>
          <a:prstGeom prst="roundRect">
            <a:avLst>
              <a:gd name="adj" fmla="val 13636"/>
            </a:avLst>
          </a:prstGeom>
          <a:solidFill>
            <a:schemeClr val="accent2"/>
          </a:solidFill>
          <a:ln/>
        </p:spPr>
      </p:sp>
      <p:sp>
        <p:nvSpPr>
          <p:cNvPr id="417588243" name="Skip connection 1"/>
          <p:cNvSpPr/>
          <p:nvPr/>
        </p:nvSpPr>
        <p:spPr bwMode="auto">
          <a:xfrm>
            <a:off x="8208264" y="2249424"/>
            <a:ext cx="3041904" cy="0"/>
          </a:xfrm>
          <a:prstGeom prst="line">
            <a:avLst/>
          </a:prstGeom>
          <a:noFill/>
          <a:ln w="19050">
            <a:solidFill>
              <a:schemeClr val="accent4"/>
            </a:solidFill>
            <a:prstDash val="dash"/>
          </a:ln>
        </p:spPr>
      </p:sp>
      <p:sp>
        <p:nvSpPr>
          <p:cNvPr id="908358340" name="Skip connection 2"/>
          <p:cNvSpPr/>
          <p:nvPr/>
        </p:nvSpPr>
        <p:spPr bwMode="auto">
          <a:xfrm>
            <a:off x="8644128" y="2560320"/>
            <a:ext cx="2170176" cy="0"/>
          </a:xfrm>
          <a:prstGeom prst="line">
            <a:avLst/>
          </a:prstGeom>
          <a:noFill/>
          <a:ln w="19050">
            <a:solidFill>
              <a:schemeClr val="accent4"/>
            </a:solidFill>
            <a:prstDash val="dash"/>
          </a:ln>
        </p:spPr>
      </p:sp>
      <p:sp>
        <p:nvSpPr>
          <p:cNvPr id="1086219477" name="Skip connection 3"/>
          <p:cNvSpPr/>
          <p:nvPr/>
        </p:nvSpPr>
        <p:spPr bwMode="auto">
          <a:xfrm>
            <a:off x="9079992" y="2871216"/>
            <a:ext cx="1298448" cy="0"/>
          </a:xfrm>
          <a:prstGeom prst="line">
            <a:avLst/>
          </a:prstGeom>
          <a:noFill/>
          <a:ln w="19050">
            <a:solidFill>
              <a:schemeClr val="accent4"/>
            </a:solidFill>
            <a:prstDash val="dash"/>
          </a:ln>
        </p:spPr>
      </p:sp>
      <p:sp>
        <p:nvSpPr>
          <p:cNvPr id="1602428141" name="Skip connection 4"/>
          <p:cNvSpPr/>
          <p:nvPr/>
        </p:nvSpPr>
        <p:spPr bwMode="auto">
          <a:xfrm>
            <a:off x="9515856" y="3182112"/>
            <a:ext cx="426720" cy="0"/>
          </a:xfrm>
          <a:prstGeom prst="line">
            <a:avLst/>
          </a:prstGeom>
          <a:noFill/>
          <a:ln w="19050">
            <a:solidFill>
              <a:schemeClr val="accent4"/>
            </a:solidFill>
            <a:prstDash val="dash"/>
          </a:ln>
        </p:spPr>
      </p:sp>
      <p:sp>
        <p:nvSpPr>
          <p:cNvPr id="900747367"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spTree>
      <p:nvGrpSpPr>
        <p:cNvPr id="1" name=""/>
        <p:cNvGrpSpPr/>
        <p:nvPr/>
      </p:nvGrpSpPr>
      <p:grpSpPr bwMode="auto">
        <a:xfrm>
          <a:off x="0" y="0"/>
          <a:ext cx="0" cy="0"/>
          <a:chOff x="0" y="0"/>
          <a:chExt cx="0" cy="0"/>
        </a:xfrm>
      </p:grpSpPr>
      <p:sp>
        <p:nvSpPr>
          <p:cNvPr id="934852434"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Referencias bibliográficas</a:t>
            </a:r>
            <a:endParaRPr lang="en-US" sz="3600"/>
          </a:p>
        </p:txBody>
      </p:sp>
      <p:sp>
        <p:nvSpPr>
          <p:cNvPr id="1071801339"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7 · REFERENCIAS</a:t>
            </a:r>
            <a:endParaRPr lang="en-US" sz="1200"/>
          </a:p>
        </p:txBody>
      </p:sp>
      <p:sp>
        <p:nvSpPr>
          <p:cNvPr id="838864998" name="Tarjeta referencias"/>
          <p:cNvSpPr/>
          <p:nvPr/>
        </p:nvSpPr>
        <p:spPr bwMode="auto">
          <a:xfrm>
            <a:off x="548640" y="1645920"/>
            <a:ext cx="11091672" cy="4617720"/>
          </a:xfrm>
          <a:prstGeom prst="roundRect">
            <a:avLst>
              <a:gd name="adj" fmla="val 1980"/>
            </a:avLst>
          </a:prstGeom>
          <a:solidFill>
            <a:schemeClr val="tx2"/>
          </a:solidFill>
          <a:ln w="6350">
            <a:solidFill>
              <a:schemeClr val="accent6">
                <a:alpha val="45000"/>
              </a:schemeClr>
            </a:solidFill>
            <a:prstDash val="solid"/>
          </a:ln>
        </p:spPr>
      </p:sp>
      <p:sp>
        <p:nvSpPr>
          <p:cNvPr id="242686492" name="Texto referencias"/>
          <p:cNvSpPr txBox="1"/>
          <p:nvPr/>
        </p:nvSpPr>
        <p:spPr bwMode="auto">
          <a:xfrm>
            <a:off x="822960" y="1874520"/>
            <a:ext cx="10561320" cy="4251960"/>
          </a:xfrm>
          <a:prstGeom prst="rect">
            <a:avLst/>
          </a:prstGeom>
          <a:noFill/>
          <a:ln/>
        </p:spPr>
        <p:txBody>
          <a:bodyPr wrap="square" lIns="0" tIns="0" rIns="0" bIns="0" rtlCol="0" anchor="t"/>
          <a:lstStyle/>
          <a:p>
            <a:pPr marL="0" indent="0">
              <a:spcAft>
                <a:spcPts val="1200"/>
              </a:spcAft>
              <a:buNone/>
              <a:defRPr/>
            </a:pPr>
            <a:r>
              <a:rPr lang="en-US" sz="1400">
                <a:solidFill>
                  <a:schemeClr val="bg1"/>
                </a:solidFill>
              </a:rPr>
              <a:t>[1] Ronneberger, O., Fischer, P., &amp; Brox, T. (2015). U-Net: Convolutional Networks for Biomedical Image Segmentation. MICCAI 2015 (pp. 234–241). Springer. https://doi.org/10.1007/978-3-319-24574-4_28</a:t>
            </a:r>
            <a:endParaRPr lang="en-US" sz="1400"/>
          </a:p>
          <a:p>
            <a:pPr marL="0" indent="0">
              <a:spcAft>
                <a:spcPts val="1200"/>
              </a:spcAft>
              <a:buNone/>
              <a:defRPr/>
            </a:pPr>
            <a:r>
              <a:rPr lang="en-US" sz="1400">
                <a:solidFill>
                  <a:schemeClr val="bg1"/>
                </a:solidFill>
              </a:rPr>
              <a:t>[2] Shorten, C., &amp; Khoshgoftaar, T. M. (2019). A survey on Image Data Augmentation for Deep Learning. Journal of Big Data, 6, 60. https://doi.org/10.1186/s40537-019-0197-0</a:t>
            </a:r>
            <a:endParaRPr lang="en-US" sz="1400"/>
          </a:p>
          <a:p>
            <a:pPr marL="0" indent="0">
              <a:spcAft>
                <a:spcPts val="1200"/>
              </a:spcAft>
              <a:buNone/>
              <a:defRPr/>
            </a:pPr>
            <a:r>
              <a:rPr lang="en-US" sz="1400">
                <a:solidFill>
                  <a:schemeClr val="bg1"/>
                </a:solidFill>
              </a:rPr>
              <a:t>[3] Kingma, D. P., &amp; Ba, J. (2015). Adam: A Method for Stochastic Optimization. ICLR. https://arxiv.org/abs/1412.6980</a:t>
            </a:r>
            <a:endParaRPr lang="en-US" sz="1400"/>
          </a:p>
          <a:p>
            <a:pPr marL="0" indent="0">
              <a:spcAft>
                <a:spcPts val="1200"/>
              </a:spcAft>
              <a:buNone/>
              <a:defRPr/>
            </a:pPr>
            <a:r>
              <a:rPr lang="en-US" sz="1400">
                <a:solidFill>
                  <a:schemeClr val="bg1"/>
                </a:solidFill>
              </a:rPr>
              <a:t>[4] Russell, B. C., Torralba, A., Murphy, K. P., &amp; Freeman, W. T. (2008). LabelMe: A Database and Web-Based Tool for Image Annotation. IJCV, 77, 157–173. https://doi.org/10.1007/s11263-007-0090-8</a:t>
            </a:r>
            <a:endParaRPr lang="en-US" sz="1400"/>
          </a:p>
          <a:p>
            <a:pPr marL="0" indent="0">
              <a:spcAft>
                <a:spcPts val="1200"/>
              </a:spcAft>
              <a:buNone/>
              <a:defRPr/>
            </a:pPr>
            <a:r>
              <a:rPr lang="en-US" sz="1400">
                <a:solidFill>
                  <a:schemeClr val="bg1"/>
                </a:solidFill>
              </a:rPr>
              <a:t>[5] PyTorch. BCEWithLogitsLoss — PyTorch documentation. https://docs.pytorch.org/docs/stable/generated/torch.nn.BCEWithLogitsLoss.html</a:t>
            </a:r>
            <a:endParaRPr lang="en-US" sz="1400"/>
          </a:p>
          <a:p>
            <a:pPr marL="0" indent="0">
              <a:spcAft>
                <a:spcPts val="1200"/>
              </a:spcAft>
              <a:buNone/>
              <a:defRPr/>
            </a:pPr>
            <a:r>
              <a:rPr lang="en-US" sz="1400">
                <a:solidFill>
                  <a:schemeClr val="bg1"/>
                </a:solidFill>
              </a:rPr>
              <a:t>[6] PyTorch. ConvTranspose2d — PyTorch documentation. https://docs.pytorch.org/docs/stable/generated/torch.nn.ConvTranspose2d.html</a:t>
            </a:r>
            <a:endParaRPr lang="en-US" sz="1400"/>
          </a:p>
          <a:p>
            <a:pPr marL="0" indent="0">
              <a:spcAft>
                <a:spcPts val="1200"/>
              </a:spcAft>
              <a:buNone/>
              <a:defRPr/>
            </a:pPr>
            <a:r>
              <a:rPr lang="en-US" sz="1400">
                <a:solidFill>
                  <a:schemeClr val="bg1"/>
                </a:solidFill>
              </a:rPr>
              <a:t>[7] scikit-learn Developers. jaccard_score — scikit-learn documentation. https://scikit-learn.org/stable/modules/generated/sklearn.metrics.jaccard_score.html</a:t>
            </a:r>
            <a:endParaRPr lang="en-US" sz="1400"/>
          </a:p>
          <a:p>
            <a:pPr marL="0" indent="0">
              <a:spcAft>
                <a:spcPts val="1200"/>
              </a:spcAft>
              <a:buNone/>
              <a:defRPr/>
            </a:pPr>
            <a:r>
              <a:rPr lang="en-US" sz="1400">
                <a:solidFill>
                  <a:schemeClr val="bg1"/>
                </a:solidFill>
              </a:rPr>
              <a:t>[8] PyTorch. Datasets &amp; DataLoaders — PyTorch Tutorials. https://docs.pytorch.org/tutorials/beginner/basics/data_tutorial.html</a:t>
            </a:r>
            <a:endParaRPr lang="en-US" sz="1400"/>
          </a:p>
        </p:txBody>
      </p:sp>
      <p:sp>
        <p:nvSpPr>
          <p:cNvPr id="991113317"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19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spTree>
      <p:nvGrpSpPr>
        <p:cNvPr id="1" name=""/>
        <p:cNvGrpSpPr/>
        <p:nvPr/>
      </p:nvGrpSpPr>
      <p:grpSpPr bwMode="auto">
        <a:xfrm>
          <a:off x="0" y="0"/>
          <a:ext cx="0" cy="0"/>
          <a:chOff x="0" y="0"/>
          <a:chExt cx="0" cy="0"/>
        </a:xfrm>
      </p:grpSpPr>
      <p:sp>
        <p:nvSpPr>
          <p:cNvPr id="137688589" name="Text 0"/>
          <p:cNvSpPr/>
          <p:nvPr>
            <p:ph type="title" idx="100" hasCustomPrompt="1"/>
          </p:nvPr>
        </p:nvSpPr>
        <p:spPr bwMode="auto">
          <a:xfrm>
            <a:off x="548640" y="713232"/>
            <a:ext cx="11091672" cy="731520"/>
          </a:xfrm>
          <a:prstGeom prst="rect">
            <a:avLst/>
          </a:prstGeom>
          <a:noFill/>
          <a:ln/>
        </p:spPr>
        <p:txBody>
          <a:bodyPr wrap="square" lIns="0" tIns="0" rIns="0" bIns="0" rtlCol="0" anchor="ctr"/>
          <a:lstStyle/>
          <a:p>
            <a:pPr marL="0" indent="0" algn="l">
              <a:buNone/>
              <a:defRPr/>
            </a:pPr>
            <a:r>
              <a:rPr lang="en-US" sz="3600" b="1">
                <a:solidFill>
                  <a:schemeClr val="bg1"/>
                </a:solidFill>
              </a:rPr>
              <a:t>Recursos del proyecto</a:t>
            </a:r>
            <a:endParaRPr lang="en-US" sz="3600"/>
          </a:p>
        </p:txBody>
      </p:sp>
      <p:sp>
        <p:nvSpPr>
          <p:cNvPr id="492576301" name="Text 0"/>
          <p:cNvSpPr/>
          <p:nvPr>
            <p:ph type="body" idx="101" hasCustomPrompt="1"/>
          </p:nvPr>
        </p:nvSpPr>
        <p:spPr bwMode="auto">
          <a:xfrm>
            <a:off x="548640" y="384048"/>
            <a:ext cx="8229600" cy="274320"/>
          </a:xfrm>
          <a:prstGeom prst="rect">
            <a:avLst/>
          </a:prstGeom>
          <a:noFill/>
          <a:ln/>
        </p:spPr>
        <p:txBody>
          <a:bodyPr wrap="square" lIns="0" tIns="0" rIns="0" bIns="0" rtlCol="0" anchor="t"/>
          <a:lstStyle/>
          <a:p>
            <a:pPr marL="0" indent="0">
              <a:buNone/>
              <a:defRPr/>
            </a:pPr>
            <a:r>
              <a:rPr lang="en-US" sz="1200" b="1" spc="200">
                <a:solidFill>
                  <a:schemeClr val="accent1"/>
                </a:solidFill>
              </a:rPr>
              <a:t>7 · REFERENCIAS · RECURSOS</a:t>
            </a:r>
            <a:endParaRPr lang="en-US" sz="1200"/>
          </a:p>
        </p:txBody>
      </p:sp>
      <p:sp>
        <p:nvSpPr>
          <p:cNvPr id="1688130648" name="Tarjeta TUTORIALES Y CÓDIGO DE REFERENCIA"/>
          <p:cNvSpPr/>
          <p:nvPr/>
        </p:nvSpPr>
        <p:spPr bwMode="auto">
          <a:xfrm>
            <a:off x="548640" y="1645920"/>
            <a:ext cx="11091672" cy="2697480"/>
          </a:xfrm>
          <a:prstGeom prst="roundRect">
            <a:avLst>
              <a:gd name="adj" fmla="val 3390"/>
            </a:avLst>
          </a:prstGeom>
          <a:solidFill>
            <a:schemeClr val="tx2"/>
          </a:solidFill>
          <a:ln w="6350">
            <a:solidFill>
              <a:schemeClr val="accent6">
                <a:alpha val="45000"/>
              </a:schemeClr>
            </a:solidFill>
            <a:prstDash val="solid"/>
          </a:ln>
        </p:spPr>
      </p:sp>
      <p:sp>
        <p:nvSpPr>
          <p:cNvPr id="881477779" name="Rótulo TUTORIALES Y CÓDIGO DE REFERENCIA"/>
          <p:cNvSpPr txBox="1"/>
          <p:nvPr/>
        </p:nvSpPr>
        <p:spPr bwMode="auto">
          <a:xfrm>
            <a:off x="777240" y="1810512"/>
            <a:ext cx="10607040" cy="274320"/>
          </a:xfrm>
          <a:prstGeom prst="rect">
            <a:avLst/>
          </a:prstGeom>
          <a:noFill/>
          <a:ln/>
        </p:spPr>
        <p:txBody>
          <a:bodyPr wrap="square" lIns="0" tIns="0" rIns="0" bIns="0" rtlCol="0" anchor="t"/>
          <a:lstStyle/>
          <a:p>
            <a:pPr marL="0" indent="0">
              <a:buNone/>
              <a:defRPr/>
            </a:pPr>
            <a:r>
              <a:rPr lang="en-US" sz="1200" b="1" spc="100">
                <a:solidFill>
                  <a:schemeClr val="accent1"/>
                </a:solidFill>
              </a:rPr>
              <a:t>TUTORIALES Y CÓDIGO DE REFERENCIA</a:t>
            </a:r>
            <a:endParaRPr lang="en-US" sz="1200"/>
          </a:p>
        </p:txBody>
      </p:sp>
      <p:sp>
        <p:nvSpPr>
          <p:cNvPr id="435784230" name="Enlaces TUTORIALES Y CÓDIGO DE REFERENCIA"/>
          <p:cNvSpPr txBox="1"/>
          <p:nvPr/>
        </p:nvSpPr>
        <p:spPr bwMode="auto">
          <a:xfrm>
            <a:off x="777240" y="2194560"/>
            <a:ext cx="10607040" cy="2011680"/>
          </a:xfrm>
          <a:prstGeom prst="rect">
            <a:avLst/>
          </a:prstGeom>
          <a:noFill/>
          <a:ln/>
        </p:spPr>
        <p:txBody>
          <a:bodyPr wrap="square" lIns="0" tIns="0" rIns="0" bIns="0" rtlCol="0" anchor="t"/>
          <a:lstStyle/>
          <a:p>
            <a:pPr marL="0" indent="0">
              <a:spcAft>
                <a:spcPts val="900"/>
              </a:spcAft>
              <a:buNone/>
              <a:defRPr/>
            </a:pPr>
            <a:r>
              <a:rPr lang="en-US" sz="1500" u="sng">
                <a:solidFill>
                  <a:srgbClr val="4FA3E0"/>
                </a:solidFill>
                <a:hlinkClick r:id="rId3" tooltip=""/>
              </a:rPr>
              <a:t>https://medium.com/@alessandromondin/semantic-segmentation-with-pytorch-u-net-from-scratch-502d6565910a</a:t>
            </a:r>
            <a:endParaRPr lang="en-US" sz="1500"/>
          </a:p>
          <a:p>
            <a:pPr marL="0" indent="0">
              <a:spcAft>
                <a:spcPts val="900"/>
              </a:spcAft>
              <a:buNone/>
              <a:defRPr/>
            </a:pPr>
            <a:r>
              <a:rPr lang="en-US" sz="1500" u="sng">
                <a:solidFill>
                  <a:srgbClr val="4FA3E0"/>
                </a:solidFill>
                <a:hlinkClick r:id="rId4" tooltip=""/>
              </a:rPr>
              <a:t>https://bhimraj.com.np/blog/pytorch-unet-image-segmentation-implementation</a:t>
            </a:r>
            <a:endParaRPr lang="en-US" sz="1500"/>
          </a:p>
          <a:p>
            <a:pPr marL="0" indent="0">
              <a:spcAft>
                <a:spcPts val="900"/>
              </a:spcAft>
              <a:buNone/>
              <a:defRPr/>
            </a:pPr>
            <a:r>
              <a:rPr lang="en-US" sz="1500" u="sng">
                <a:solidFill>
                  <a:srgbClr val="4FA3E0"/>
                </a:solidFill>
                <a:hlinkClick r:id="rId5" tooltip=""/>
              </a:rPr>
              <a:t>https://github.com/milesial/Pytorch-UNet</a:t>
            </a:r>
            <a:endParaRPr lang="en-US" sz="1500"/>
          </a:p>
          <a:p>
            <a:pPr marL="0" indent="0">
              <a:spcAft>
                <a:spcPts val="900"/>
              </a:spcAft>
              <a:buNone/>
              <a:defRPr/>
            </a:pPr>
            <a:r>
              <a:rPr lang="en-US" sz="1500" u="sng">
                <a:solidFill>
                  <a:srgbClr val="4FA3E0"/>
                </a:solidFill>
                <a:hlinkClick r:id="rId6" tooltip=""/>
              </a:rPr>
              <a:t>https://www.analyticsvidhya.com/blog/2023/08/unet-architecture-mastering-image-segmentation/</a:t>
            </a:r>
            <a:endParaRPr lang="en-US" sz="1500"/>
          </a:p>
          <a:p>
            <a:pPr marL="0" indent="0">
              <a:spcAft>
                <a:spcPts val="900"/>
              </a:spcAft>
              <a:buNone/>
              <a:defRPr/>
            </a:pPr>
            <a:r>
              <a:rPr lang="en-US" sz="1500" u="sng">
                <a:solidFill>
                  <a:srgbClr val="4FA3E0"/>
                </a:solidFill>
                <a:hlinkClick r:id="rId7" tooltip=""/>
              </a:rPr>
              <a:t>https://theaisummer.com/unet-architectures/</a:t>
            </a:r>
            <a:endParaRPr lang="en-US" sz="1500"/>
          </a:p>
        </p:txBody>
      </p:sp>
      <p:sp>
        <p:nvSpPr>
          <p:cNvPr id="1629279529" name="Tarjeta CONJUNTOS DE DATOS Y REPOSITORIOS"/>
          <p:cNvSpPr/>
          <p:nvPr/>
        </p:nvSpPr>
        <p:spPr bwMode="auto">
          <a:xfrm>
            <a:off x="548640" y="4526280"/>
            <a:ext cx="11091672" cy="1737360"/>
          </a:xfrm>
          <a:prstGeom prst="roundRect">
            <a:avLst>
              <a:gd name="adj" fmla="val 5263"/>
            </a:avLst>
          </a:prstGeom>
          <a:solidFill>
            <a:schemeClr val="tx2"/>
          </a:solidFill>
          <a:ln w="6350">
            <a:solidFill>
              <a:schemeClr val="accent6">
                <a:alpha val="45000"/>
              </a:schemeClr>
            </a:solidFill>
            <a:prstDash val="solid"/>
          </a:ln>
        </p:spPr>
      </p:sp>
      <p:sp>
        <p:nvSpPr>
          <p:cNvPr id="1872816659" name="Rótulo CONJUNTOS DE DATOS Y REPOSITORIOS"/>
          <p:cNvSpPr txBox="1"/>
          <p:nvPr/>
        </p:nvSpPr>
        <p:spPr bwMode="auto">
          <a:xfrm>
            <a:off x="777240" y="4690872"/>
            <a:ext cx="10607040" cy="274320"/>
          </a:xfrm>
          <a:prstGeom prst="rect">
            <a:avLst/>
          </a:prstGeom>
          <a:noFill/>
          <a:ln/>
        </p:spPr>
        <p:txBody>
          <a:bodyPr wrap="square" lIns="0" tIns="0" rIns="0" bIns="0" rtlCol="0" anchor="t"/>
          <a:lstStyle/>
          <a:p>
            <a:pPr marL="0" indent="0">
              <a:buNone/>
              <a:defRPr/>
            </a:pPr>
            <a:r>
              <a:rPr lang="en-US" sz="1200" b="1" spc="100">
                <a:solidFill>
                  <a:schemeClr val="accent4"/>
                </a:solidFill>
              </a:rPr>
              <a:t>CONJUNTOS DE DATOS Y REPOSITORIOS</a:t>
            </a:r>
            <a:endParaRPr lang="en-US" sz="1200"/>
          </a:p>
        </p:txBody>
      </p:sp>
      <p:sp>
        <p:nvSpPr>
          <p:cNvPr id="2026904416" name="Enlaces CONJUNTOS DE DATOS Y REPOSITORIOS"/>
          <p:cNvSpPr txBox="1"/>
          <p:nvPr/>
        </p:nvSpPr>
        <p:spPr bwMode="auto">
          <a:xfrm>
            <a:off x="777240" y="5074920"/>
            <a:ext cx="10607040" cy="1051560"/>
          </a:xfrm>
          <a:prstGeom prst="rect">
            <a:avLst/>
          </a:prstGeom>
          <a:noFill/>
          <a:ln/>
        </p:spPr>
        <p:txBody>
          <a:bodyPr wrap="square" lIns="0" tIns="0" rIns="0" bIns="0" rtlCol="0" anchor="t"/>
          <a:lstStyle/>
          <a:p>
            <a:pPr marL="0" indent="0">
              <a:spcAft>
                <a:spcPts val="900"/>
              </a:spcAft>
              <a:buNone/>
              <a:defRPr/>
            </a:pPr>
            <a:r>
              <a:rPr lang="en-US" sz="1500" u="sng">
                <a:solidFill>
                  <a:srgbClr val="4FA3E0"/>
                </a:solidFill>
                <a:hlinkClick r:id="rId8" tooltip=""/>
              </a:rPr>
              <a:t>https://huggingface.co/datasets/Smily6820/car-images</a:t>
            </a:r>
            <a:endParaRPr lang="en-US" sz="1500"/>
          </a:p>
          <a:p>
            <a:pPr marL="0" indent="0">
              <a:spcAft>
                <a:spcPts val="900"/>
              </a:spcAft>
              <a:buNone/>
              <a:defRPr/>
            </a:pPr>
            <a:r>
              <a:rPr lang="en-US" sz="1500" u="sng">
                <a:solidFill>
                  <a:srgbClr val="4FA3E0"/>
                </a:solidFill>
                <a:hlinkClick r:id="rId9" tooltip=""/>
              </a:rPr>
              <a:t>https://github.com/EkdeepSLubana/raw_dataset/tree/master</a:t>
            </a:r>
            <a:endParaRPr lang="en-US" sz="1500"/>
          </a:p>
        </p:txBody>
      </p:sp>
      <p:sp>
        <p:nvSpPr>
          <p:cNvPr id="2033859279" name="Slide Number Placeholder 0"/>
          <p:cNvSpPr>
            <a:spLocks noGrp="1"/>
          </p:cNvSpPr>
          <p:nvPr>
            <p:ph type="sldNum" sz="quarter" idx="4294967295"/>
          </p:nvPr>
        </p:nvSpPr>
        <p:spPr bwMode="auto">
          <a:xfrm>
            <a:off x="10881360" y="6446520"/>
            <a:ext cx="758952" cy="256032"/>
          </a:xfrm>
          <a:prstGeom prst="rect">
            <a:avLst/>
          </a:prstGeom>
        </p:spPr>
        <p:txBody>
          <a:bodyPr/>
          <a:lstStyle>
            <a:lvl1pPr>
              <a:defRPr sz="1100">
                <a:solidFill>
                  <a:srgbClr val="9AA5B1"/>
                </a:solidFill>
              </a:defRPr>
            </a:lvl1pPr>
          </a:lstStyle>
          <a:p>
            <a:pPr algn="r">
              <a:defRPr/>
            </a:pPr>
            <a:fld id="{F7021451-1387-4CA6-816F-3879F97B5CBC}" type="slidenum">
              <a:rPr lang="en-US" b="0"/>
              <a:t>20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UNet Articulo">
  <a:themeElements>
    <a:clrScheme name="UNet Articulo">
      <a:dk1>
        <a:srgbClr val="0F1419"/>
      </a:dk1>
      <a:lt1>
        <a:srgbClr val="F3F5F7"/>
      </a:lt1>
      <a:dk2>
        <a:srgbClr val="1A222B"/>
      </a:dk2>
      <a:lt2>
        <a:srgbClr val="9AA5B1"/>
      </a:lt2>
      <a:accent1>
        <a:srgbClr val="2BB38A"/>
      </a:accent1>
      <a:accent2>
        <a:srgbClr val="E8683A"/>
      </a:accent2>
      <a:accent3>
        <a:srgbClr val="8B7CF0"/>
      </a:accent3>
      <a:accent4>
        <a:srgbClr val="E9A23B"/>
      </a:accent4>
      <a:accent5>
        <a:srgbClr val="4FA3E0"/>
      </a:accent5>
      <a:accent6>
        <a:srgbClr val="6B7785"/>
      </a:accent6>
      <a:hlink>
        <a:srgbClr val="4FA3E0"/>
      </a:hlink>
      <a:folHlink>
        <a:srgbClr val="8B7CF0"/>
      </a:folHlink>
    </a:clrScheme>
    <a:fontScheme name="UNet Articulo">
      <a:majorFont>
        <a:latin typeface="Cambria"/>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y evaluación de una U-Net para segmentación de vehículos</dc:title>
  <dc:subject>PptxGenJS Presentation</dc:subject>
  <dc:creator>Ricardo Acuña Alcántara</dc:creator>
  <cp:lastModifiedBy/>
  <cp:revision>2</cp:revision>
  <dcterms:created xsi:type="dcterms:W3CDTF">2026-10-14T21:15:42Z</dcterms:created>
  <dcterms:modified xsi:type="dcterms:W3CDTF">2026-10-15T00:00:27Z</dcterms:modified>
</cp:coreProperties>
</file>